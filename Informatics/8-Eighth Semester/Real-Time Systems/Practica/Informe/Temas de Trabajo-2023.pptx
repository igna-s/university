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 id="2147483662"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2" roundtripDataSignature="AMtx7mh6GUz9M25ErwbIPD3jRvhGQTm4y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22" Type="http://customschemas.google.com/relationships/presentationmetadata" Target="metadata"/><Relationship Id="rId10" Type="http://schemas.openxmlformats.org/officeDocument/2006/relationships/slide" Target="slides/slide5.xml"/><Relationship Id="rId21" Type="http://schemas.openxmlformats.org/officeDocument/2006/relationships/slide" Target="slides/slide16.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27aff74033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g27aff740336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27aff740336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g27aff740336_0_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27aff740336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g27aff740336_0_1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27aff740336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g27aff740336_0_2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27aff740336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g27aff740336_0_4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27aff740336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g27aff740336_0_3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27aff740336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g27aff740336_0_5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27afbd3fb7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g27afbd3fb79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27afbd3fb79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g27afbd3fb79_0_5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27afbd3fb79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g27afbd3fb79_0_2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27afbd3fb79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g27afbd3fb79_0_7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27afbd3fb79_0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g27afbd3fb79_0_7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27afbd3fb79_0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g27afbd3fb79_0_8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jp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8_Contents slide layout">
  <p:cSld name="8_Contents slide layout">
    <p:spTree>
      <p:nvGrpSpPr>
        <p:cNvPr id="6" name="Shape 6"/>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_Contents slide layout">
  <p:cSld name="7_Contents slide layout">
    <p:spTree>
      <p:nvGrpSpPr>
        <p:cNvPr id="7" name="Shape 7"/>
        <p:cNvGrpSpPr/>
        <p:nvPr/>
      </p:nvGrpSpPr>
      <p:grpSpPr>
        <a:xfrm>
          <a:off x="0" y="0"/>
          <a:ext cx="0" cy="0"/>
          <a:chOff x="0" y="0"/>
          <a:chExt cx="0" cy="0"/>
        </a:xfrm>
      </p:grpSpPr>
      <p:sp>
        <p:nvSpPr>
          <p:cNvPr id="8" name="Google Shape;8;p18"/>
          <p:cNvSpPr txBox="1"/>
          <p:nvPr>
            <p:ph idx="1" type="body"/>
          </p:nvPr>
        </p:nvSpPr>
        <p:spPr>
          <a:xfrm>
            <a:off x="323529" y="339509"/>
            <a:ext cx="11573197" cy="724247"/>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90000"/>
              </a:lnSpc>
              <a:spcBef>
                <a:spcPts val="1000"/>
              </a:spcBef>
              <a:spcAft>
                <a:spcPts val="0"/>
              </a:spcAft>
              <a:buClr>
                <a:srgbClr val="262626"/>
              </a:buClr>
              <a:buSzPts val="5400"/>
              <a:buFont typeface="Arial"/>
              <a:buNone/>
              <a:defRPr b="0" i="0" sz="5400" u="none" cap="none" strike="noStrike">
                <a:solidFill>
                  <a:srgbClr val="262626"/>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_Contents slide layout">
  <p:cSld name="9_Contents slide layout">
    <p:bg>
      <p:bgPr>
        <a:blipFill>
          <a:blip r:embed="rId2">
            <a:alphaModFix/>
          </a:blip>
          <a:stretch>
            <a:fillRect/>
          </a:stretch>
        </a:blipFill>
      </p:bgPr>
    </p:bg>
    <p:spTree>
      <p:nvGrpSpPr>
        <p:cNvPr id="9" name="Shape 9"/>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5_Contents slide layout">
  <p:cSld name="15_Contents slide layout">
    <p:bg>
      <p:bgPr>
        <a:blipFill>
          <a:blip r:embed="rId2">
            <a:alphaModFix/>
          </a:blip>
          <a:stretch>
            <a:fillRect/>
          </a:stretch>
        </a:blipFill>
      </p:bgPr>
    </p:bg>
    <p:spTree>
      <p:nvGrpSpPr>
        <p:cNvPr id="10" name="Shape 10"/>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_Contents slide layout">
  <p:cSld name="11_Contents slide layout">
    <p:bg>
      <p:bgPr>
        <a:blipFill>
          <a:blip r:embed="rId2">
            <a:alphaModFix/>
          </a:blip>
          <a:stretch>
            <a:fillRect/>
          </a:stretch>
        </a:blipFill>
      </p:bgPr>
    </p:bg>
    <p:spTree>
      <p:nvGrpSpPr>
        <p:cNvPr id="11" name="Shape 11"/>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_Contents slide layout">
  <p:cSld name="12_Contents slide layout">
    <p:bg>
      <p:bgPr>
        <a:blipFill>
          <a:blip r:embed="rId2">
            <a:alphaModFix/>
          </a:blip>
          <a:stretch>
            <a:fillRect/>
          </a:stretch>
        </a:blipFill>
      </p:bgPr>
    </p:bg>
    <p:spTree>
      <p:nvGrpSpPr>
        <p:cNvPr id="12" name="Shape 12"/>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_Contents slide layout">
  <p:cSld name="13_Contents slide layout">
    <p:bg>
      <p:bgPr>
        <a:blipFill>
          <a:blip r:embed="rId2">
            <a:alphaModFix/>
          </a:blip>
          <a:stretch>
            <a:fillRect/>
          </a:stretch>
        </a:blipFill>
      </p:bgPr>
    </p:bg>
    <p:spTree>
      <p:nvGrpSpPr>
        <p:cNvPr id="13" name="Shape 13"/>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_Contents slide layout">
  <p:cSld name="14_Contents slide layout">
    <p:bg>
      <p:bgPr>
        <a:blipFill>
          <a:blip r:embed="rId2">
            <a:alphaModFix/>
          </a:blip>
          <a:stretch>
            <a:fillRect/>
          </a:stretch>
        </a:blipFill>
      </p:bgPr>
    </p:bg>
    <p:spTree>
      <p:nvGrpSpPr>
        <p:cNvPr id="14" name="Shape 14"/>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_Contents slide layout">
  <p:cSld name="16_Contents slide layout">
    <p:bg>
      <p:bgPr>
        <a:blipFill>
          <a:blip r:embed="rId2">
            <a:alphaModFix/>
          </a:blip>
          <a:stretch>
            <a:fillRect/>
          </a:stretch>
        </a:blipFill>
      </p:bgPr>
    </p:bg>
    <p:spTree>
      <p:nvGrpSpPr>
        <p:cNvPr id="15" name="Shape 15"/>
        <p:cNvGrpSpPr/>
        <p:nvPr/>
      </p:nvGrpSpPr>
      <p:grpSpPr>
        <a:xfrm>
          <a:off x="0" y="0"/>
          <a:ext cx="0" cy="0"/>
          <a:chOff x="0" y="0"/>
          <a:chExt cx="0" cy="0"/>
        </a:xfrm>
      </p:grpSpPr>
      <p:sp>
        <p:nvSpPr>
          <p:cNvPr id="16" name="Google Shape;16;p25"/>
          <p:cNvSpPr/>
          <p:nvPr/>
        </p:nvSpPr>
        <p:spPr>
          <a:xfrm>
            <a:off x="0" y="0"/>
            <a:ext cx="12192000" cy="6858000"/>
          </a:xfrm>
          <a:prstGeom prst="rect">
            <a:avLst/>
          </a:prstGeom>
          <a:solidFill>
            <a:schemeClr val="dk1">
              <a:alpha val="6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layout">
  <p:cSld name="Image slide layout">
    <p:spTree>
      <p:nvGrpSpPr>
        <p:cNvPr id="17" name="Shape 17"/>
        <p:cNvGrpSpPr/>
        <p:nvPr/>
      </p:nvGrpSpPr>
      <p:grpSpPr>
        <a:xfrm>
          <a:off x="0" y="0"/>
          <a:ext cx="0" cy="0"/>
          <a:chOff x="0" y="0"/>
          <a:chExt cx="0" cy="0"/>
        </a:xfrm>
      </p:grpSpPr>
      <p:sp>
        <p:nvSpPr>
          <p:cNvPr id="18" name="Google Shape;18;p26"/>
          <p:cNvSpPr/>
          <p:nvPr>
            <p:ph idx="2" type="pic"/>
          </p:nvPr>
        </p:nvSpPr>
        <p:spPr>
          <a:xfrm>
            <a:off x="0" y="0"/>
            <a:ext cx="12192000" cy="3135087"/>
          </a:xfrm>
          <a:prstGeom prst="rect">
            <a:avLst/>
          </a:prstGeom>
          <a:solidFill>
            <a:srgbClr val="F2F2F2"/>
          </a:solidFill>
          <a:ln>
            <a:noFill/>
          </a:ln>
        </p:spPr>
      </p:sp>
      <p:sp>
        <p:nvSpPr>
          <p:cNvPr id="19" name="Google Shape;19;p26"/>
          <p:cNvSpPr/>
          <p:nvPr>
            <p:ph idx="3" type="pic"/>
          </p:nvPr>
        </p:nvSpPr>
        <p:spPr>
          <a:xfrm>
            <a:off x="905623" y="2078266"/>
            <a:ext cx="2298160" cy="2088000"/>
          </a:xfrm>
          <a:prstGeom prst="rect">
            <a:avLst/>
          </a:prstGeom>
          <a:solidFill>
            <a:srgbClr val="F2F2F2"/>
          </a:solidFill>
          <a:ln>
            <a:noFill/>
          </a:ln>
        </p:spPr>
      </p:sp>
      <p:sp>
        <p:nvSpPr>
          <p:cNvPr id="20" name="Google Shape;20;p26"/>
          <p:cNvSpPr/>
          <p:nvPr>
            <p:ph idx="4" type="pic"/>
          </p:nvPr>
        </p:nvSpPr>
        <p:spPr>
          <a:xfrm>
            <a:off x="6282361" y="2078266"/>
            <a:ext cx="2298160" cy="2088000"/>
          </a:xfrm>
          <a:prstGeom prst="rect">
            <a:avLst/>
          </a:prstGeom>
          <a:solidFill>
            <a:srgbClr val="F2F2F2"/>
          </a:solidFill>
          <a:ln>
            <a:noFill/>
          </a:ln>
        </p:spPr>
      </p:sp>
      <p:sp>
        <p:nvSpPr>
          <p:cNvPr id="21" name="Google Shape;21;p26"/>
          <p:cNvSpPr/>
          <p:nvPr>
            <p:ph idx="5" type="pic"/>
          </p:nvPr>
        </p:nvSpPr>
        <p:spPr>
          <a:xfrm>
            <a:off x="3593992" y="2078266"/>
            <a:ext cx="2298160" cy="2088000"/>
          </a:xfrm>
          <a:prstGeom prst="rect">
            <a:avLst/>
          </a:prstGeom>
          <a:solidFill>
            <a:srgbClr val="F2F2F2"/>
          </a:solidFill>
          <a:ln>
            <a:noFill/>
          </a:ln>
        </p:spPr>
      </p:sp>
      <p:sp>
        <p:nvSpPr>
          <p:cNvPr id="22" name="Google Shape;22;p26"/>
          <p:cNvSpPr/>
          <p:nvPr>
            <p:ph idx="6" type="pic"/>
          </p:nvPr>
        </p:nvSpPr>
        <p:spPr>
          <a:xfrm>
            <a:off x="8970731" y="2078266"/>
            <a:ext cx="2298160" cy="2088000"/>
          </a:xfrm>
          <a:prstGeom prst="rect">
            <a:avLst/>
          </a:prstGeom>
          <a:solidFill>
            <a:srgbClr val="F2F2F2"/>
          </a:solidFill>
          <a:ln>
            <a:noFill/>
          </a:ln>
        </p:spPr>
      </p:sp>
      <p:sp>
        <p:nvSpPr>
          <p:cNvPr id="23" name="Google Shape;23;p26"/>
          <p:cNvSpPr txBox="1"/>
          <p:nvPr>
            <p:ph idx="1" type="body"/>
          </p:nvPr>
        </p:nvSpPr>
        <p:spPr>
          <a:xfrm>
            <a:off x="323529" y="740105"/>
            <a:ext cx="11573197" cy="724247"/>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90000"/>
              </a:lnSpc>
              <a:spcBef>
                <a:spcPts val="1000"/>
              </a:spcBef>
              <a:spcAft>
                <a:spcPts val="0"/>
              </a:spcAft>
              <a:buClr>
                <a:srgbClr val="262626"/>
              </a:buClr>
              <a:buSzPts val="5400"/>
              <a:buFont typeface="Arial"/>
              <a:buNone/>
              <a:defRPr b="0" i="0" sz="5400" u="none" cap="none" strike="noStrike">
                <a:solidFill>
                  <a:srgbClr val="262626"/>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Image slide layout">
  <p:cSld name="1_Image slide layout">
    <p:spTree>
      <p:nvGrpSpPr>
        <p:cNvPr id="24" name="Shape 24"/>
        <p:cNvGrpSpPr/>
        <p:nvPr/>
      </p:nvGrpSpPr>
      <p:grpSpPr>
        <a:xfrm>
          <a:off x="0" y="0"/>
          <a:ext cx="0" cy="0"/>
          <a:chOff x="0" y="0"/>
          <a:chExt cx="0" cy="0"/>
        </a:xfrm>
      </p:grpSpPr>
      <p:sp>
        <p:nvSpPr>
          <p:cNvPr id="25" name="Google Shape;25;p27"/>
          <p:cNvSpPr txBox="1"/>
          <p:nvPr>
            <p:ph idx="1" type="body"/>
          </p:nvPr>
        </p:nvSpPr>
        <p:spPr>
          <a:xfrm>
            <a:off x="323529" y="339509"/>
            <a:ext cx="11573197" cy="724247"/>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90000"/>
              </a:lnSpc>
              <a:spcBef>
                <a:spcPts val="1000"/>
              </a:spcBef>
              <a:spcAft>
                <a:spcPts val="0"/>
              </a:spcAft>
              <a:buClr>
                <a:srgbClr val="262626"/>
              </a:buClr>
              <a:buSzPts val="5400"/>
              <a:buFont typeface="Arial"/>
              <a:buNone/>
              <a:defRPr b="0" i="0" sz="5400" u="none" cap="none" strike="noStrike">
                <a:solidFill>
                  <a:srgbClr val="262626"/>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6" name="Google Shape;26;p27"/>
          <p:cNvSpPr/>
          <p:nvPr>
            <p:ph idx="2" type="pic"/>
          </p:nvPr>
        </p:nvSpPr>
        <p:spPr>
          <a:xfrm>
            <a:off x="0" y="2160665"/>
            <a:ext cx="12192000" cy="2502762"/>
          </a:xfrm>
          <a:prstGeom prst="rect">
            <a:avLst/>
          </a:prstGeom>
          <a:solidFill>
            <a:srgbClr val="F2F2F2"/>
          </a:solidFill>
          <a:ln>
            <a:noFill/>
          </a:ln>
        </p:spPr>
      </p:sp>
      <p:sp>
        <p:nvSpPr>
          <p:cNvPr id="27" name="Google Shape;27;p27"/>
          <p:cNvSpPr/>
          <p:nvPr/>
        </p:nvSpPr>
        <p:spPr>
          <a:xfrm>
            <a:off x="0" y="2026940"/>
            <a:ext cx="12192000" cy="72008"/>
          </a:xfrm>
          <a:prstGeom prst="rect">
            <a:avLst/>
          </a:prstGeom>
          <a:solidFill>
            <a:srgbClr val="54632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8" name="Google Shape;28;p27"/>
          <p:cNvSpPr/>
          <p:nvPr/>
        </p:nvSpPr>
        <p:spPr>
          <a:xfrm>
            <a:off x="0" y="4725144"/>
            <a:ext cx="12192000" cy="72008"/>
          </a:xfrm>
          <a:prstGeom prst="rect">
            <a:avLst/>
          </a:prstGeom>
          <a:solidFill>
            <a:srgbClr val="54632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1_Images &amp; Contents Layout">
  <p:cSld name="31_Images &amp; Contents Layout">
    <p:spTree>
      <p:nvGrpSpPr>
        <p:cNvPr id="29" name="Shape 29"/>
        <p:cNvGrpSpPr/>
        <p:nvPr/>
      </p:nvGrpSpPr>
      <p:grpSpPr>
        <a:xfrm>
          <a:off x="0" y="0"/>
          <a:ext cx="0" cy="0"/>
          <a:chOff x="0" y="0"/>
          <a:chExt cx="0" cy="0"/>
        </a:xfrm>
      </p:grpSpPr>
      <p:sp>
        <p:nvSpPr>
          <p:cNvPr id="30" name="Google Shape;30;p28"/>
          <p:cNvSpPr/>
          <p:nvPr>
            <p:ph idx="2" type="pic"/>
          </p:nvPr>
        </p:nvSpPr>
        <p:spPr>
          <a:xfrm>
            <a:off x="799070" y="1223317"/>
            <a:ext cx="5441094" cy="4721980"/>
          </a:xfrm>
          <a:prstGeom prst="rect">
            <a:avLst/>
          </a:prstGeom>
          <a:solidFill>
            <a:srgbClr val="F2F2F2"/>
          </a:solidFill>
          <a:ln>
            <a:no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Image slide layout">
  <p:cSld name="2_Image slide layout">
    <p:spTree>
      <p:nvGrpSpPr>
        <p:cNvPr id="31" name="Shape 31"/>
        <p:cNvGrpSpPr/>
        <p:nvPr/>
      </p:nvGrpSpPr>
      <p:grpSpPr>
        <a:xfrm>
          <a:off x="0" y="0"/>
          <a:ext cx="0" cy="0"/>
          <a:chOff x="0" y="0"/>
          <a:chExt cx="0" cy="0"/>
        </a:xfrm>
      </p:grpSpPr>
      <p:sp>
        <p:nvSpPr>
          <p:cNvPr id="32" name="Google Shape;32;p29"/>
          <p:cNvSpPr txBox="1"/>
          <p:nvPr>
            <p:ph idx="1" type="body"/>
          </p:nvPr>
        </p:nvSpPr>
        <p:spPr>
          <a:xfrm>
            <a:off x="323529" y="339509"/>
            <a:ext cx="11573197" cy="724247"/>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90000"/>
              </a:lnSpc>
              <a:spcBef>
                <a:spcPts val="1000"/>
              </a:spcBef>
              <a:spcAft>
                <a:spcPts val="0"/>
              </a:spcAft>
              <a:buClr>
                <a:srgbClr val="262626"/>
              </a:buClr>
              <a:buSzPts val="5400"/>
              <a:buFont typeface="Arial"/>
              <a:buNone/>
              <a:defRPr b="0" i="0" sz="5400" u="none" cap="none" strike="noStrike">
                <a:solidFill>
                  <a:srgbClr val="262626"/>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3" name="Google Shape;33;p29"/>
          <p:cNvSpPr/>
          <p:nvPr/>
        </p:nvSpPr>
        <p:spPr>
          <a:xfrm>
            <a:off x="0" y="2996952"/>
            <a:ext cx="12192000" cy="1872208"/>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grpSp>
        <p:nvGrpSpPr>
          <p:cNvPr id="34" name="Google Shape;34;p29"/>
          <p:cNvGrpSpPr/>
          <p:nvPr/>
        </p:nvGrpSpPr>
        <p:grpSpPr>
          <a:xfrm>
            <a:off x="4763852" y="1553600"/>
            <a:ext cx="2664296" cy="4683693"/>
            <a:chOff x="445712" y="1449040"/>
            <a:chExt cx="2113018" cy="3924176"/>
          </a:xfrm>
        </p:grpSpPr>
        <p:sp>
          <p:nvSpPr>
            <p:cNvPr id="35" name="Google Shape;35;p29"/>
            <p:cNvSpPr/>
            <p:nvPr/>
          </p:nvSpPr>
          <p:spPr>
            <a:xfrm>
              <a:off x="445712" y="1449040"/>
              <a:ext cx="2113018" cy="3924176"/>
            </a:xfrm>
            <a:prstGeom prst="roundRect">
              <a:avLst>
                <a:gd fmla="val 13580" name="adj"/>
              </a:avLst>
            </a:prstGeom>
            <a:solidFill>
              <a:srgbClr val="26262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6" name="Google Shape;36;p29"/>
            <p:cNvSpPr/>
            <p:nvPr/>
          </p:nvSpPr>
          <p:spPr>
            <a:xfrm>
              <a:off x="1379920" y="1650572"/>
              <a:ext cx="216024" cy="34350"/>
            </a:xfrm>
            <a:prstGeom prst="rect">
              <a:avLst/>
            </a:prstGeom>
            <a:solidFill>
              <a:srgbClr val="B0B0B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grpSp>
          <p:nvGrpSpPr>
            <p:cNvPr id="37" name="Google Shape;37;p29"/>
            <p:cNvGrpSpPr/>
            <p:nvPr/>
          </p:nvGrpSpPr>
          <p:grpSpPr>
            <a:xfrm>
              <a:off x="1407705" y="5045834"/>
              <a:ext cx="211967" cy="211967"/>
              <a:chOff x="1549420" y="5712364"/>
              <a:chExt cx="312583" cy="312583"/>
            </a:xfrm>
          </p:grpSpPr>
          <p:sp>
            <p:nvSpPr>
              <p:cNvPr id="38" name="Google Shape;38;p29"/>
              <p:cNvSpPr/>
              <p:nvPr/>
            </p:nvSpPr>
            <p:spPr>
              <a:xfrm>
                <a:off x="1549420" y="5712364"/>
                <a:ext cx="312583" cy="312583"/>
              </a:xfrm>
              <a:prstGeom prst="ellipse">
                <a:avLst/>
              </a:prstGeom>
              <a:gradFill>
                <a:gsLst>
                  <a:gs pos="0">
                    <a:srgbClr val="0F0F0F"/>
                  </a:gs>
                  <a:gs pos="56000">
                    <a:srgbClr val="595959"/>
                  </a:gs>
                  <a:gs pos="91000">
                    <a:srgbClr val="7F7F7F"/>
                  </a:gs>
                  <a:gs pos="100000">
                    <a:srgbClr val="BFBFBF"/>
                  </a:gs>
                </a:gsLst>
                <a:lin ang="10800000" scaled="0"/>
              </a:gradFill>
              <a:ln cap="flat" cmpd="sng" w="12700">
                <a:solidFill>
                  <a:srgbClr val="26262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9" name="Google Shape;39;p29"/>
              <p:cNvSpPr/>
              <p:nvPr/>
            </p:nvSpPr>
            <p:spPr>
              <a:xfrm>
                <a:off x="1634225" y="5796647"/>
                <a:ext cx="142969" cy="144016"/>
              </a:xfrm>
              <a:prstGeom prst="roundRect">
                <a:avLst>
                  <a:gd fmla="val 16667" name="adj"/>
                </a:avLst>
              </a:prstGeom>
              <a:solidFill>
                <a:srgbClr val="737373"/>
              </a:solidFill>
              <a:ln cap="flat" cmpd="sng" w="9525">
                <a:solidFill>
                  <a:srgbClr val="B0B0B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grpSp>
      </p:grpSp>
      <p:sp>
        <p:nvSpPr>
          <p:cNvPr id="40" name="Google Shape;40;p29"/>
          <p:cNvSpPr/>
          <p:nvPr>
            <p:ph idx="2" type="pic"/>
          </p:nvPr>
        </p:nvSpPr>
        <p:spPr>
          <a:xfrm>
            <a:off x="4951770" y="1965170"/>
            <a:ext cx="2288460" cy="3753075"/>
          </a:xfrm>
          <a:prstGeom prst="rect">
            <a:avLst/>
          </a:prstGeom>
          <a:solidFill>
            <a:srgbClr val="F2F2F2"/>
          </a:solidFill>
          <a:ln>
            <a:no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47" name="Shape 47"/>
        <p:cNvGrpSpPr/>
        <p:nvPr/>
      </p:nvGrpSpPr>
      <p:grpSpPr>
        <a:xfrm>
          <a:off x="0" y="0"/>
          <a:ext cx="0" cy="0"/>
          <a:chOff x="0" y="0"/>
          <a:chExt cx="0" cy="0"/>
        </a:xfrm>
      </p:grpSpPr>
      <p:sp>
        <p:nvSpPr>
          <p:cNvPr id="48" name="Google Shape;48;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9" name="Google Shape;49;p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0" name="Google Shape;50;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type="title">
  <p:cSld name="TITLE">
    <p:spTree>
      <p:nvGrpSpPr>
        <p:cNvPr id="53" name="Shape 53"/>
        <p:cNvGrpSpPr/>
        <p:nvPr/>
      </p:nvGrpSpPr>
      <p:grpSpPr>
        <a:xfrm>
          <a:off x="0" y="0"/>
          <a:ext cx="0" cy="0"/>
          <a:chOff x="0" y="0"/>
          <a:chExt cx="0" cy="0"/>
        </a:xfrm>
      </p:grpSpPr>
      <p:sp>
        <p:nvSpPr>
          <p:cNvPr id="54" name="Google Shape;54;p8"/>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8"/>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56" name="Google Shape;56;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type="secHead">
  <p:cSld name="SECTION_HEADER">
    <p:spTree>
      <p:nvGrpSpPr>
        <p:cNvPr id="59" name="Shape 59"/>
        <p:cNvGrpSpPr/>
        <p:nvPr/>
      </p:nvGrpSpPr>
      <p:grpSpPr>
        <a:xfrm>
          <a:off x="0" y="0"/>
          <a:ext cx="0" cy="0"/>
          <a:chOff x="0" y="0"/>
          <a:chExt cx="0" cy="0"/>
        </a:xfrm>
      </p:grpSpPr>
      <p:sp>
        <p:nvSpPr>
          <p:cNvPr id="60" name="Google Shape;60;p9"/>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1" name="Google Shape;61;p9"/>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62" name="Google Shape;62;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65" name="Shape 65"/>
        <p:cNvGrpSpPr/>
        <p:nvPr/>
      </p:nvGrpSpPr>
      <p:grpSpPr>
        <a:xfrm>
          <a:off x="0" y="0"/>
          <a:ext cx="0" cy="0"/>
          <a:chOff x="0" y="0"/>
          <a:chExt cx="0" cy="0"/>
        </a:xfrm>
      </p:grpSpPr>
      <p:sp>
        <p:nvSpPr>
          <p:cNvPr id="66" name="Google Shape;66;p1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10"/>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8" name="Google Shape;68;p10"/>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9" name="Google Shape;69;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72" name="Shape 72"/>
        <p:cNvGrpSpPr/>
        <p:nvPr/>
      </p:nvGrpSpPr>
      <p:grpSpPr>
        <a:xfrm>
          <a:off x="0" y="0"/>
          <a:ext cx="0" cy="0"/>
          <a:chOff x="0" y="0"/>
          <a:chExt cx="0" cy="0"/>
        </a:xfrm>
      </p:grpSpPr>
      <p:sp>
        <p:nvSpPr>
          <p:cNvPr id="73" name="Google Shape;73;p11"/>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11"/>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75" name="Google Shape;75;p11"/>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6" name="Google Shape;76;p11"/>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77" name="Google Shape;77;p11"/>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8" name="Google Shape;78;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el título" type="titleOnly">
  <p:cSld name="TITLE_ONLY">
    <p:spTree>
      <p:nvGrpSpPr>
        <p:cNvPr id="81" name="Shape 81"/>
        <p:cNvGrpSpPr/>
        <p:nvPr/>
      </p:nvGrpSpPr>
      <p:grpSpPr>
        <a:xfrm>
          <a:off x="0" y="0"/>
          <a:ext cx="0" cy="0"/>
          <a:chOff x="0" y="0"/>
          <a:chExt cx="0" cy="0"/>
        </a:xfrm>
      </p:grpSpPr>
      <p:sp>
        <p:nvSpPr>
          <p:cNvPr id="82" name="Google Shape;82;p1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3" name="Google Shape;83;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spTree>
      <p:nvGrpSpPr>
        <p:cNvPr id="86" name="Shape 86"/>
        <p:cNvGrpSpPr/>
        <p:nvPr/>
      </p:nvGrpSpPr>
      <p:grpSpPr>
        <a:xfrm>
          <a:off x="0" y="0"/>
          <a:ext cx="0" cy="0"/>
          <a:chOff x="0" y="0"/>
          <a:chExt cx="0" cy="0"/>
        </a:xfrm>
      </p:grpSpPr>
      <p:sp>
        <p:nvSpPr>
          <p:cNvPr id="87" name="Google Shape;87;p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 name="Google Shape;88;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 name="Google Shape;89;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type="objTx">
  <p:cSld name="OBJECT_WITH_CAPTION_TEXT">
    <p:spTree>
      <p:nvGrpSpPr>
        <p:cNvPr id="90" name="Shape 90"/>
        <p:cNvGrpSpPr/>
        <p:nvPr/>
      </p:nvGrpSpPr>
      <p:grpSpPr>
        <a:xfrm>
          <a:off x="0" y="0"/>
          <a:ext cx="0" cy="0"/>
          <a:chOff x="0" y="0"/>
          <a:chExt cx="0" cy="0"/>
        </a:xfrm>
      </p:grpSpPr>
      <p:sp>
        <p:nvSpPr>
          <p:cNvPr id="91" name="Google Shape;91;p14"/>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2" name="Google Shape;92;p14"/>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93" name="Google Shape;93;p14"/>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94" name="Google Shape;94;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5" name="Google Shape;95;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6" name="Google Shape;96;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type="picTx">
  <p:cSld name="PICTURE_WITH_CAPTION_TEXT">
    <p:spTree>
      <p:nvGrpSpPr>
        <p:cNvPr id="97" name="Shape 97"/>
        <p:cNvGrpSpPr/>
        <p:nvPr/>
      </p:nvGrpSpPr>
      <p:grpSpPr>
        <a:xfrm>
          <a:off x="0" y="0"/>
          <a:ext cx="0" cy="0"/>
          <a:chOff x="0" y="0"/>
          <a:chExt cx="0" cy="0"/>
        </a:xfrm>
      </p:grpSpPr>
      <p:sp>
        <p:nvSpPr>
          <p:cNvPr id="98" name="Google Shape;98;p15"/>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9" name="Google Shape;99;p15"/>
          <p:cNvSpPr/>
          <p:nvPr>
            <p:ph idx="2" type="pic"/>
          </p:nvPr>
        </p:nvSpPr>
        <p:spPr>
          <a:xfrm>
            <a:off x="5183188" y="987425"/>
            <a:ext cx="6172200" cy="4873625"/>
          </a:xfrm>
          <a:prstGeom prst="rect">
            <a:avLst/>
          </a:prstGeom>
          <a:noFill/>
          <a:ln>
            <a:noFill/>
          </a:ln>
        </p:spPr>
      </p:sp>
      <p:sp>
        <p:nvSpPr>
          <p:cNvPr id="100" name="Google Shape;100;p15"/>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101" name="Google Shape;101;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2" name="Google Shape;102;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3" name="Google Shape;103;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104" name="Shape 104"/>
        <p:cNvGrpSpPr/>
        <p:nvPr/>
      </p:nvGrpSpPr>
      <p:grpSpPr>
        <a:xfrm>
          <a:off x="0" y="0"/>
          <a:ext cx="0" cy="0"/>
          <a:chOff x="0" y="0"/>
          <a:chExt cx="0" cy="0"/>
        </a:xfrm>
      </p:grpSpPr>
      <p:sp>
        <p:nvSpPr>
          <p:cNvPr id="105" name="Google Shape;105;p1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6" name="Google Shape;106;p16"/>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7" name="Google Shape;107;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8" name="Google Shape;108;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9" name="Google Shape;109;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type="vertTitleAndTx">
  <p:cSld name="VERTICAL_TITLE_AND_VERTICAL_TEXT">
    <p:spTree>
      <p:nvGrpSpPr>
        <p:cNvPr id="110" name="Shape 110"/>
        <p:cNvGrpSpPr/>
        <p:nvPr/>
      </p:nvGrpSpPr>
      <p:grpSpPr>
        <a:xfrm>
          <a:off x="0" y="0"/>
          <a:ext cx="0" cy="0"/>
          <a:chOff x="0" y="0"/>
          <a:chExt cx="0" cy="0"/>
        </a:xfrm>
      </p:grpSpPr>
      <p:sp>
        <p:nvSpPr>
          <p:cNvPr id="111" name="Google Shape;111;p17"/>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2" name="Google Shape;112;p17"/>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3" name="Google Shape;113;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4" name="Google Shape;114;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5" name="Google Shape;115;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4.xml"/><Relationship Id="rId10" Type="http://schemas.openxmlformats.org/officeDocument/2006/relationships/slideLayout" Target="../slideLayouts/slideLayout23.xml"/><Relationship Id="rId12" Type="http://schemas.openxmlformats.org/officeDocument/2006/relationships/theme" Target="../theme/theme3.xml"/><Relationship Id="rId1" Type="http://schemas.openxmlformats.org/officeDocument/2006/relationships/slideLayout" Target="../slideLayouts/slideLayout14.xml"/><Relationship Id="rId2" Type="http://schemas.openxmlformats.org/officeDocument/2006/relationships/slideLayout" Target="../slideLayouts/slideLayout15.xml"/><Relationship Id="rId3" Type="http://schemas.openxmlformats.org/officeDocument/2006/relationships/slideLayout" Target="../slideLayouts/slideLayout16.xml"/><Relationship Id="rId4" Type="http://schemas.openxmlformats.org/officeDocument/2006/relationships/slideLayout" Target="../slideLayouts/slideLayout17.xml"/><Relationship Id="rId9" Type="http://schemas.openxmlformats.org/officeDocument/2006/relationships/slideLayout" Target="../slideLayouts/slideLayout22.xml"/><Relationship Id="rId5" Type="http://schemas.openxmlformats.org/officeDocument/2006/relationships/slideLayout" Target="../slideLayouts/slideLayout18.xml"/><Relationship Id="rId6" Type="http://schemas.openxmlformats.org/officeDocument/2006/relationships/slideLayout" Target="../slideLayouts/slideLayout19.xml"/><Relationship Id="rId7" Type="http://schemas.openxmlformats.org/officeDocument/2006/relationships/slideLayout" Target="../slideLayouts/slideLayout20.xml"/><Relationship Id="rId8"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1" name="Shape 41"/>
        <p:cNvGrpSpPr/>
        <p:nvPr/>
      </p:nvGrpSpPr>
      <p:grpSpPr>
        <a:xfrm>
          <a:off x="0" y="0"/>
          <a:ext cx="0" cy="0"/>
          <a:chOff x="0" y="0"/>
          <a:chExt cx="0" cy="0"/>
        </a:xfrm>
      </p:grpSpPr>
      <p:sp>
        <p:nvSpPr>
          <p:cNvPr id="42" name="Google Shape;42;p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43" name="Google Shape;43;p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4" name="Google Shape;44;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5" name="Google Shape;45;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6" name="Google Shape;46;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AR"/>
              <a:t>‹#›</a:t>
            </a:fld>
            <a:endParaRPr/>
          </a:p>
        </p:txBody>
      </p:sp>
    </p:spTree>
  </p:cSld>
  <p:clrMap accent1="accent1" accent2="accent2" accent3="accent3" accent4="accent4" accent5="accent5" accent6="accent6" bg1="lt1" bg2="dk2" tx1="dk1" tx2="lt2" folHlink="folHlink" hlink="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3.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 Id="rId3" Type="http://schemas.openxmlformats.org/officeDocument/2006/relationships/image" Target="../media/image20.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 Id="rId3" Type="http://schemas.openxmlformats.org/officeDocument/2006/relationships/image" Target="../media/image10.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 Id="rId3" Type="http://schemas.openxmlformats.org/officeDocument/2006/relationships/image" Target="../media/image1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 Id="rId3" Type="http://schemas.openxmlformats.org/officeDocument/2006/relationships/image" Target="../media/image2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xml"/><Relationship Id="rId3" Type="http://schemas.openxmlformats.org/officeDocument/2006/relationships/image" Target="../media/image2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xml"/><Relationship Id="rId3" Type="http://schemas.openxmlformats.org/officeDocument/2006/relationships/image" Target="../media/image1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 Id="rId3" Type="http://schemas.openxmlformats.org/officeDocument/2006/relationships/image" Target="../media/image17.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 Id="rId3" Type="http://schemas.openxmlformats.org/officeDocument/2006/relationships/image" Target="../media/image9.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 Id="rId3" Type="http://schemas.openxmlformats.org/officeDocument/2006/relationships/image" Target="../media/image6.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 Id="rId3" Type="http://schemas.openxmlformats.org/officeDocument/2006/relationships/image" Target="../media/image8.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xml"/><Relationship Id="rId3" Type="http://schemas.openxmlformats.org/officeDocument/2006/relationships/hyperlink" Target="https://micro.ros.org/" TargetMode="External"/><Relationship Id="rId4" Type="http://schemas.openxmlformats.org/officeDocument/2006/relationships/image" Target="../media/image15.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 Id="rId3" Type="http://schemas.openxmlformats.org/officeDocument/2006/relationships/hyperlink" Target="https://docs.espressif.com/projects/esp-idf/en/latest/esp32/api-reference/system/ota.html?highlight=ota" TargetMode="External"/><Relationship Id="rId4" Type="http://schemas.openxmlformats.org/officeDocument/2006/relationships/image" Target="../media/image14.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4.xml"/><Relationship Id="rId3" Type="http://schemas.openxmlformats.org/officeDocument/2006/relationships/image" Target="../media/image2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xml"/><Relationship Id="rId3" Type="http://schemas.openxmlformats.org/officeDocument/2006/relationships/hyperlink" Target="https://www.onroad.to/teorico/clases-autoescuela/senalizacion/semaforos/semaforos-inteligentes" TargetMode="External"/><Relationship Id="rId4" Type="http://schemas.openxmlformats.org/officeDocument/2006/relationships/image" Target="../media/image12.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6.xml"/><Relationship Id="rId3" Type="http://schemas.openxmlformats.org/officeDocument/2006/relationships/image" Target="../media/image19.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9" name="Shape 119"/>
        <p:cNvGrpSpPr/>
        <p:nvPr/>
      </p:nvGrpSpPr>
      <p:grpSpPr>
        <a:xfrm>
          <a:off x="0" y="0"/>
          <a:ext cx="0" cy="0"/>
          <a:chOff x="0" y="0"/>
          <a:chExt cx="0" cy="0"/>
        </a:xfrm>
      </p:grpSpPr>
      <p:sp>
        <p:nvSpPr>
          <p:cNvPr id="120" name="Google Shape;120;p1"/>
          <p:cNvSpPr/>
          <p:nvPr/>
        </p:nvSpPr>
        <p:spPr>
          <a:xfrm>
            <a:off x="5748762" y="0"/>
            <a:ext cx="8260080" cy="6858000"/>
          </a:xfrm>
          <a:prstGeom prst="flowChartOnlineStorage">
            <a:avLst/>
          </a:prstGeom>
          <a:gradFill>
            <a:gsLst>
              <a:gs pos="0">
                <a:srgbClr val="FFFFFF">
                  <a:alpha val="0"/>
                </a:srgbClr>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pic>
        <p:nvPicPr>
          <p:cNvPr id="121" name="Google Shape;121;p1"/>
          <p:cNvPicPr preferRelativeResize="0"/>
          <p:nvPr/>
        </p:nvPicPr>
        <p:blipFill rotWithShape="1">
          <a:blip r:embed="rId3">
            <a:alphaModFix/>
          </a:blip>
          <a:srcRect b="15730" l="0" r="0" t="0"/>
          <a:stretch/>
        </p:blipFill>
        <p:spPr>
          <a:xfrm>
            <a:off x="20" y="10"/>
            <a:ext cx="12191980" cy="6857990"/>
          </a:xfrm>
          <a:prstGeom prst="rect">
            <a:avLst/>
          </a:prstGeom>
          <a:noFill/>
          <a:ln>
            <a:noFill/>
          </a:ln>
        </p:spPr>
      </p:pic>
      <p:sp>
        <p:nvSpPr>
          <p:cNvPr id="122" name="Google Shape;122;p1"/>
          <p:cNvSpPr/>
          <p:nvPr/>
        </p:nvSpPr>
        <p:spPr>
          <a:xfrm>
            <a:off x="7488621" y="2277613"/>
            <a:ext cx="4703379" cy="4580387"/>
          </a:xfrm>
          <a:custGeom>
            <a:rect b="b" l="l" r="r" t="t"/>
            <a:pathLst>
              <a:path extrusionOk="0" h="1298" w="1333">
                <a:moveTo>
                  <a:pt x="1333" y="1031"/>
                </a:moveTo>
                <a:cubicBezTo>
                  <a:pt x="1333" y="380"/>
                  <a:pt x="1333" y="380"/>
                  <a:pt x="1333" y="380"/>
                </a:cubicBezTo>
                <a:cubicBezTo>
                  <a:pt x="1215" y="154"/>
                  <a:pt x="979" y="0"/>
                  <a:pt x="706" y="0"/>
                </a:cubicBezTo>
                <a:cubicBezTo>
                  <a:pt x="317" y="0"/>
                  <a:pt x="0" y="316"/>
                  <a:pt x="0" y="706"/>
                </a:cubicBezTo>
                <a:cubicBezTo>
                  <a:pt x="0" y="954"/>
                  <a:pt x="129" y="1172"/>
                  <a:pt x="323" y="1298"/>
                </a:cubicBezTo>
                <a:cubicBezTo>
                  <a:pt x="1090" y="1298"/>
                  <a:pt x="1090" y="1298"/>
                  <a:pt x="1090" y="1298"/>
                </a:cubicBezTo>
                <a:cubicBezTo>
                  <a:pt x="1193" y="1232"/>
                  <a:pt x="1276" y="1140"/>
                  <a:pt x="1333" y="1031"/>
                </a:cubicBezTo>
                <a:close/>
              </a:path>
            </a:pathLst>
          </a:custGeom>
          <a:solidFill>
            <a:schemeClr val="lt1">
              <a:alpha val="69803"/>
            </a:schemeClr>
          </a:solidFill>
          <a:ln>
            <a:noFill/>
          </a:ln>
        </p:spPr>
        <p:txBody>
          <a:bodyPr anchorCtr="0" anchor="t" bIns="45700" lIns="91425" spcFirstLastPara="1" rIns="91425" wrap="square" tIns="45700">
            <a:norm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Calibri"/>
              <a:ea typeface="Calibri"/>
              <a:cs typeface="Calibri"/>
              <a:sym typeface="Calibri"/>
            </a:endParaRPr>
          </a:p>
        </p:txBody>
      </p:sp>
      <p:sp>
        <p:nvSpPr>
          <p:cNvPr id="123" name="Google Shape;123;p1"/>
          <p:cNvSpPr txBox="1"/>
          <p:nvPr/>
        </p:nvSpPr>
        <p:spPr>
          <a:xfrm>
            <a:off x="8022021" y="3637280"/>
            <a:ext cx="3852041" cy="2225039"/>
          </a:xfrm>
          <a:prstGeom prst="rect">
            <a:avLst/>
          </a:prstGeom>
          <a:noFill/>
          <a:ln>
            <a:noFill/>
          </a:ln>
        </p:spPr>
        <p:txBody>
          <a:bodyPr anchorCtr="0" anchor="ctr" bIns="45700" lIns="91425" spcFirstLastPara="1" rIns="91425" wrap="square" tIns="45700">
            <a:normAutofit lnSpcReduction="20000"/>
          </a:bodyPr>
          <a:lstStyle/>
          <a:p>
            <a:pPr indent="0" lvl="0" marL="0" marR="0" rtl="0" algn="ctr">
              <a:lnSpc>
                <a:spcPct val="90000"/>
              </a:lnSpc>
              <a:spcBef>
                <a:spcPts val="0"/>
              </a:spcBef>
              <a:spcAft>
                <a:spcPts val="0"/>
              </a:spcAft>
              <a:buClr>
                <a:srgbClr val="000000"/>
              </a:buClr>
              <a:buSzPts val="4000"/>
              <a:buFont typeface="Calibri"/>
              <a:buNone/>
            </a:pPr>
            <a:r>
              <a:rPr b="1" i="0" lang="es-AR" sz="4000" u="none" cap="none" strike="noStrike">
                <a:solidFill>
                  <a:srgbClr val="000000"/>
                </a:solidFill>
                <a:latin typeface="Calibri"/>
                <a:ea typeface="Calibri"/>
                <a:cs typeface="Calibri"/>
                <a:sym typeface="Calibri"/>
              </a:rPr>
              <a:t>Sistemas</a:t>
            </a:r>
            <a:endParaRPr b="1" i="0" sz="4000" u="none" cap="none" strike="noStrike">
              <a:solidFill>
                <a:srgbClr val="000000"/>
              </a:solidFill>
              <a:latin typeface="Calibri"/>
              <a:ea typeface="Calibri"/>
              <a:cs typeface="Calibri"/>
              <a:sym typeface="Calibri"/>
            </a:endParaRPr>
          </a:p>
          <a:p>
            <a:pPr indent="0" lvl="0" marL="0" marR="0" rtl="0" algn="ctr">
              <a:lnSpc>
                <a:spcPct val="90000"/>
              </a:lnSpc>
              <a:spcBef>
                <a:spcPts val="600"/>
              </a:spcBef>
              <a:spcAft>
                <a:spcPts val="0"/>
              </a:spcAft>
              <a:buClr>
                <a:srgbClr val="000000"/>
              </a:buClr>
              <a:buSzPts val="4000"/>
              <a:buFont typeface="Calibri"/>
              <a:buNone/>
            </a:pPr>
            <a:r>
              <a:rPr b="1" i="0" lang="es-AR" sz="4000" u="none" cap="none" strike="noStrike">
                <a:solidFill>
                  <a:srgbClr val="000000"/>
                </a:solidFill>
                <a:latin typeface="Calibri"/>
                <a:ea typeface="Calibri"/>
                <a:cs typeface="Calibri"/>
                <a:sym typeface="Calibri"/>
              </a:rPr>
              <a:t>De Tiempo Real</a:t>
            </a:r>
            <a:endParaRPr/>
          </a:p>
          <a:p>
            <a:pPr indent="0" lvl="0" marL="0" marR="0" rtl="0" algn="ctr">
              <a:lnSpc>
                <a:spcPct val="90000"/>
              </a:lnSpc>
              <a:spcBef>
                <a:spcPts val="600"/>
              </a:spcBef>
              <a:spcAft>
                <a:spcPts val="0"/>
              </a:spcAft>
              <a:buClr>
                <a:schemeClr val="dk1"/>
              </a:buClr>
              <a:buSzPts val="2400"/>
              <a:buFont typeface="Calibri"/>
              <a:buNone/>
            </a:pPr>
            <a:r>
              <a:t/>
            </a:r>
            <a:endParaRPr b="1" i="0" sz="2400" u="none" cap="none" strike="noStrike">
              <a:solidFill>
                <a:srgbClr val="000000"/>
              </a:solidFill>
              <a:latin typeface="Calibri"/>
              <a:ea typeface="Calibri"/>
              <a:cs typeface="Calibri"/>
              <a:sym typeface="Calibri"/>
            </a:endParaRPr>
          </a:p>
          <a:p>
            <a:pPr indent="0" lvl="0" marL="0" marR="0" rtl="0" algn="ctr">
              <a:lnSpc>
                <a:spcPct val="90000"/>
              </a:lnSpc>
              <a:spcBef>
                <a:spcPts val="600"/>
              </a:spcBef>
              <a:spcAft>
                <a:spcPts val="0"/>
              </a:spcAft>
              <a:buClr>
                <a:srgbClr val="000000"/>
              </a:buClr>
              <a:buSzPts val="2400"/>
              <a:buFont typeface="Calibri"/>
              <a:buNone/>
            </a:pPr>
            <a:r>
              <a:rPr b="1" i="0" lang="es-AR" sz="2400" u="none" cap="none" strike="noStrike">
                <a:solidFill>
                  <a:srgbClr val="000000"/>
                </a:solidFill>
                <a:latin typeface="Calibri"/>
                <a:ea typeface="Calibri"/>
                <a:cs typeface="Calibri"/>
                <a:sym typeface="Calibri"/>
              </a:rPr>
              <a:t>2023 – Temas y cat</a:t>
            </a:r>
            <a:r>
              <a:rPr b="1" lang="es-AR" sz="2400">
                <a:latin typeface="Calibri"/>
                <a:ea typeface="Calibri"/>
                <a:cs typeface="Calibri"/>
                <a:sym typeface="Calibri"/>
              </a:rPr>
              <a:t>álogo</a:t>
            </a:r>
            <a:r>
              <a:rPr b="1" i="0" lang="es-AR" sz="2400" u="none" cap="none" strike="noStrike">
                <a:solidFill>
                  <a:srgbClr val="000000"/>
                </a:solidFill>
                <a:latin typeface="Calibri"/>
                <a:ea typeface="Calibri"/>
                <a:cs typeface="Calibri"/>
                <a:sym typeface="Calibri"/>
              </a:rPr>
              <a:t> para Proyectos</a:t>
            </a:r>
            <a:endParaRPr b="1" i="0" sz="4000" u="none" cap="none" strike="noStrike">
              <a:solidFill>
                <a:srgbClr val="000000"/>
              </a:solidFill>
              <a:latin typeface="Calibri"/>
              <a:ea typeface="Calibri"/>
              <a:cs typeface="Calibri"/>
              <a:sym typeface="Calibri"/>
            </a:endParaRPr>
          </a:p>
        </p:txBody>
      </p:sp>
      <p:cxnSp>
        <p:nvCxnSpPr>
          <p:cNvPr id="124" name="Google Shape;124;p1"/>
          <p:cNvCxnSpPr/>
          <p:nvPr/>
        </p:nvCxnSpPr>
        <p:spPr>
          <a:xfrm>
            <a:off x="9480331" y="5123793"/>
            <a:ext cx="935420" cy="0"/>
          </a:xfrm>
          <a:prstGeom prst="straightConnector1">
            <a:avLst/>
          </a:prstGeom>
          <a:noFill/>
          <a:ln cap="sq" cmpd="sng" w="25400">
            <a:solidFill>
              <a:srgbClr val="262626"/>
            </a:solidFill>
            <a:prstDash val="solid"/>
            <a:bevel/>
            <a:headEnd len="sm" w="sm" type="none"/>
            <a:tailEnd len="sm" w="sm" type="none"/>
          </a:ln>
        </p:spPr>
      </p:cxnSp>
      <p:sp>
        <p:nvSpPr>
          <p:cNvPr id="125" name="Google Shape;125;p1"/>
          <p:cNvSpPr txBox="1"/>
          <p:nvPr/>
        </p:nvSpPr>
        <p:spPr>
          <a:xfrm>
            <a:off x="0" y="6488658"/>
            <a:ext cx="3015121" cy="338554"/>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alibri"/>
              <a:buNone/>
            </a:pPr>
            <a:r>
              <a:rPr b="0" i="0" lang="es-AR" sz="1600" u="none" cap="none" strike="noStrike">
                <a:solidFill>
                  <a:srgbClr val="000000"/>
                </a:solidFill>
                <a:latin typeface="Calibri"/>
                <a:ea typeface="Calibri"/>
                <a:cs typeface="Calibri"/>
                <a:sym typeface="Calibri"/>
              </a:rPr>
              <a:t>Facultad de Informática – U.N.L.P.</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9" name="Shape 129"/>
        <p:cNvGrpSpPr/>
        <p:nvPr/>
      </p:nvGrpSpPr>
      <p:grpSpPr>
        <a:xfrm>
          <a:off x="0" y="0"/>
          <a:ext cx="0" cy="0"/>
          <a:chOff x="0" y="0"/>
          <a:chExt cx="0" cy="0"/>
        </a:xfrm>
      </p:grpSpPr>
      <p:sp>
        <p:nvSpPr>
          <p:cNvPr id="130" name="Google Shape;130;p2"/>
          <p:cNvSpPr/>
          <p:nvPr/>
        </p:nvSpPr>
        <p:spPr>
          <a:xfrm>
            <a:off x="0"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31" name="Google Shape;131;p2"/>
          <p:cNvSpPr txBox="1"/>
          <p:nvPr>
            <p:ph type="title"/>
          </p:nvPr>
        </p:nvSpPr>
        <p:spPr>
          <a:xfrm>
            <a:off x="5297762" y="329184"/>
            <a:ext cx="6251110" cy="178308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5400"/>
              <a:buFont typeface="Calibri"/>
              <a:buNone/>
            </a:pPr>
            <a:r>
              <a:rPr lang="es-AR" sz="5400"/>
              <a:t>Temas para Proyectos</a:t>
            </a:r>
            <a:endParaRPr/>
          </a:p>
        </p:txBody>
      </p:sp>
      <p:sp>
        <p:nvSpPr>
          <p:cNvPr id="132" name="Google Shape;132;p2"/>
          <p:cNvSpPr/>
          <p:nvPr/>
        </p:nvSpPr>
        <p:spPr>
          <a:xfrm>
            <a:off x="5297762" y="2374947"/>
            <a:ext cx="4243589" cy="18288"/>
          </a:xfrm>
          <a:custGeom>
            <a:rect b="b" l="l" r="r" t="t"/>
            <a:pathLst>
              <a:path extrusionOk="0" fill="none" h="18288" w="4243589">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extrusionOk="0" h="18288" w="4243589">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cap="rnd" cmpd="sng" w="4445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33" name="Google Shape;133;p2"/>
          <p:cNvSpPr txBox="1"/>
          <p:nvPr>
            <p:ph idx="1" type="body"/>
          </p:nvPr>
        </p:nvSpPr>
        <p:spPr>
          <a:xfrm>
            <a:off x="5297762" y="2676700"/>
            <a:ext cx="6363808" cy="3483864"/>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500"/>
              </a:spcBef>
              <a:spcAft>
                <a:spcPts val="0"/>
              </a:spcAft>
              <a:buNone/>
            </a:pPr>
            <a:r>
              <a:rPr b="1" lang="es-AR"/>
              <a:t>Robot Autónomo:</a:t>
            </a:r>
            <a:endParaRPr b="1"/>
          </a:p>
          <a:p>
            <a:pPr indent="-266700" lvl="1" marL="685800" rtl="0" algn="l">
              <a:lnSpc>
                <a:spcPct val="90000"/>
              </a:lnSpc>
              <a:spcBef>
                <a:spcPts val="500"/>
              </a:spcBef>
              <a:spcAft>
                <a:spcPts val="0"/>
              </a:spcAft>
              <a:buClr>
                <a:schemeClr val="dk1"/>
              </a:buClr>
              <a:buSzPts val="2400"/>
              <a:buChar char="•"/>
            </a:pPr>
            <a:r>
              <a:rPr lang="es-AR" sz="2400"/>
              <a:t>Sistemas Operativos</a:t>
            </a:r>
            <a:endParaRPr/>
          </a:p>
          <a:p>
            <a:pPr indent="-266700" lvl="1" marL="685800" rtl="0" algn="l">
              <a:lnSpc>
                <a:spcPct val="90000"/>
              </a:lnSpc>
              <a:spcBef>
                <a:spcPts val="500"/>
              </a:spcBef>
              <a:spcAft>
                <a:spcPts val="0"/>
              </a:spcAft>
              <a:buClr>
                <a:schemeClr val="dk1"/>
              </a:buClr>
              <a:buSzPts val="2400"/>
              <a:buChar char="•"/>
            </a:pPr>
            <a:r>
              <a:rPr lang="es-AR" sz="2400"/>
              <a:t>Sistemas </a:t>
            </a:r>
            <a:r>
              <a:rPr lang="es-AR" sz="2400"/>
              <a:t>de Locomoción</a:t>
            </a:r>
            <a:endParaRPr/>
          </a:p>
          <a:p>
            <a:pPr indent="-266700" lvl="1" marL="685800" rtl="0" algn="l">
              <a:lnSpc>
                <a:spcPct val="90000"/>
              </a:lnSpc>
              <a:spcBef>
                <a:spcPts val="500"/>
              </a:spcBef>
              <a:spcAft>
                <a:spcPts val="0"/>
              </a:spcAft>
              <a:buClr>
                <a:schemeClr val="dk1"/>
              </a:buClr>
              <a:buSzPts val="2400"/>
              <a:buChar char="•"/>
            </a:pPr>
            <a:r>
              <a:rPr lang="es-AR" sz="2400"/>
              <a:t>Sistemas de percepción, localización y mapeo simultáneos (SLAM)</a:t>
            </a:r>
            <a:endParaRPr/>
          </a:p>
          <a:p>
            <a:pPr indent="-266700" lvl="1" marL="685800" rtl="0" algn="l">
              <a:lnSpc>
                <a:spcPct val="90000"/>
              </a:lnSpc>
              <a:spcBef>
                <a:spcPts val="500"/>
              </a:spcBef>
              <a:spcAft>
                <a:spcPts val="0"/>
              </a:spcAft>
              <a:buClr>
                <a:schemeClr val="dk1"/>
              </a:buClr>
              <a:buSzPts val="2400"/>
              <a:buChar char="•"/>
            </a:pPr>
            <a:r>
              <a:rPr lang="es-AR" sz="2400"/>
              <a:t>Planificación de trayectorias</a:t>
            </a:r>
            <a:endParaRPr/>
          </a:p>
        </p:txBody>
      </p:sp>
      <p:pic>
        <p:nvPicPr>
          <p:cNvPr id="134" name="Google Shape;134;p2"/>
          <p:cNvPicPr preferRelativeResize="0"/>
          <p:nvPr/>
        </p:nvPicPr>
        <p:blipFill rotWithShape="1">
          <a:blip r:embed="rId3">
            <a:alphaModFix/>
          </a:blip>
          <a:srcRect b="0" l="32013" r="17052" t="0"/>
          <a:stretch/>
        </p:blipFill>
        <p:spPr>
          <a:xfrm>
            <a:off x="1" y="10"/>
            <a:ext cx="4657344" cy="6857990"/>
          </a:xfrm>
          <a:custGeom>
            <a:rect b="b" l="l" r="r" t="t"/>
            <a:pathLst>
              <a:path extrusionOk="0" h="6858000" w="4657344">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8" name="Shape 138"/>
        <p:cNvGrpSpPr/>
        <p:nvPr/>
      </p:nvGrpSpPr>
      <p:grpSpPr>
        <a:xfrm>
          <a:off x="0" y="0"/>
          <a:ext cx="0" cy="0"/>
          <a:chOff x="0" y="0"/>
          <a:chExt cx="0" cy="0"/>
        </a:xfrm>
      </p:grpSpPr>
      <p:sp>
        <p:nvSpPr>
          <p:cNvPr id="139" name="Google Shape;139;g27aff740336_0_0"/>
          <p:cNvSpPr/>
          <p:nvPr/>
        </p:nvSpPr>
        <p:spPr>
          <a:xfrm>
            <a:off x="0" y="0"/>
            <a:ext cx="12189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40" name="Google Shape;140;g27aff740336_0_0"/>
          <p:cNvSpPr txBox="1"/>
          <p:nvPr>
            <p:ph type="title"/>
          </p:nvPr>
        </p:nvSpPr>
        <p:spPr>
          <a:xfrm>
            <a:off x="4923400" y="329175"/>
            <a:ext cx="7189800" cy="10338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1"/>
              </a:buClr>
              <a:buSzPts val="1100"/>
              <a:buFont typeface="Arial"/>
              <a:buNone/>
            </a:pPr>
            <a:r>
              <a:rPr b="1" lang="es-AR" sz="4300"/>
              <a:t>STR </a:t>
            </a:r>
            <a:r>
              <a:rPr b="1" lang="es-AR" sz="4300"/>
              <a:t>- RA1. SO para Robots</a:t>
            </a:r>
            <a:endParaRPr b="1" sz="4300"/>
          </a:p>
        </p:txBody>
      </p:sp>
      <p:sp>
        <p:nvSpPr>
          <p:cNvPr id="141" name="Google Shape;141;g27aff740336_0_0"/>
          <p:cNvSpPr/>
          <p:nvPr/>
        </p:nvSpPr>
        <p:spPr>
          <a:xfrm>
            <a:off x="5226837" y="1539060"/>
            <a:ext cx="4243589" cy="18288"/>
          </a:xfrm>
          <a:custGeom>
            <a:rect b="b" l="l" r="r" t="t"/>
            <a:pathLst>
              <a:path extrusionOk="0" fill="none" h="18288" w="4243589">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extrusionOk="0" h="18288" w="4243589">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cap="rnd" cmpd="sng" w="4445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42" name="Google Shape;142;g27aff740336_0_0"/>
          <p:cNvSpPr txBox="1"/>
          <p:nvPr>
            <p:ph idx="1" type="body"/>
          </p:nvPr>
        </p:nvSpPr>
        <p:spPr>
          <a:xfrm>
            <a:off x="4835725" y="1804775"/>
            <a:ext cx="7145400" cy="48996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500"/>
              </a:spcBef>
              <a:spcAft>
                <a:spcPts val="0"/>
              </a:spcAft>
              <a:buNone/>
            </a:pPr>
            <a:r>
              <a:rPr lang="es-AR" sz="2400"/>
              <a:t>Este proyecto tiene como objetivo central la investigación y evaluación de sistemas operativos especializados que permitan el desarrollo de un robot autónomo. Estos sistemas operativos están diseñados para potenciar el desarrollo de módulos necesarios para la construcción de sistemas y subsistemas, permitiendo así la materialización de robots autónomos avanzados.</a:t>
            </a:r>
            <a:endParaRPr sz="2400"/>
          </a:p>
          <a:p>
            <a:pPr indent="0" lvl="0" marL="0" rtl="0" algn="l">
              <a:lnSpc>
                <a:spcPct val="90000"/>
              </a:lnSpc>
              <a:spcBef>
                <a:spcPts val="500"/>
              </a:spcBef>
              <a:spcAft>
                <a:spcPts val="0"/>
              </a:spcAft>
              <a:buNone/>
            </a:pPr>
            <a:r>
              <a:t/>
            </a:r>
            <a:endParaRPr sz="2400"/>
          </a:p>
          <a:p>
            <a:pPr indent="-381000" lvl="0" marL="457200" rtl="0" algn="l">
              <a:lnSpc>
                <a:spcPct val="90000"/>
              </a:lnSpc>
              <a:spcBef>
                <a:spcPts val="500"/>
              </a:spcBef>
              <a:spcAft>
                <a:spcPts val="0"/>
              </a:spcAft>
              <a:buSzPts val="2400"/>
              <a:buChar char="•"/>
            </a:pPr>
            <a:r>
              <a:rPr lang="es-AR" sz="2400"/>
              <a:t>Investigación de subsistemas necesarios para el desarrollo de robots de diferentes tipos de robots y su integración a un sistema operativo.</a:t>
            </a:r>
            <a:endParaRPr sz="2400"/>
          </a:p>
          <a:p>
            <a:pPr indent="-381000" lvl="0" marL="457200" rtl="0" algn="l">
              <a:lnSpc>
                <a:spcPct val="90000"/>
              </a:lnSpc>
              <a:spcBef>
                <a:spcPts val="0"/>
              </a:spcBef>
              <a:spcAft>
                <a:spcPts val="0"/>
              </a:spcAft>
              <a:buSzPts val="2400"/>
              <a:buChar char="•"/>
            </a:pPr>
            <a:r>
              <a:rPr lang="es-AR" sz="2400"/>
              <a:t>Instalación y evaluación de un sistema para robots.</a:t>
            </a:r>
            <a:endParaRPr sz="2400"/>
          </a:p>
          <a:p>
            <a:pPr indent="0" lvl="0" marL="0" rtl="0" algn="l">
              <a:lnSpc>
                <a:spcPct val="90000"/>
              </a:lnSpc>
              <a:spcBef>
                <a:spcPts val="500"/>
              </a:spcBef>
              <a:spcAft>
                <a:spcPts val="0"/>
              </a:spcAft>
              <a:buNone/>
            </a:pPr>
            <a:r>
              <a:t/>
            </a:r>
            <a:endParaRPr sz="2000"/>
          </a:p>
          <a:p>
            <a:pPr indent="0" lvl="0" marL="0" rtl="0" algn="l">
              <a:lnSpc>
                <a:spcPct val="90000"/>
              </a:lnSpc>
              <a:spcBef>
                <a:spcPts val="500"/>
              </a:spcBef>
              <a:spcAft>
                <a:spcPts val="0"/>
              </a:spcAft>
              <a:buNone/>
            </a:pPr>
            <a:r>
              <a:t/>
            </a:r>
            <a:endParaRPr sz="2000"/>
          </a:p>
        </p:txBody>
      </p:sp>
      <p:pic>
        <p:nvPicPr>
          <p:cNvPr id="143" name="Google Shape;143;g27aff740336_0_0"/>
          <p:cNvPicPr preferRelativeResize="0"/>
          <p:nvPr/>
        </p:nvPicPr>
        <p:blipFill rotWithShape="1">
          <a:blip r:embed="rId3">
            <a:alphaModFix/>
          </a:blip>
          <a:srcRect b="0" l="16047" r="16040" t="0"/>
          <a:stretch/>
        </p:blipFill>
        <p:spPr>
          <a:xfrm>
            <a:off x="0" y="10"/>
            <a:ext cx="4727204" cy="6960870"/>
          </a:xfrm>
          <a:custGeom>
            <a:rect b="b" l="l" r="r" t="t"/>
            <a:pathLst>
              <a:path extrusionOk="0" h="6858000" w="4657344">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a:noFill/>
          <a:ln>
            <a:noFill/>
          </a:ln>
          <a:effectLst>
            <a:outerShdw blurRad="57150" rotWithShape="0" algn="bl" dir="5400000" dist="19050">
              <a:srgbClr val="000000">
                <a:alpha val="50000"/>
              </a:srgbClr>
            </a:outerShdw>
          </a:effectLst>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47" name="Shape 147"/>
        <p:cNvGrpSpPr/>
        <p:nvPr/>
      </p:nvGrpSpPr>
      <p:grpSpPr>
        <a:xfrm>
          <a:off x="0" y="0"/>
          <a:ext cx="0" cy="0"/>
          <a:chOff x="0" y="0"/>
          <a:chExt cx="0" cy="0"/>
        </a:xfrm>
      </p:grpSpPr>
      <p:sp>
        <p:nvSpPr>
          <p:cNvPr id="148" name="Google Shape;148;g27aff740336_0_9"/>
          <p:cNvSpPr/>
          <p:nvPr/>
        </p:nvSpPr>
        <p:spPr>
          <a:xfrm>
            <a:off x="0" y="0"/>
            <a:ext cx="12189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49" name="Google Shape;149;g27aff740336_0_9"/>
          <p:cNvSpPr txBox="1"/>
          <p:nvPr>
            <p:ph type="title"/>
          </p:nvPr>
        </p:nvSpPr>
        <p:spPr>
          <a:xfrm>
            <a:off x="4727200" y="329175"/>
            <a:ext cx="7386000" cy="1033800"/>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dk1"/>
              </a:buClr>
              <a:buSzPct val="25581"/>
              <a:buFont typeface="Arial"/>
              <a:buNone/>
            </a:pPr>
            <a:r>
              <a:rPr b="1" lang="es-AR" sz="4300"/>
              <a:t>STR - RA2. Sistemas de Locomoción</a:t>
            </a:r>
            <a:endParaRPr b="1" sz="4300"/>
          </a:p>
        </p:txBody>
      </p:sp>
      <p:sp>
        <p:nvSpPr>
          <p:cNvPr id="150" name="Google Shape;150;g27aff740336_0_9"/>
          <p:cNvSpPr/>
          <p:nvPr/>
        </p:nvSpPr>
        <p:spPr>
          <a:xfrm>
            <a:off x="5226837" y="1539060"/>
            <a:ext cx="4243589" cy="18288"/>
          </a:xfrm>
          <a:custGeom>
            <a:rect b="b" l="l" r="r" t="t"/>
            <a:pathLst>
              <a:path extrusionOk="0" fill="none" h="18288" w="4243589">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extrusionOk="0" h="18288" w="4243589">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cap="rnd" cmpd="sng" w="4445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51" name="Google Shape;151;g27aff740336_0_9"/>
          <p:cNvSpPr txBox="1"/>
          <p:nvPr>
            <p:ph idx="1" type="body"/>
          </p:nvPr>
        </p:nvSpPr>
        <p:spPr>
          <a:xfrm>
            <a:off x="4835725" y="1804775"/>
            <a:ext cx="7145400" cy="48996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500"/>
              </a:spcBef>
              <a:spcAft>
                <a:spcPts val="0"/>
              </a:spcAft>
              <a:buNone/>
            </a:pPr>
            <a:r>
              <a:rPr lang="es-AR" sz="2400"/>
              <a:t>La locomoción es una tarea crucial y desafiante para un robot. El trabajo consiste en la implementación de un sistema de locomoción que le permita a un robot navegar en su entorno de forma relativamente precisa.</a:t>
            </a:r>
            <a:endParaRPr sz="2400"/>
          </a:p>
          <a:p>
            <a:pPr indent="0" lvl="0" marL="0" rtl="0" algn="l">
              <a:lnSpc>
                <a:spcPct val="90000"/>
              </a:lnSpc>
              <a:spcBef>
                <a:spcPts val="500"/>
              </a:spcBef>
              <a:spcAft>
                <a:spcPts val="0"/>
              </a:spcAft>
              <a:buNone/>
            </a:pPr>
            <a:r>
              <a:t/>
            </a:r>
            <a:endParaRPr sz="2400"/>
          </a:p>
          <a:p>
            <a:pPr indent="0" lvl="0" marL="0" rtl="0" algn="l">
              <a:lnSpc>
                <a:spcPct val="90000"/>
              </a:lnSpc>
              <a:spcBef>
                <a:spcPts val="500"/>
              </a:spcBef>
              <a:spcAft>
                <a:spcPts val="0"/>
              </a:spcAft>
              <a:buNone/>
            </a:pPr>
            <a:r>
              <a:t/>
            </a:r>
            <a:endParaRPr sz="2400"/>
          </a:p>
          <a:p>
            <a:pPr indent="-381000" lvl="0" marL="457200" rtl="0" algn="l">
              <a:lnSpc>
                <a:spcPct val="90000"/>
              </a:lnSpc>
              <a:spcBef>
                <a:spcPts val="500"/>
              </a:spcBef>
              <a:spcAft>
                <a:spcPts val="0"/>
              </a:spcAft>
              <a:buSzPts val="2400"/>
              <a:buChar char="•"/>
            </a:pPr>
            <a:r>
              <a:rPr lang="es-AR" sz="2400"/>
              <a:t>Implementación de un subsistema de locomoción integrado a un sistema operativo.</a:t>
            </a:r>
            <a:endParaRPr sz="2400"/>
          </a:p>
          <a:p>
            <a:pPr indent="0" lvl="0" marL="457200" rtl="0" algn="l">
              <a:lnSpc>
                <a:spcPct val="90000"/>
              </a:lnSpc>
              <a:spcBef>
                <a:spcPts val="500"/>
              </a:spcBef>
              <a:spcAft>
                <a:spcPts val="0"/>
              </a:spcAft>
              <a:buNone/>
            </a:pPr>
            <a:r>
              <a:t/>
            </a:r>
            <a:endParaRPr sz="2400"/>
          </a:p>
          <a:p>
            <a:pPr indent="-381000" lvl="0" marL="457200" rtl="0" algn="l">
              <a:lnSpc>
                <a:spcPct val="90000"/>
              </a:lnSpc>
              <a:spcBef>
                <a:spcPts val="500"/>
              </a:spcBef>
              <a:spcAft>
                <a:spcPts val="0"/>
              </a:spcAft>
              <a:buSzPts val="2400"/>
              <a:buChar char="•"/>
            </a:pPr>
            <a:r>
              <a:rPr lang="es-AR" sz="2400"/>
              <a:t>Implementación de subsistema de locomoción en un microcontrolador que integre una o varias interfaces de control.</a:t>
            </a:r>
            <a:endParaRPr sz="2400"/>
          </a:p>
          <a:p>
            <a:pPr indent="0" lvl="0" marL="0" rtl="0" algn="l">
              <a:lnSpc>
                <a:spcPct val="90000"/>
              </a:lnSpc>
              <a:spcBef>
                <a:spcPts val="500"/>
              </a:spcBef>
              <a:spcAft>
                <a:spcPts val="0"/>
              </a:spcAft>
              <a:buNone/>
            </a:pPr>
            <a:r>
              <a:t/>
            </a:r>
            <a:endParaRPr sz="2000"/>
          </a:p>
        </p:txBody>
      </p:sp>
      <p:pic>
        <p:nvPicPr>
          <p:cNvPr id="152" name="Google Shape;152;g27aff740336_0_9"/>
          <p:cNvPicPr preferRelativeResize="0"/>
          <p:nvPr/>
        </p:nvPicPr>
        <p:blipFill rotWithShape="1">
          <a:blip r:embed="rId3">
            <a:alphaModFix/>
          </a:blip>
          <a:srcRect b="0" l="24533" r="24533" t="0"/>
          <a:stretch/>
        </p:blipFill>
        <p:spPr>
          <a:xfrm>
            <a:off x="0" y="10"/>
            <a:ext cx="4331330" cy="6412230"/>
          </a:xfrm>
          <a:custGeom>
            <a:rect b="b" l="l" r="r" t="t"/>
            <a:pathLst>
              <a:path extrusionOk="0" h="6858000" w="4657344">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a:noFill/>
          <a:ln>
            <a:noFill/>
          </a:ln>
          <a:effectLst>
            <a:outerShdw blurRad="57150" rotWithShape="0" algn="bl" dir="5400000" dist="19050">
              <a:srgbClr val="000000">
                <a:alpha val="50000"/>
              </a:srgbClr>
            </a:outerShdw>
          </a:effectLst>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56" name="Shape 156"/>
        <p:cNvGrpSpPr/>
        <p:nvPr/>
      </p:nvGrpSpPr>
      <p:grpSpPr>
        <a:xfrm>
          <a:off x="0" y="0"/>
          <a:ext cx="0" cy="0"/>
          <a:chOff x="0" y="0"/>
          <a:chExt cx="0" cy="0"/>
        </a:xfrm>
      </p:grpSpPr>
      <p:sp>
        <p:nvSpPr>
          <p:cNvPr id="157" name="Google Shape;157;g27aff740336_0_18"/>
          <p:cNvSpPr/>
          <p:nvPr/>
        </p:nvSpPr>
        <p:spPr>
          <a:xfrm>
            <a:off x="0" y="0"/>
            <a:ext cx="12189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58" name="Google Shape;158;g27aff740336_0_18"/>
          <p:cNvSpPr txBox="1"/>
          <p:nvPr>
            <p:ph type="title"/>
          </p:nvPr>
        </p:nvSpPr>
        <p:spPr>
          <a:xfrm>
            <a:off x="4727200" y="329175"/>
            <a:ext cx="7386000" cy="1033800"/>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dk1"/>
              </a:buClr>
              <a:buSzPct val="25581"/>
              <a:buFont typeface="Arial"/>
              <a:buNone/>
            </a:pPr>
            <a:r>
              <a:rPr b="1" lang="es-AR" sz="4300"/>
              <a:t>STR - RA3. Sistemas de Percepción</a:t>
            </a:r>
            <a:endParaRPr b="1" sz="4300"/>
          </a:p>
        </p:txBody>
      </p:sp>
      <p:sp>
        <p:nvSpPr>
          <p:cNvPr id="159" name="Google Shape;159;g27aff740336_0_18"/>
          <p:cNvSpPr/>
          <p:nvPr/>
        </p:nvSpPr>
        <p:spPr>
          <a:xfrm>
            <a:off x="5226837" y="1539060"/>
            <a:ext cx="4243589" cy="18288"/>
          </a:xfrm>
          <a:custGeom>
            <a:rect b="b" l="l" r="r" t="t"/>
            <a:pathLst>
              <a:path extrusionOk="0" fill="none" h="18288" w="4243589">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extrusionOk="0" h="18288" w="4243589">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cap="rnd" cmpd="sng" w="4445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60" name="Google Shape;160;g27aff740336_0_18"/>
          <p:cNvSpPr txBox="1"/>
          <p:nvPr>
            <p:ph idx="1" type="body"/>
          </p:nvPr>
        </p:nvSpPr>
        <p:spPr>
          <a:xfrm>
            <a:off x="4835725" y="1804775"/>
            <a:ext cx="7145400" cy="48996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500"/>
              </a:spcBef>
              <a:spcAft>
                <a:spcPts val="0"/>
              </a:spcAft>
              <a:buNone/>
            </a:pPr>
            <a:r>
              <a:rPr lang="es-AR" sz="2400"/>
              <a:t>Los sistemas de percepción son el equivalente robótico de nuestros sentidos, permitiendo a las máquinas captar información del mundo que las rodea, interpretarla y tomar decisiones en función de esa información. Estos sistemas son cruciales para la navegación de los robots autónomos.</a:t>
            </a:r>
            <a:endParaRPr sz="2400"/>
          </a:p>
          <a:p>
            <a:pPr indent="0" lvl="0" marL="0" rtl="0" algn="l">
              <a:lnSpc>
                <a:spcPct val="90000"/>
              </a:lnSpc>
              <a:spcBef>
                <a:spcPts val="500"/>
              </a:spcBef>
              <a:spcAft>
                <a:spcPts val="0"/>
              </a:spcAft>
              <a:buNone/>
            </a:pPr>
            <a:r>
              <a:t/>
            </a:r>
            <a:endParaRPr sz="2400"/>
          </a:p>
          <a:p>
            <a:pPr indent="0" lvl="0" marL="0" rtl="0" algn="l">
              <a:lnSpc>
                <a:spcPct val="90000"/>
              </a:lnSpc>
              <a:spcBef>
                <a:spcPts val="500"/>
              </a:spcBef>
              <a:spcAft>
                <a:spcPts val="0"/>
              </a:spcAft>
              <a:buNone/>
            </a:pPr>
            <a:r>
              <a:t/>
            </a:r>
            <a:endParaRPr sz="2400"/>
          </a:p>
          <a:p>
            <a:pPr indent="-381000" lvl="0" marL="457200" rtl="0" algn="l">
              <a:lnSpc>
                <a:spcPct val="90000"/>
              </a:lnSpc>
              <a:spcBef>
                <a:spcPts val="500"/>
              </a:spcBef>
              <a:spcAft>
                <a:spcPts val="0"/>
              </a:spcAft>
              <a:buSzPts val="2400"/>
              <a:buChar char="•"/>
            </a:pPr>
            <a:r>
              <a:rPr lang="es-AR" sz="2400"/>
              <a:t>Implementación de un subsistema de percepción integrado a un sistema operativo.</a:t>
            </a:r>
            <a:endParaRPr sz="2400"/>
          </a:p>
          <a:p>
            <a:pPr indent="0" lvl="0" marL="457200" rtl="0" algn="l">
              <a:lnSpc>
                <a:spcPct val="90000"/>
              </a:lnSpc>
              <a:spcBef>
                <a:spcPts val="500"/>
              </a:spcBef>
              <a:spcAft>
                <a:spcPts val="0"/>
              </a:spcAft>
              <a:buNone/>
            </a:pPr>
            <a:r>
              <a:t/>
            </a:r>
            <a:endParaRPr sz="2400"/>
          </a:p>
          <a:p>
            <a:pPr indent="-381000" lvl="0" marL="457200" rtl="0" algn="l">
              <a:lnSpc>
                <a:spcPct val="90000"/>
              </a:lnSpc>
              <a:spcBef>
                <a:spcPts val="500"/>
              </a:spcBef>
              <a:spcAft>
                <a:spcPts val="0"/>
              </a:spcAft>
              <a:buSzPts val="2400"/>
              <a:buChar char="•"/>
            </a:pPr>
            <a:r>
              <a:rPr lang="es-AR" sz="2400"/>
              <a:t>Implementación de subsistema de percepción en un microcontrolador que integre una o varias interfaces de control.</a:t>
            </a:r>
            <a:endParaRPr sz="2400"/>
          </a:p>
          <a:p>
            <a:pPr indent="0" lvl="0" marL="0" rtl="0" algn="l">
              <a:lnSpc>
                <a:spcPct val="90000"/>
              </a:lnSpc>
              <a:spcBef>
                <a:spcPts val="500"/>
              </a:spcBef>
              <a:spcAft>
                <a:spcPts val="0"/>
              </a:spcAft>
              <a:buNone/>
            </a:pPr>
            <a:r>
              <a:t/>
            </a:r>
            <a:endParaRPr sz="2000"/>
          </a:p>
        </p:txBody>
      </p:sp>
      <p:pic>
        <p:nvPicPr>
          <p:cNvPr id="161" name="Google Shape;161;g27aff740336_0_18"/>
          <p:cNvPicPr preferRelativeResize="0"/>
          <p:nvPr/>
        </p:nvPicPr>
        <p:blipFill rotWithShape="1">
          <a:blip r:embed="rId3">
            <a:alphaModFix/>
          </a:blip>
          <a:srcRect b="0" l="31212" r="31212" t="0"/>
          <a:stretch/>
        </p:blipFill>
        <p:spPr>
          <a:xfrm>
            <a:off x="0" y="10"/>
            <a:ext cx="4331330" cy="6412230"/>
          </a:xfrm>
          <a:custGeom>
            <a:rect b="b" l="l" r="r" t="t"/>
            <a:pathLst>
              <a:path extrusionOk="0" h="6858000" w="4657344">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a:noFill/>
          <a:ln>
            <a:noFill/>
          </a:ln>
          <a:effectLst>
            <a:outerShdw blurRad="57150" rotWithShape="0" algn="bl" dir="5400000" dist="19050">
              <a:srgbClr val="000000">
                <a:alpha val="50000"/>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5" name="Shape 165"/>
        <p:cNvGrpSpPr/>
        <p:nvPr/>
      </p:nvGrpSpPr>
      <p:grpSpPr>
        <a:xfrm>
          <a:off x="0" y="0"/>
          <a:ext cx="0" cy="0"/>
          <a:chOff x="0" y="0"/>
          <a:chExt cx="0" cy="0"/>
        </a:xfrm>
      </p:grpSpPr>
      <p:sp>
        <p:nvSpPr>
          <p:cNvPr id="166" name="Google Shape;166;g27aff740336_0_27"/>
          <p:cNvSpPr/>
          <p:nvPr/>
        </p:nvSpPr>
        <p:spPr>
          <a:xfrm>
            <a:off x="0" y="0"/>
            <a:ext cx="12189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67" name="Google Shape;167;g27aff740336_0_27"/>
          <p:cNvSpPr txBox="1"/>
          <p:nvPr>
            <p:ph type="title"/>
          </p:nvPr>
        </p:nvSpPr>
        <p:spPr>
          <a:xfrm>
            <a:off x="4077500" y="329175"/>
            <a:ext cx="8035800" cy="1033800"/>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dk1"/>
              </a:buClr>
              <a:buSzPct val="25581"/>
              <a:buFont typeface="Arial"/>
              <a:buNone/>
            </a:pPr>
            <a:r>
              <a:rPr b="1" lang="es-AR" sz="4300"/>
              <a:t>STR - RA4. Planificación de Trayectoria</a:t>
            </a:r>
            <a:endParaRPr b="1" sz="4300"/>
          </a:p>
        </p:txBody>
      </p:sp>
      <p:sp>
        <p:nvSpPr>
          <p:cNvPr id="168" name="Google Shape;168;g27aff740336_0_27"/>
          <p:cNvSpPr/>
          <p:nvPr/>
        </p:nvSpPr>
        <p:spPr>
          <a:xfrm>
            <a:off x="5226837" y="1539060"/>
            <a:ext cx="4243589" cy="18288"/>
          </a:xfrm>
          <a:custGeom>
            <a:rect b="b" l="l" r="r" t="t"/>
            <a:pathLst>
              <a:path extrusionOk="0" fill="none" h="18288" w="4243589">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extrusionOk="0" h="18288" w="4243589">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cap="rnd" cmpd="sng" w="4445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69" name="Google Shape;169;g27aff740336_0_27"/>
          <p:cNvSpPr txBox="1"/>
          <p:nvPr>
            <p:ph idx="1" type="body"/>
          </p:nvPr>
        </p:nvSpPr>
        <p:spPr>
          <a:xfrm>
            <a:off x="4835725" y="1804775"/>
            <a:ext cx="7145400" cy="4899600"/>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500"/>
              </a:spcBef>
              <a:spcAft>
                <a:spcPts val="0"/>
              </a:spcAft>
              <a:buNone/>
            </a:pPr>
            <a:r>
              <a:rPr lang="es-AR" sz="2400"/>
              <a:t>La planificación de trayectoria es un componente esencial en la robótica y la navegación autónoma. Se refiere al proceso mediante el cual un robot o un sistema autónomo determina una secuencia de movimientos o acciones necesarios para llegar desde su ubicación actual a un destino o punto objetivo en su entorno de manera segura y eficiente.</a:t>
            </a:r>
            <a:endParaRPr sz="2400"/>
          </a:p>
          <a:p>
            <a:pPr indent="0" lvl="0" marL="0" rtl="0" algn="l">
              <a:lnSpc>
                <a:spcPct val="90000"/>
              </a:lnSpc>
              <a:spcBef>
                <a:spcPts val="500"/>
              </a:spcBef>
              <a:spcAft>
                <a:spcPts val="0"/>
              </a:spcAft>
              <a:buNone/>
            </a:pPr>
            <a:r>
              <a:t/>
            </a:r>
            <a:endParaRPr sz="2400"/>
          </a:p>
          <a:p>
            <a:pPr indent="-381000" lvl="0" marL="457200" rtl="0" algn="l">
              <a:lnSpc>
                <a:spcPct val="90000"/>
              </a:lnSpc>
              <a:spcBef>
                <a:spcPts val="500"/>
              </a:spcBef>
              <a:spcAft>
                <a:spcPts val="0"/>
              </a:spcAft>
              <a:buSzPts val="2400"/>
              <a:buChar char="•"/>
            </a:pPr>
            <a:r>
              <a:rPr lang="es-AR" sz="2400"/>
              <a:t>Implementación de un sistema de planificación de trayectoria en un microcontrolador que permita moverse de forma autónoma.</a:t>
            </a:r>
            <a:endParaRPr sz="2400"/>
          </a:p>
          <a:p>
            <a:pPr indent="0" lvl="0" marL="0" rtl="0" algn="l">
              <a:lnSpc>
                <a:spcPct val="90000"/>
              </a:lnSpc>
              <a:spcBef>
                <a:spcPts val="500"/>
              </a:spcBef>
              <a:spcAft>
                <a:spcPts val="0"/>
              </a:spcAft>
              <a:buNone/>
            </a:pPr>
            <a:r>
              <a:t/>
            </a:r>
            <a:endParaRPr sz="2000"/>
          </a:p>
        </p:txBody>
      </p:sp>
      <p:pic>
        <p:nvPicPr>
          <p:cNvPr id="170" name="Google Shape;170;g27aff740336_0_27"/>
          <p:cNvPicPr preferRelativeResize="0"/>
          <p:nvPr/>
        </p:nvPicPr>
        <p:blipFill rotWithShape="1">
          <a:blip r:embed="rId3">
            <a:alphaModFix/>
          </a:blip>
          <a:srcRect b="0" l="22707" r="22707" t="0"/>
          <a:stretch/>
        </p:blipFill>
        <p:spPr>
          <a:xfrm>
            <a:off x="0" y="10"/>
            <a:ext cx="4331330" cy="6412230"/>
          </a:xfrm>
          <a:custGeom>
            <a:rect b="b" l="l" r="r" t="t"/>
            <a:pathLst>
              <a:path extrusionOk="0" h="6858000" w="4657344">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a:noFill/>
          <a:ln>
            <a:noFill/>
          </a:ln>
          <a:effectLst>
            <a:outerShdw blurRad="57150" rotWithShape="0" algn="bl" dir="5400000" dist="19050">
              <a:srgbClr val="000000">
                <a:alpha val="50000"/>
              </a:srgb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74" name="Shape 174"/>
        <p:cNvGrpSpPr/>
        <p:nvPr/>
      </p:nvGrpSpPr>
      <p:grpSpPr>
        <a:xfrm>
          <a:off x="0" y="0"/>
          <a:ext cx="0" cy="0"/>
          <a:chOff x="0" y="0"/>
          <a:chExt cx="0" cy="0"/>
        </a:xfrm>
      </p:grpSpPr>
      <p:sp>
        <p:nvSpPr>
          <p:cNvPr id="175" name="Google Shape;175;p3"/>
          <p:cNvSpPr/>
          <p:nvPr/>
        </p:nvSpPr>
        <p:spPr>
          <a:xfrm>
            <a:off x="0"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76" name="Google Shape;176;p3"/>
          <p:cNvSpPr txBox="1"/>
          <p:nvPr>
            <p:ph type="title"/>
          </p:nvPr>
        </p:nvSpPr>
        <p:spPr>
          <a:xfrm>
            <a:off x="5297762" y="329184"/>
            <a:ext cx="6251110" cy="178308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5400"/>
              <a:buFont typeface="Calibri"/>
              <a:buNone/>
            </a:pPr>
            <a:r>
              <a:rPr lang="es-AR" sz="5400"/>
              <a:t>Temas para Proyectos</a:t>
            </a:r>
            <a:endParaRPr/>
          </a:p>
        </p:txBody>
      </p:sp>
      <p:pic>
        <p:nvPicPr>
          <p:cNvPr id="177" name="Google Shape;177;p3"/>
          <p:cNvPicPr preferRelativeResize="0"/>
          <p:nvPr/>
        </p:nvPicPr>
        <p:blipFill rotWithShape="1">
          <a:blip r:embed="rId3">
            <a:alphaModFix/>
          </a:blip>
          <a:srcRect b="0" l="45619" r="15788" t="0"/>
          <a:stretch/>
        </p:blipFill>
        <p:spPr>
          <a:xfrm>
            <a:off x="0" y="10"/>
            <a:ext cx="4657344" cy="6857990"/>
          </a:xfrm>
          <a:custGeom>
            <a:rect b="b" l="l" r="r" t="t"/>
            <a:pathLst>
              <a:path extrusionOk="0" h="6858000" w="4657344">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a:noFill/>
          <a:ln>
            <a:noFill/>
          </a:ln>
        </p:spPr>
      </p:pic>
      <p:sp>
        <p:nvSpPr>
          <p:cNvPr id="178" name="Google Shape;178;p3"/>
          <p:cNvSpPr/>
          <p:nvPr/>
        </p:nvSpPr>
        <p:spPr>
          <a:xfrm>
            <a:off x="5297762" y="2374947"/>
            <a:ext cx="4243589" cy="18288"/>
          </a:xfrm>
          <a:custGeom>
            <a:rect b="b" l="l" r="r" t="t"/>
            <a:pathLst>
              <a:path extrusionOk="0" fill="none" h="18288" w="4243589">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extrusionOk="0" h="18288" w="4243589">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cap="rnd" cmpd="sng" w="4445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79" name="Google Shape;179;p3"/>
          <p:cNvSpPr txBox="1"/>
          <p:nvPr>
            <p:ph idx="1" type="body"/>
          </p:nvPr>
        </p:nvSpPr>
        <p:spPr>
          <a:xfrm>
            <a:off x="5297762" y="2706624"/>
            <a:ext cx="6251110" cy="3483864"/>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000"/>
              <a:buNone/>
            </a:pPr>
            <a:r>
              <a:rPr b="1" lang="es-AR"/>
              <a:t>Tiempo Real</a:t>
            </a:r>
            <a:r>
              <a:rPr b="1" lang="es-AR"/>
              <a:t> para Embebidos</a:t>
            </a:r>
            <a:endParaRPr b="1"/>
          </a:p>
          <a:p>
            <a:pPr indent="-228282" lvl="1" marL="685800" rtl="0" algn="l">
              <a:lnSpc>
                <a:spcPct val="90000"/>
              </a:lnSpc>
              <a:spcBef>
                <a:spcPts val="500"/>
              </a:spcBef>
              <a:spcAft>
                <a:spcPts val="0"/>
              </a:spcAft>
              <a:buClr>
                <a:schemeClr val="dk1"/>
              </a:buClr>
              <a:buSzPts val="2400"/>
              <a:buChar char="•"/>
            </a:pPr>
            <a:r>
              <a:rPr lang="es-AR"/>
              <a:t>Temas relacionados con Aprendizaje Automático aplicados a dispositivos embebidos o microcontroladores.</a:t>
            </a:r>
            <a:endParaRPr sz="2200"/>
          </a:p>
          <a:p>
            <a:pPr indent="-228282" lvl="1" marL="685800" rtl="0" algn="l">
              <a:lnSpc>
                <a:spcPct val="90000"/>
              </a:lnSpc>
              <a:spcBef>
                <a:spcPts val="500"/>
              </a:spcBef>
              <a:spcAft>
                <a:spcPts val="0"/>
              </a:spcAft>
              <a:buClr>
                <a:schemeClr val="dk1"/>
              </a:buClr>
              <a:buSzPts val="2400"/>
              <a:buChar char="•"/>
            </a:pPr>
            <a:r>
              <a:rPr lang="es-AR"/>
              <a:t>Algoritmos tradicionales o de Aprendizaje Automático aplicados a:</a:t>
            </a:r>
            <a:endParaRPr sz="2200"/>
          </a:p>
          <a:p>
            <a:pPr indent="-266700" lvl="2" marL="1143000" rtl="0" algn="l">
              <a:lnSpc>
                <a:spcPct val="90000"/>
              </a:lnSpc>
              <a:spcBef>
                <a:spcPts val="500"/>
              </a:spcBef>
              <a:spcAft>
                <a:spcPts val="0"/>
              </a:spcAft>
              <a:buClr>
                <a:schemeClr val="dk1"/>
              </a:buClr>
              <a:buSzPts val="2400"/>
              <a:buChar char="•"/>
            </a:pPr>
            <a:r>
              <a:rPr lang="es-AR" sz="2400"/>
              <a:t>Procesamiento de señales/audio</a:t>
            </a:r>
            <a:endParaRPr sz="1800"/>
          </a:p>
          <a:p>
            <a:pPr indent="-266700" lvl="2" marL="1143000" rtl="0" algn="l">
              <a:lnSpc>
                <a:spcPct val="90000"/>
              </a:lnSpc>
              <a:spcBef>
                <a:spcPts val="500"/>
              </a:spcBef>
              <a:spcAft>
                <a:spcPts val="0"/>
              </a:spcAft>
              <a:buClr>
                <a:schemeClr val="dk1"/>
              </a:buClr>
              <a:buSzPts val="2400"/>
              <a:buChar char="•"/>
            </a:pPr>
            <a:r>
              <a:rPr lang="es-AR" sz="2400"/>
              <a:t>Procesamiento de Imágenes/Video</a:t>
            </a:r>
            <a:endParaRPr sz="17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83" name="Shape 183"/>
        <p:cNvGrpSpPr/>
        <p:nvPr/>
      </p:nvGrpSpPr>
      <p:grpSpPr>
        <a:xfrm>
          <a:off x="0" y="0"/>
          <a:ext cx="0" cy="0"/>
          <a:chOff x="0" y="0"/>
          <a:chExt cx="0" cy="0"/>
        </a:xfrm>
      </p:grpSpPr>
      <p:sp>
        <p:nvSpPr>
          <p:cNvPr id="184" name="Google Shape;184;g27aff740336_0_46"/>
          <p:cNvSpPr/>
          <p:nvPr/>
        </p:nvSpPr>
        <p:spPr>
          <a:xfrm>
            <a:off x="0" y="0"/>
            <a:ext cx="12189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85" name="Google Shape;185;g27aff740336_0_46"/>
          <p:cNvSpPr txBox="1"/>
          <p:nvPr>
            <p:ph type="title"/>
          </p:nvPr>
        </p:nvSpPr>
        <p:spPr>
          <a:xfrm>
            <a:off x="4077500" y="329175"/>
            <a:ext cx="8035800" cy="1033800"/>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dk1"/>
              </a:buClr>
              <a:buSzPct val="25581"/>
              <a:buFont typeface="Arial"/>
              <a:buNone/>
            </a:pPr>
            <a:r>
              <a:rPr b="1" lang="es-AR" sz="4300"/>
              <a:t>STR - IA1. Aprendizaje Automático Embebido</a:t>
            </a:r>
            <a:endParaRPr b="1" sz="4300"/>
          </a:p>
        </p:txBody>
      </p:sp>
      <p:sp>
        <p:nvSpPr>
          <p:cNvPr id="186" name="Google Shape;186;g27aff740336_0_46"/>
          <p:cNvSpPr/>
          <p:nvPr/>
        </p:nvSpPr>
        <p:spPr>
          <a:xfrm>
            <a:off x="5226837" y="1539060"/>
            <a:ext cx="4243589" cy="18288"/>
          </a:xfrm>
          <a:custGeom>
            <a:rect b="b" l="l" r="r" t="t"/>
            <a:pathLst>
              <a:path extrusionOk="0" fill="none" h="18288" w="4243589">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extrusionOk="0" h="18288" w="4243589">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cap="rnd" cmpd="sng" w="4445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87" name="Google Shape;187;g27aff740336_0_46"/>
          <p:cNvSpPr txBox="1"/>
          <p:nvPr>
            <p:ph idx="1" type="body"/>
          </p:nvPr>
        </p:nvSpPr>
        <p:spPr>
          <a:xfrm>
            <a:off x="4835725" y="1804775"/>
            <a:ext cx="7145400" cy="4899600"/>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500"/>
              </a:spcBef>
              <a:spcAft>
                <a:spcPts val="0"/>
              </a:spcAft>
              <a:buNone/>
            </a:pPr>
            <a:r>
              <a:rPr lang="es-AR" sz="2400"/>
              <a:t>En la era actual de la informática, la demanda de aplicaciones en tiempo real que aprovechan el poder del aprendizaje automático (Machine Learning) ha aumentado significativamente. La implementación de estas aplicaciones en sistemas embebidos o microcontroladores plantea desafíos únicos debido a los recursos limitados de memoria y procesamiento.</a:t>
            </a:r>
            <a:endParaRPr sz="2400"/>
          </a:p>
          <a:p>
            <a:pPr indent="0" lvl="0" marL="0" rtl="0" algn="l">
              <a:lnSpc>
                <a:spcPct val="90000"/>
              </a:lnSpc>
              <a:spcBef>
                <a:spcPts val="500"/>
              </a:spcBef>
              <a:spcAft>
                <a:spcPts val="0"/>
              </a:spcAft>
              <a:buNone/>
            </a:pPr>
            <a:r>
              <a:t/>
            </a:r>
            <a:endParaRPr sz="2400"/>
          </a:p>
          <a:p>
            <a:pPr indent="-381000" lvl="0" marL="457200" rtl="0" algn="l">
              <a:lnSpc>
                <a:spcPct val="90000"/>
              </a:lnSpc>
              <a:spcBef>
                <a:spcPts val="500"/>
              </a:spcBef>
              <a:spcAft>
                <a:spcPts val="0"/>
              </a:spcAft>
              <a:buSzPts val="2400"/>
              <a:buChar char="•"/>
            </a:pPr>
            <a:r>
              <a:rPr lang="es-AR" sz="2400"/>
              <a:t>Elegir una aplicación de tiempo real y  aplicar una solución basada en aprendizaje automático</a:t>
            </a:r>
            <a:endParaRPr sz="2400"/>
          </a:p>
          <a:p>
            <a:pPr indent="0" lvl="0" marL="0" rtl="0" algn="l">
              <a:lnSpc>
                <a:spcPct val="90000"/>
              </a:lnSpc>
              <a:spcBef>
                <a:spcPts val="500"/>
              </a:spcBef>
              <a:spcAft>
                <a:spcPts val="0"/>
              </a:spcAft>
              <a:buNone/>
            </a:pPr>
            <a:r>
              <a:t/>
            </a:r>
            <a:endParaRPr sz="2000"/>
          </a:p>
        </p:txBody>
      </p:sp>
      <p:pic>
        <p:nvPicPr>
          <p:cNvPr id="188" name="Google Shape;188;g27aff740336_0_46"/>
          <p:cNvPicPr preferRelativeResize="0"/>
          <p:nvPr/>
        </p:nvPicPr>
        <p:blipFill rotWithShape="1">
          <a:blip r:embed="rId3">
            <a:alphaModFix/>
          </a:blip>
          <a:srcRect b="0" l="27483" r="27483" t="0"/>
          <a:stretch/>
        </p:blipFill>
        <p:spPr>
          <a:xfrm>
            <a:off x="0" y="10"/>
            <a:ext cx="4331330" cy="6412230"/>
          </a:xfrm>
          <a:custGeom>
            <a:rect b="b" l="l" r="r" t="t"/>
            <a:pathLst>
              <a:path extrusionOk="0" h="6858000" w="4657344">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a:noFill/>
          <a:ln>
            <a:noFill/>
          </a:ln>
          <a:effectLst>
            <a:outerShdw blurRad="57150" rotWithShape="0" algn="bl" dir="5400000" dist="19050">
              <a:srgbClr val="000000">
                <a:alpha val="50000"/>
              </a:srgbClr>
            </a:outerShdw>
          </a:effectLst>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92" name="Shape 192"/>
        <p:cNvGrpSpPr/>
        <p:nvPr/>
      </p:nvGrpSpPr>
      <p:grpSpPr>
        <a:xfrm>
          <a:off x="0" y="0"/>
          <a:ext cx="0" cy="0"/>
          <a:chOff x="0" y="0"/>
          <a:chExt cx="0" cy="0"/>
        </a:xfrm>
      </p:grpSpPr>
      <p:sp>
        <p:nvSpPr>
          <p:cNvPr id="193" name="Google Shape;193;g27aff740336_0_36"/>
          <p:cNvSpPr/>
          <p:nvPr/>
        </p:nvSpPr>
        <p:spPr>
          <a:xfrm>
            <a:off x="0" y="0"/>
            <a:ext cx="12189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94" name="Google Shape;194;g27aff740336_0_36"/>
          <p:cNvSpPr txBox="1"/>
          <p:nvPr>
            <p:ph type="title"/>
          </p:nvPr>
        </p:nvSpPr>
        <p:spPr>
          <a:xfrm>
            <a:off x="4077500" y="329175"/>
            <a:ext cx="8035800" cy="1033800"/>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dk1"/>
              </a:buClr>
              <a:buSzPct val="25581"/>
              <a:buFont typeface="Arial"/>
              <a:buNone/>
            </a:pPr>
            <a:r>
              <a:rPr b="1" lang="es-AR" sz="4300"/>
              <a:t>STR - IA2. </a:t>
            </a:r>
            <a:r>
              <a:rPr b="1" lang="es-AR" sz="4300"/>
              <a:t>Procesamiento de Señales</a:t>
            </a:r>
            <a:endParaRPr b="1" sz="4300"/>
          </a:p>
        </p:txBody>
      </p:sp>
      <p:sp>
        <p:nvSpPr>
          <p:cNvPr id="195" name="Google Shape;195;g27aff740336_0_36"/>
          <p:cNvSpPr/>
          <p:nvPr/>
        </p:nvSpPr>
        <p:spPr>
          <a:xfrm>
            <a:off x="5226837" y="1539060"/>
            <a:ext cx="4243589" cy="18288"/>
          </a:xfrm>
          <a:custGeom>
            <a:rect b="b" l="l" r="r" t="t"/>
            <a:pathLst>
              <a:path extrusionOk="0" fill="none" h="18288" w="4243589">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extrusionOk="0" h="18288" w="4243589">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cap="rnd" cmpd="sng" w="4445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96" name="Google Shape;196;g27aff740336_0_36"/>
          <p:cNvSpPr txBox="1"/>
          <p:nvPr>
            <p:ph idx="1" type="body"/>
          </p:nvPr>
        </p:nvSpPr>
        <p:spPr>
          <a:xfrm>
            <a:off x="4835725" y="1804775"/>
            <a:ext cx="7145400" cy="4899600"/>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500"/>
              </a:spcBef>
              <a:spcAft>
                <a:spcPts val="0"/>
              </a:spcAft>
              <a:buNone/>
            </a:pPr>
            <a:r>
              <a:rPr lang="es-AR" sz="2400"/>
              <a:t>El procesamiento de señales en sistemas embebidos implica la manipulación y análisis de señales analógicas o digitales en tiempo real. Estas señales pueden provenir de sensores, cámaras, micrófonos y una multitud de fuentes. </a:t>
            </a:r>
            <a:endParaRPr sz="2400"/>
          </a:p>
          <a:p>
            <a:pPr indent="0" lvl="0" marL="0" rtl="0" algn="just">
              <a:lnSpc>
                <a:spcPct val="90000"/>
              </a:lnSpc>
              <a:spcBef>
                <a:spcPts val="500"/>
              </a:spcBef>
              <a:spcAft>
                <a:spcPts val="0"/>
              </a:spcAft>
              <a:buNone/>
            </a:pPr>
            <a:r>
              <a:rPr lang="es-AR" sz="2400"/>
              <a:t>Pueden utilizarse algoritmos tradicionales o de aprendizaje automático para:</a:t>
            </a:r>
            <a:endParaRPr sz="2400"/>
          </a:p>
          <a:p>
            <a:pPr indent="0" lvl="0" marL="0" rtl="0" algn="l">
              <a:lnSpc>
                <a:spcPct val="90000"/>
              </a:lnSpc>
              <a:spcBef>
                <a:spcPts val="500"/>
              </a:spcBef>
              <a:spcAft>
                <a:spcPts val="0"/>
              </a:spcAft>
              <a:buNone/>
            </a:pPr>
            <a:r>
              <a:t/>
            </a:r>
            <a:endParaRPr sz="2400"/>
          </a:p>
          <a:p>
            <a:pPr indent="-381000" lvl="0" marL="457200" rtl="0" algn="l">
              <a:lnSpc>
                <a:spcPct val="90000"/>
              </a:lnSpc>
              <a:spcBef>
                <a:spcPts val="500"/>
              </a:spcBef>
              <a:spcAft>
                <a:spcPts val="0"/>
              </a:spcAft>
              <a:buSzPts val="2400"/>
              <a:buChar char="•"/>
            </a:pPr>
            <a:r>
              <a:rPr lang="es-AR" sz="2400"/>
              <a:t>Procesamiento de audio con microcontroladores</a:t>
            </a:r>
            <a:endParaRPr sz="2400"/>
          </a:p>
          <a:p>
            <a:pPr indent="-381000" lvl="0" marL="457200" rtl="0" algn="l">
              <a:lnSpc>
                <a:spcPct val="90000"/>
              </a:lnSpc>
              <a:spcBef>
                <a:spcPts val="0"/>
              </a:spcBef>
              <a:spcAft>
                <a:spcPts val="0"/>
              </a:spcAft>
              <a:buSzPts val="2400"/>
              <a:buChar char="•"/>
            </a:pPr>
            <a:r>
              <a:rPr lang="es-AR" sz="2400"/>
              <a:t>Reconocimiento de palabras</a:t>
            </a:r>
            <a:endParaRPr sz="2400"/>
          </a:p>
          <a:p>
            <a:pPr indent="-381000" lvl="0" marL="457200" rtl="0" algn="l">
              <a:lnSpc>
                <a:spcPct val="90000"/>
              </a:lnSpc>
              <a:spcBef>
                <a:spcPts val="0"/>
              </a:spcBef>
              <a:spcAft>
                <a:spcPts val="0"/>
              </a:spcAft>
              <a:buSzPts val="2400"/>
              <a:buChar char="•"/>
            </a:pPr>
            <a:r>
              <a:rPr lang="es-AR" sz="2400"/>
              <a:t>Clasificación de sonidos</a:t>
            </a:r>
            <a:endParaRPr sz="2400"/>
          </a:p>
          <a:p>
            <a:pPr indent="0" lvl="0" marL="0" rtl="0" algn="l">
              <a:lnSpc>
                <a:spcPct val="90000"/>
              </a:lnSpc>
              <a:spcBef>
                <a:spcPts val="500"/>
              </a:spcBef>
              <a:spcAft>
                <a:spcPts val="0"/>
              </a:spcAft>
              <a:buNone/>
            </a:pPr>
            <a:r>
              <a:t/>
            </a:r>
            <a:endParaRPr sz="2000"/>
          </a:p>
        </p:txBody>
      </p:sp>
      <p:pic>
        <p:nvPicPr>
          <p:cNvPr id="197" name="Google Shape;197;g27aff740336_0_36"/>
          <p:cNvPicPr preferRelativeResize="0"/>
          <p:nvPr/>
        </p:nvPicPr>
        <p:blipFill rotWithShape="1">
          <a:blip r:embed="rId3">
            <a:alphaModFix/>
          </a:blip>
          <a:srcRect b="0" l="17410" r="17404" t="0"/>
          <a:stretch/>
        </p:blipFill>
        <p:spPr>
          <a:xfrm>
            <a:off x="0" y="10"/>
            <a:ext cx="4331330" cy="6412230"/>
          </a:xfrm>
          <a:custGeom>
            <a:rect b="b" l="l" r="r" t="t"/>
            <a:pathLst>
              <a:path extrusionOk="0" h="6858000" w="4657344">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a:noFill/>
          <a:ln>
            <a:noFill/>
          </a:ln>
          <a:effectLst>
            <a:outerShdw blurRad="57150" rotWithShape="0" algn="bl" dir="5400000" dist="19050">
              <a:srgbClr val="000000">
                <a:alpha val="50000"/>
              </a:srgbClr>
            </a:outerShdw>
          </a:effectLst>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01" name="Shape 201"/>
        <p:cNvGrpSpPr/>
        <p:nvPr/>
      </p:nvGrpSpPr>
      <p:grpSpPr>
        <a:xfrm>
          <a:off x="0" y="0"/>
          <a:ext cx="0" cy="0"/>
          <a:chOff x="0" y="0"/>
          <a:chExt cx="0" cy="0"/>
        </a:xfrm>
      </p:grpSpPr>
      <p:sp>
        <p:nvSpPr>
          <p:cNvPr id="202" name="Google Shape;202;g27aff740336_0_56"/>
          <p:cNvSpPr/>
          <p:nvPr/>
        </p:nvSpPr>
        <p:spPr>
          <a:xfrm>
            <a:off x="0" y="0"/>
            <a:ext cx="12189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03" name="Google Shape;203;g27aff740336_0_56"/>
          <p:cNvSpPr txBox="1"/>
          <p:nvPr>
            <p:ph type="title"/>
          </p:nvPr>
        </p:nvSpPr>
        <p:spPr>
          <a:xfrm>
            <a:off x="4077500" y="329175"/>
            <a:ext cx="8035800" cy="1033800"/>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dk1"/>
              </a:buClr>
              <a:buSzPct val="25581"/>
              <a:buFont typeface="Arial"/>
              <a:buNone/>
            </a:pPr>
            <a:r>
              <a:rPr b="1" lang="es-AR" sz="4300"/>
              <a:t>STR - IA3. Procesamiento de imágenes</a:t>
            </a:r>
            <a:endParaRPr b="1" sz="4300"/>
          </a:p>
        </p:txBody>
      </p:sp>
      <p:sp>
        <p:nvSpPr>
          <p:cNvPr id="204" name="Google Shape;204;g27aff740336_0_56"/>
          <p:cNvSpPr/>
          <p:nvPr/>
        </p:nvSpPr>
        <p:spPr>
          <a:xfrm>
            <a:off x="5226837" y="1539060"/>
            <a:ext cx="4243589" cy="18288"/>
          </a:xfrm>
          <a:custGeom>
            <a:rect b="b" l="l" r="r" t="t"/>
            <a:pathLst>
              <a:path extrusionOk="0" fill="none" h="18288" w="4243589">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extrusionOk="0" h="18288" w="4243589">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cap="rnd" cmpd="sng" w="4445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05" name="Google Shape;205;g27aff740336_0_56"/>
          <p:cNvSpPr txBox="1"/>
          <p:nvPr>
            <p:ph idx="1" type="body"/>
          </p:nvPr>
        </p:nvSpPr>
        <p:spPr>
          <a:xfrm>
            <a:off x="4835725" y="1804775"/>
            <a:ext cx="7145400" cy="4899600"/>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500"/>
              </a:spcBef>
              <a:spcAft>
                <a:spcPts val="0"/>
              </a:spcAft>
              <a:buNone/>
            </a:pPr>
            <a:r>
              <a:rPr lang="es-AR" sz="2400"/>
              <a:t>El procesamiento de imágenes en sistemas embebidos implica la adquisición, análisis y manipulación de datos visuales en tiempo real. La capacidad de estos sistemas para comprender y extraer información valiosa de las imágenes es esencial en una variedad de aplicaciones.</a:t>
            </a:r>
            <a:endParaRPr sz="2400"/>
          </a:p>
          <a:p>
            <a:pPr indent="0" lvl="0" marL="0" rtl="0" algn="just">
              <a:spcBef>
                <a:spcPts val="500"/>
              </a:spcBef>
              <a:spcAft>
                <a:spcPts val="0"/>
              </a:spcAft>
              <a:buNone/>
            </a:pPr>
            <a:r>
              <a:rPr lang="es-AR" sz="2400"/>
              <a:t>Pueden utilizarse algoritmos tradicionales o de aprendizaje automático para:</a:t>
            </a:r>
            <a:endParaRPr sz="2400"/>
          </a:p>
          <a:p>
            <a:pPr indent="0" lvl="0" marL="0" rtl="0" algn="just">
              <a:spcBef>
                <a:spcPts val="500"/>
              </a:spcBef>
              <a:spcAft>
                <a:spcPts val="0"/>
              </a:spcAft>
              <a:buClr>
                <a:schemeClr val="dk1"/>
              </a:buClr>
              <a:buSzPts val="1100"/>
              <a:buFont typeface="Arial"/>
              <a:buNone/>
            </a:pPr>
            <a:r>
              <a:t/>
            </a:r>
            <a:endParaRPr sz="2400"/>
          </a:p>
          <a:p>
            <a:pPr indent="-381000" lvl="0" marL="457200" rtl="0" algn="l">
              <a:lnSpc>
                <a:spcPct val="90000"/>
              </a:lnSpc>
              <a:spcBef>
                <a:spcPts val="500"/>
              </a:spcBef>
              <a:spcAft>
                <a:spcPts val="0"/>
              </a:spcAft>
              <a:buSzPts val="2400"/>
              <a:buChar char="•"/>
            </a:pPr>
            <a:r>
              <a:rPr lang="es-AR" sz="2400"/>
              <a:t>Procesamiento de imágenes con microcontroladores</a:t>
            </a:r>
            <a:endParaRPr sz="2400"/>
          </a:p>
          <a:p>
            <a:pPr indent="-381000" lvl="0" marL="457200" rtl="0" algn="l">
              <a:lnSpc>
                <a:spcPct val="90000"/>
              </a:lnSpc>
              <a:spcBef>
                <a:spcPts val="0"/>
              </a:spcBef>
              <a:spcAft>
                <a:spcPts val="0"/>
              </a:spcAft>
              <a:buSzPts val="2400"/>
              <a:buChar char="•"/>
            </a:pPr>
            <a:r>
              <a:rPr lang="es-AR" sz="2400"/>
              <a:t>Reconocimiento o detección de objetos</a:t>
            </a:r>
            <a:endParaRPr sz="2400"/>
          </a:p>
          <a:p>
            <a:pPr indent="0" lvl="0" marL="457200" rtl="0" algn="l">
              <a:lnSpc>
                <a:spcPct val="90000"/>
              </a:lnSpc>
              <a:spcBef>
                <a:spcPts val="500"/>
              </a:spcBef>
              <a:spcAft>
                <a:spcPts val="0"/>
              </a:spcAft>
              <a:buNone/>
            </a:pPr>
            <a:r>
              <a:t/>
            </a:r>
            <a:endParaRPr sz="2400"/>
          </a:p>
          <a:p>
            <a:pPr indent="0" lvl="0" marL="0" rtl="0" algn="l">
              <a:lnSpc>
                <a:spcPct val="90000"/>
              </a:lnSpc>
              <a:spcBef>
                <a:spcPts val="500"/>
              </a:spcBef>
              <a:spcAft>
                <a:spcPts val="0"/>
              </a:spcAft>
              <a:buNone/>
            </a:pPr>
            <a:r>
              <a:t/>
            </a:r>
            <a:endParaRPr sz="2000"/>
          </a:p>
        </p:txBody>
      </p:sp>
      <p:pic>
        <p:nvPicPr>
          <p:cNvPr id="206" name="Google Shape;206;g27aff740336_0_56"/>
          <p:cNvPicPr preferRelativeResize="0"/>
          <p:nvPr/>
        </p:nvPicPr>
        <p:blipFill rotWithShape="1">
          <a:blip r:embed="rId3">
            <a:alphaModFix/>
          </a:blip>
          <a:srcRect b="0" l="16225" r="16225" t="0"/>
          <a:stretch/>
        </p:blipFill>
        <p:spPr>
          <a:xfrm>
            <a:off x="0" y="10"/>
            <a:ext cx="4331330" cy="6412230"/>
          </a:xfrm>
          <a:custGeom>
            <a:rect b="b" l="l" r="r" t="t"/>
            <a:pathLst>
              <a:path extrusionOk="0" h="6858000" w="4657344">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a:noFill/>
          <a:ln>
            <a:noFill/>
          </a:ln>
          <a:effectLst>
            <a:outerShdw blurRad="57150" rotWithShape="0" algn="bl" dir="5400000" dist="19050">
              <a:srgbClr val="000000">
                <a:alpha val="50000"/>
              </a:srgbClr>
            </a:outerShdw>
          </a:effectLst>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10" name="Shape 210"/>
        <p:cNvGrpSpPr/>
        <p:nvPr/>
      </p:nvGrpSpPr>
      <p:grpSpPr>
        <a:xfrm>
          <a:off x="0" y="0"/>
          <a:ext cx="0" cy="0"/>
          <a:chOff x="0" y="0"/>
          <a:chExt cx="0" cy="0"/>
        </a:xfrm>
      </p:grpSpPr>
      <p:sp>
        <p:nvSpPr>
          <p:cNvPr id="211" name="Google Shape;211;g27afbd3fb79_0_0"/>
          <p:cNvSpPr/>
          <p:nvPr/>
        </p:nvSpPr>
        <p:spPr>
          <a:xfrm>
            <a:off x="0" y="0"/>
            <a:ext cx="12189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12" name="Google Shape;212;g27afbd3fb79_0_0"/>
          <p:cNvSpPr txBox="1"/>
          <p:nvPr>
            <p:ph type="title"/>
          </p:nvPr>
        </p:nvSpPr>
        <p:spPr>
          <a:xfrm>
            <a:off x="4923400" y="329175"/>
            <a:ext cx="7189800" cy="17832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5400"/>
              <a:buFont typeface="Calibri"/>
              <a:buNone/>
            </a:pPr>
            <a:r>
              <a:rPr lang="es-AR" sz="7000"/>
              <a:t>Catálogo - </a:t>
            </a:r>
            <a:r>
              <a:rPr lang="es-AR" sz="4100"/>
              <a:t>(Alan Castelli) </a:t>
            </a:r>
            <a:endParaRPr sz="4100"/>
          </a:p>
        </p:txBody>
      </p:sp>
      <p:sp>
        <p:nvSpPr>
          <p:cNvPr id="213" name="Google Shape;213;g27afbd3fb79_0_0"/>
          <p:cNvSpPr/>
          <p:nvPr/>
        </p:nvSpPr>
        <p:spPr>
          <a:xfrm>
            <a:off x="5297762" y="2400360"/>
            <a:ext cx="4243589" cy="18288"/>
          </a:xfrm>
          <a:custGeom>
            <a:rect b="b" l="l" r="r" t="t"/>
            <a:pathLst>
              <a:path extrusionOk="0" fill="none" h="18288" w="4243589">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extrusionOk="0" h="18288" w="4243589">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cap="rnd" cmpd="sng" w="4445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14" name="Google Shape;214;g27afbd3fb79_0_0"/>
          <p:cNvSpPr txBox="1"/>
          <p:nvPr>
            <p:ph idx="1" type="body"/>
          </p:nvPr>
        </p:nvSpPr>
        <p:spPr>
          <a:xfrm>
            <a:off x="4845850" y="2706625"/>
            <a:ext cx="7145400" cy="3483900"/>
          </a:xfrm>
          <a:prstGeom prst="rect">
            <a:avLst/>
          </a:prstGeom>
          <a:noFill/>
          <a:ln>
            <a:noFill/>
          </a:ln>
        </p:spPr>
        <p:txBody>
          <a:bodyPr anchorCtr="0" anchor="t" bIns="45700" lIns="91425" spcFirstLastPara="1" rIns="91425" wrap="square" tIns="45700">
            <a:normAutofit/>
          </a:bodyPr>
          <a:lstStyle/>
          <a:p>
            <a:pPr indent="-349250" lvl="0" marL="457200" rtl="0" algn="l">
              <a:lnSpc>
                <a:spcPct val="150000"/>
              </a:lnSpc>
              <a:spcBef>
                <a:spcPts val="500"/>
              </a:spcBef>
              <a:spcAft>
                <a:spcPts val="0"/>
              </a:spcAft>
              <a:buSzPts val="1900"/>
              <a:buChar char="•"/>
            </a:pPr>
            <a:r>
              <a:rPr lang="es-AR" sz="1900"/>
              <a:t>STR - A1. OTTO microROS</a:t>
            </a:r>
            <a:endParaRPr sz="1900"/>
          </a:p>
          <a:p>
            <a:pPr indent="-349250" lvl="0" marL="457200" rtl="0" algn="l">
              <a:lnSpc>
                <a:spcPct val="150000"/>
              </a:lnSpc>
              <a:spcBef>
                <a:spcPts val="0"/>
              </a:spcBef>
              <a:spcAft>
                <a:spcPts val="0"/>
              </a:spcAft>
              <a:buSzPts val="1900"/>
              <a:buChar char="•"/>
            </a:pPr>
            <a:r>
              <a:rPr lang="es-AR" sz="1900"/>
              <a:t>STR - A2. Tracker   - Incorporación de OTA</a:t>
            </a:r>
            <a:endParaRPr sz="1900"/>
          </a:p>
          <a:p>
            <a:pPr indent="-349250" lvl="0" marL="457200" rtl="0" algn="l">
              <a:lnSpc>
                <a:spcPct val="150000"/>
              </a:lnSpc>
              <a:spcBef>
                <a:spcPts val="0"/>
              </a:spcBef>
              <a:spcAft>
                <a:spcPts val="0"/>
              </a:spcAft>
              <a:buSzPts val="1900"/>
              <a:buChar char="•"/>
            </a:pPr>
            <a:r>
              <a:rPr lang="es-AR" sz="1900"/>
              <a:t>STR - A3. Comunicacón Arduino DUE y Arduino Mega con TX/RX</a:t>
            </a:r>
            <a:endParaRPr sz="1900"/>
          </a:p>
          <a:p>
            <a:pPr indent="-349250" lvl="0" marL="457200" rtl="0" algn="l">
              <a:lnSpc>
                <a:spcPct val="150000"/>
              </a:lnSpc>
              <a:spcBef>
                <a:spcPts val="0"/>
              </a:spcBef>
              <a:spcAft>
                <a:spcPts val="0"/>
              </a:spcAft>
              <a:buSzPts val="1900"/>
              <a:buChar char="•"/>
            </a:pPr>
            <a:r>
              <a:rPr lang="es-AR" sz="1900"/>
              <a:t>STR - A4. </a:t>
            </a:r>
            <a:r>
              <a:rPr lang="es-AR" sz="1900"/>
              <a:t>Semáforos Inteligentes</a:t>
            </a:r>
            <a:endParaRPr sz="1900"/>
          </a:p>
          <a:p>
            <a:pPr indent="-349250" lvl="0" marL="457200" rtl="0" algn="l">
              <a:lnSpc>
                <a:spcPct val="150000"/>
              </a:lnSpc>
              <a:spcBef>
                <a:spcPts val="0"/>
              </a:spcBef>
              <a:spcAft>
                <a:spcPts val="0"/>
              </a:spcAft>
              <a:buSzPts val="1900"/>
              <a:buChar char="•"/>
            </a:pPr>
            <a:r>
              <a:rPr lang="es-AR" sz="1900"/>
              <a:t>STR - A5. Tortugas del deporte</a:t>
            </a:r>
            <a:endParaRPr sz="1900"/>
          </a:p>
          <a:p>
            <a:pPr indent="-117030" lvl="1" marL="685800" rtl="0" algn="l">
              <a:lnSpc>
                <a:spcPct val="90000"/>
              </a:lnSpc>
              <a:spcBef>
                <a:spcPts val="500"/>
              </a:spcBef>
              <a:spcAft>
                <a:spcPts val="0"/>
              </a:spcAft>
              <a:buClr>
                <a:schemeClr val="dk1"/>
              </a:buClr>
              <a:buSzPts val="1900"/>
              <a:buNone/>
            </a:pPr>
            <a:r>
              <a:t/>
            </a:r>
            <a:endParaRPr sz="1900"/>
          </a:p>
        </p:txBody>
      </p:sp>
      <p:pic>
        <p:nvPicPr>
          <p:cNvPr id="215" name="Google Shape;215;g27afbd3fb79_0_0"/>
          <p:cNvPicPr preferRelativeResize="0"/>
          <p:nvPr/>
        </p:nvPicPr>
        <p:blipFill rotWithShape="1">
          <a:blip r:embed="rId3">
            <a:alphaModFix/>
          </a:blip>
          <a:srcRect b="0" l="16047" r="16040" t="0"/>
          <a:stretch/>
        </p:blipFill>
        <p:spPr>
          <a:xfrm>
            <a:off x="0" y="10"/>
            <a:ext cx="4657344" cy="6858000"/>
          </a:xfrm>
          <a:custGeom>
            <a:rect b="b" l="l" r="r" t="t"/>
            <a:pathLst>
              <a:path extrusionOk="0" h="6858000" w="4657344">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19" name="Shape 219"/>
        <p:cNvGrpSpPr/>
        <p:nvPr/>
      </p:nvGrpSpPr>
      <p:grpSpPr>
        <a:xfrm>
          <a:off x="0" y="0"/>
          <a:ext cx="0" cy="0"/>
          <a:chOff x="0" y="0"/>
          <a:chExt cx="0" cy="0"/>
        </a:xfrm>
      </p:grpSpPr>
      <p:sp>
        <p:nvSpPr>
          <p:cNvPr id="220" name="Google Shape;220;g27afbd3fb79_0_54"/>
          <p:cNvSpPr/>
          <p:nvPr/>
        </p:nvSpPr>
        <p:spPr>
          <a:xfrm>
            <a:off x="0" y="0"/>
            <a:ext cx="12189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21" name="Google Shape;221;g27afbd3fb79_0_54"/>
          <p:cNvSpPr txBox="1"/>
          <p:nvPr>
            <p:ph type="title"/>
          </p:nvPr>
        </p:nvSpPr>
        <p:spPr>
          <a:xfrm>
            <a:off x="4923400" y="329175"/>
            <a:ext cx="7189800" cy="10338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1"/>
              </a:buClr>
              <a:buSzPts val="1100"/>
              <a:buFont typeface="Arial"/>
              <a:buNone/>
            </a:pPr>
            <a:r>
              <a:rPr b="1" lang="es-AR" sz="4300"/>
              <a:t>STR - A1. OTTO microROS</a:t>
            </a:r>
            <a:endParaRPr b="1" sz="4300"/>
          </a:p>
        </p:txBody>
      </p:sp>
      <p:sp>
        <p:nvSpPr>
          <p:cNvPr id="222" name="Google Shape;222;g27afbd3fb79_0_54"/>
          <p:cNvSpPr/>
          <p:nvPr/>
        </p:nvSpPr>
        <p:spPr>
          <a:xfrm>
            <a:off x="5226837" y="1539060"/>
            <a:ext cx="4243589" cy="18288"/>
          </a:xfrm>
          <a:custGeom>
            <a:rect b="b" l="l" r="r" t="t"/>
            <a:pathLst>
              <a:path extrusionOk="0" fill="none" h="18288" w="4243589">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extrusionOk="0" h="18288" w="4243589">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cap="rnd" cmpd="sng" w="4445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23" name="Google Shape;223;g27afbd3fb79_0_54"/>
          <p:cNvSpPr txBox="1"/>
          <p:nvPr>
            <p:ph idx="1" type="body"/>
          </p:nvPr>
        </p:nvSpPr>
        <p:spPr>
          <a:xfrm>
            <a:off x="4835725" y="1804775"/>
            <a:ext cx="7145400" cy="4899600"/>
          </a:xfrm>
          <a:prstGeom prst="rect">
            <a:avLst/>
          </a:prstGeom>
          <a:noFill/>
          <a:ln>
            <a:noFill/>
          </a:ln>
        </p:spPr>
        <p:txBody>
          <a:bodyPr anchorCtr="0" anchor="t" bIns="45700" lIns="91425" spcFirstLastPara="1" rIns="91425" wrap="square" tIns="45700">
            <a:normAutofit/>
          </a:bodyPr>
          <a:lstStyle/>
          <a:p>
            <a:pPr indent="0" lvl="1" marL="0" rtl="0" algn="l">
              <a:lnSpc>
                <a:spcPct val="90000"/>
              </a:lnSpc>
              <a:spcBef>
                <a:spcPts val="500"/>
              </a:spcBef>
              <a:spcAft>
                <a:spcPts val="0"/>
              </a:spcAft>
              <a:buClr>
                <a:schemeClr val="dk1"/>
              </a:buClr>
              <a:buSzPts val="1900"/>
              <a:buNone/>
            </a:pPr>
            <a:r>
              <a:rPr lang="es-AR" sz="2000"/>
              <a:t>Otto es un proyecto de Robot Opensources que se encarga de caminar y no chocar. Este contiene un microcontrolador, 4 servos sg90 y un ultrasonido.</a:t>
            </a:r>
            <a:endParaRPr sz="2000"/>
          </a:p>
          <a:p>
            <a:pPr indent="0" lvl="1" marL="0" rtl="0" algn="l">
              <a:lnSpc>
                <a:spcPct val="90000"/>
              </a:lnSpc>
              <a:spcBef>
                <a:spcPts val="500"/>
              </a:spcBef>
              <a:spcAft>
                <a:spcPts val="0"/>
              </a:spcAft>
              <a:buClr>
                <a:schemeClr val="dk1"/>
              </a:buClr>
              <a:buSzPts val="1900"/>
              <a:buNone/>
            </a:pPr>
            <a:r>
              <a:rPr lang="es-AR" sz="2000"/>
              <a:t>La idea en este caso, es instalarle el SO de </a:t>
            </a:r>
            <a:r>
              <a:rPr lang="es-AR" sz="2000" u="sng">
                <a:solidFill>
                  <a:schemeClr val="hlink"/>
                </a:solidFill>
                <a:hlinkClick r:id="rId3"/>
              </a:rPr>
              <a:t>https://micro.ros.org/</a:t>
            </a:r>
            <a:r>
              <a:rPr lang="es-AR" sz="2000"/>
              <a:t>  al microcontrolador (sera un ESP32 que contiene FreeRTOS) y armar las </a:t>
            </a:r>
            <a:r>
              <a:rPr lang="es-AR" sz="2000"/>
              <a:t>librerías</a:t>
            </a:r>
            <a:r>
              <a:rPr lang="es-AR" sz="2000"/>
              <a:t> correspondientes (no se pueden utilizar las que implementan en arduino) para controlar los servos y el ultrasonido.</a:t>
            </a:r>
            <a:endParaRPr sz="2000"/>
          </a:p>
          <a:p>
            <a:pPr indent="0" lvl="1" marL="0" rtl="0" algn="l">
              <a:lnSpc>
                <a:spcPct val="90000"/>
              </a:lnSpc>
              <a:spcBef>
                <a:spcPts val="500"/>
              </a:spcBef>
              <a:spcAft>
                <a:spcPts val="0"/>
              </a:spcAft>
              <a:buClr>
                <a:schemeClr val="dk1"/>
              </a:buClr>
              <a:buSzPts val="1900"/>
              <a:buNone/>
            </a:pPr>
            <a:r>
              <a:t/>
            </a:r>
            <a:endParaRPr sz="2000"/>
          </a:p>
          <a:p>
            <a:pPr indent="-355600" lvl="0" marL="457200" rtl="0" algn="l">
              <a:lnSpc>
                <a:spcPct val="90000"/>
              </a:lnSpc>
              <a:spcBef>
                <a:spcPts val="500"/>
              </a:spcBef>
              <a:spcAft>
                <a:spcPts val="0"/>
              </a:spcAft>
              <a:buSzPts val="2000"/>
              <a:buChar char="•"/>
            </a:pPr>
            <a:r>
              <a:rPr lang="es-AR" sz="2000"/>
              <a:t>Escribir toda la portación necesaria para poder montar el ESP32 con microROS, y poder encender un led RGB, con sus distintos colores</a:t>
            </a:r>
            <a:endParaRPr sz="2000"/>
          </a:p>
          <a:p>
            <a:pPr indent="-355600" lvl="0" marL="457200" rtl="0" algn="l">
              <a:lnSpc>
                <a:spcPct val="90000"/>
              </a:lnSpc>
              <a:spcBef>
                <a:spcPts val="0"/>
              </a:spcBef>
              <a:spcAft>
                <a:spcPts val="0"/>
              </a:spcAft>
              <a:buSzPts val="2000"/>
              <a:buChar char="•"/>
            </a:pPr>
            <a:r>
              <a:rPr lang="es-AR" sz="2000"/>
              <a:t>Detallar cómo se utilizan todos los pines de conexión</a:t>
            </a:r>
            <a:endParaRPr sz="2000"/>
          </a:p>
          <a:p>
            <a:pPr indent="-355600" lvl="0" marL="457200" rtl="0" algn="l">
              <a:lnSpc>
                <a:spcPct val="90000"/>
              </a:lnSpc>
              <a:spcBef>
                <a:spcPts val="0"/>
              </a:spcBef>
              <a:spcAft>
                <a:spcPts val="0"/>
              </a:spcAft>
              <a:buSzPts val="2000"/>
              <a:buChar char="•"/>
            </a:pPr>
            <a:r>
              <a:rPr lang="es-AR" sz="2000"/>
              <a:t>Implementar la librería de los servomotores</a:t>
            </a:r>
            <a:endParaRPr sz="2000"/>
          </a:p>
          <a:p>
            <a:pPr indent="-355600" lvl="0" marL="457200" rtl="0" algn="l">
              <a:lnSpc>
                <a:spcPct val="90000"/>
              </a:lnSpc>
              <a:spcBef>
                <a:spcPts val="0"/>
              </a:spcBef>
              <a:spcAft>
                <a:spcPts val="0"/>
              </a:spcAft>
              <a:buSzPts val="2000"/>
              <a:buChar char="•"/>
            </a:pPr>
            <a:r>
              <a:rPr lang="es-AR" sz="2000"/>
              <a:t>Implementar la librería del ultrasonido.</a:t>
            </a:r>
            <a:endParaRPr sz="2000"/>
          </a:p>
          <a:p>
            <a:pPr indent="-355600" lvl="0" marL="457200" rtl="0" algn="l">
              <a:lnSpc>
                <a:spcPct val="90000"/>
              </a:lnSpc>
              <a:spcBef>
                <a:spcPts val="0"/>
              </a:spcBef>
              <a:spcAft>
                <a:spcPts val="0"/>
              </a:spcAft>
              <a:buSzPts val="2000"/>
              <a:buChar char="•"/>
            </a:pPr>
            <a:r>
              <a:rPr lang="es-AR" sz="2000"/>
              <a:t>Construir una interfaz para controlar al OTTO.</a:t>
            </a:r>
            <a:endParaRPr sz="2000"/>
          </a:p>
        </p:txBody>
      </p:sp>
      <p:pic>
        <p:nvPicPr>
          <p:cNvPr id="224" name="Google Shape;224;g27afbd3fb79_0_54"/>
          <p:cNvPicPr preferRelativeResize="0"/>
          <p:nvPr/>
        </p:nvPicPr>
        <p:blipFill rotWithShape="1">
          <a:blip r:embed="rId4">
            <a:alphaModFix/>
          </a:blip>
          <a:srcRect b="0" l="22202" r="22208" t="0"/>
          <a:stretch/>
        </p:blipFill>
        <p:spPr>
          <a:xfrm>
            <a:off x="0" y="10"/>
            <a:ext cx="4657344" cy="6858000"/>
          </a:xfrm>
          <a:custGeom>
            <a:rect b="b" l="l" r="r" t="t"/>
            <a:pathLst>
              <a:path extrusionOk="0" h="6858000" w="4657344">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28" name="Shape 228"/>
        <p:cNvGrpSpPr/>
        <p:nvPr/>
      </p:nvGrpSpPr>
      <p:grpSpPr>
        <a:xfrm>
          <a:off x="0" y="0"/>
          <a:ext cx="0" cy="0"/>
          <a:chOff x="0" y="0"/>
          <a:chExt cx="0" cy="0"/>
        </a:xfrm>
      </p:grpSpPr>
      <p:sp>
        <p:nvSpPr>
          <p:cNvPr id="229" name="Google Shape;229;g27afbd3fb79_0_21"/>
          <p:cNvSpPr/>
          <p:nvPr/>
        </p:nvSpPr>
        <p:spPr>
          <a:xfrm>
            <a:off x="1500" y="0"/>
            <a:ext cx="12189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30" name="Google Shape;230;g27afbd3fb79_0_21"/>
          <p:cNvSpPr txBox="1"/>
          <p:nvPr>
            <p:ph type="title"/>
          </p:nvPr>
        </p:nvSpPr>
        <p:spPr>
          <a:xfrm>
            <a:off x="4923400" y="329175"/>
            <a:ext cx="7189800" cy="686100"/>
          </a:xfrm>
          <a:prstGeom prst="rect">
            <a:avLst/>
          </a:prstGeom>
          <a:noFill/>
          <a:ln>
            <a:noFill/>
          </a:ln>
        </p:spPr>
        <p:txBody>
          <a:bodyPr anchorCtr="0" anchor="b" bIns="45700" lIns="91425" spcFirstLastPara="1" rIns="91425" wrap="square" tIns="45700">
            <a:noAutofit/>
          </a:bodyPr>
          <a:lstStyle/>
          <a:p>
            <a:pPr indent="0" lvl="0" marL="0" rtl="0" algn="l">
              <a:lnSpc>
                <a:spcPct val="150000"/>
              </a:lnSpc>
              <a:spcBef>
                <a:spcPts val="500"/>
              </a:spcBef>
              <a:spcAft>
                <a:spcPts val="0"/>
              </a:spcAft>
              <a:buNone/>
            </a:pPr>
            <a:r>
              <a:rPr b="1" lang="es-AR" sz="3000"/>
              <a:t>STR - A2. Tracker   - Incorporación de OTA</a:t>
            </a:r>
            <a:endParaRPr b="1" sz="3000"/>
          </a:p>
        </p:txBody>
      </p:sp>
      <p:sp>
        <p:nvSpPr>
          <p:cNvPr id="231" name="Google Shape;231;g27afbd3fb79_0_21"/>
          <p:cNvSpPr/>
          <p:nvPr/>
        </p:nvSpPr>
        <p:spPr>
          <a:xfrm>
            <a:off x="5328162" y="1204660"/>
            <a:ext cx="4243589" cy="18288"/>
          </a:xfrm>
          <a:custGeom>
            <a:rect b="b" l="l" r="r" t="t"/>
            <a:pathLst>
              <a:path extrusionOk="0" fill="none" h="18288" w="4243589">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extrusionOk="0" h="18288" w="4243589">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cap="rnd" cmpd="sng" w="4445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32" name="Google Shape;232;g27afbd3fb79_0_21"/>
          <p:cNvSpPr txBox="1"/>
          <p:nvPr>
            <p:ph idx="1" type="body"/>
          </p:nvPr>
        </p:nvSpPr>
        <p:spPr>
          <a:xfrm>
            <a:off x="4825575" y="1500775"/>
            <a:ext cx="7145400" cy="5008500"/>
          </a:xfrm>
          <a:prstGeom prst="rect">
            <a:avLst/>
          </a:prstGeom>
          <a:noFill/>
          <a:ln>
            <a:noFill/>
          </a:ln>
        </p:spPr>
        <p:txBody>
          <a:bodyPr anchorCtr="0" anchor="t" bIns="45700" lIns="91425" spcFirstLastPara="1" rIns="91425" wrap="square" tIns="45700">
            <a:normAutofit/>
          </a:bodyPr>
          <a:lstStyle/>
          <a:p>
            <a:pPr indent="0" lvl="1" marL="0" rtl="0" algn="l">
              <a:lnSpc>
                <a:spcPct val="90000"/>
              </a:lnSpc>
              <a:spcBef>
                <a:spcPts val="500"/>
              </a:spcBef>
              <a:spcAft>
                <a:spcPts val="0"/>
              </a:spcAft>
              <a:buClr>
                <a:schemeClr val="dk1"/>
              </a:buClr>
              <a:buSzPts val="1900"/>
              <a:buNone/>
            </a:pPr>
            <a:r>
              <a:rPr lang="es-AR" sz="1900"/>
              <a:t>Trackeador </a:t>
            </a:r>
            <a:r>
              <a:rPr lang="es-AR" sz="1900"/>
              <a:t>industrial</a:t>
            </a:r>
            <a:r>
              <a:rPr lang="es-AR" sz="1900"/>
              <a:t> que se encuentra funcionando con </a:t>
            </a:r>
            <a:r>
              <a:rPr lang="es-AR" sz="1900"/>
              <a:t>Librerías</a:t>
            </a:r>
            <a:r>
              <a:rPr lang="es-AR" sz="1900"/>
              <a:t> internes y externas. Contiene un núcleo soldado de ESP32, SIM800L y MPU6050 para poder trabajar la precisión del mismo dentro de un mapa (OpenStreetMap). Entendiendo que tenemos multiples </a:t>
            </a:r>
            <a:r>
              <a:rPr lang="es-AR" sz="1900"/>
              <a:t>módulos</a:t>
            </a:r>
            <a:r>
              <a:rPr lang="es-AR" sz="1900"/>
              <a:t> vehiculares ya instalados, se debe poder hacer un "deploy a distancia"</a:t>
            </a:r>
            <a:endParaRPr sz="1900"/>
          </a:p>
          <a:p>
            <a:pPr indent="0" lvl="1" marL="0" rtl="0" algn="l">
              <a:lnSpc>
                <a:spcPct val="90000"/>
              </a:lnSpc>
              <a:spcBef>
                <a:spcPts val="500"/>
              </a:spcBef>
              <a:spcAft>
                <a:spcPts val="0"/>
              </a:spcAft>
              <a:buClr>
                <a:schemeClr val="dk1"/>
              </a:buClr>
              <a:buSzPts val="1900"/>
              <a:buNone/>
            </a:pPr>
            <a:r>
              <a:t/>
            </a:r>
            <a:endParaRPr sz="1900"/>
          </a:p>
          <a:p>
            <a:pPr indent="-349250" lvl="0" marL="457200" rtl="0" algn="l">
              <a:lnSpc>
                <a:spcPct val="90000"/>
              </a:lnSpc>
              <a:spcBef>
                <a:spcPts val="500"/>
              </a:spcBef>
              <a:spcAft>
                <a:spcPts val="0"/>
              </a:spcAft>
              <a:buSzPts val="1900"/>
              <a:buChar char="•"/>
            </a:pPr>
            <a:r>
              <a:rPr lang="es-AR" sz="1900"/>
              <a:t>El código se encuentra en C, escrito con la interfaz que brinda ESP-IDF. La intención es instalar OTA, un protocolo para poder cambiar </a:t>
            </a:r>
            <a:r>
              <a:rPr lang="es-AR" sz="1900"/>
              <a:t>íntegramente</a:t>
            </a:r>
            <a:r>
              <a:rPr lang="es-AR" sz="1900"/>
              <a:t> el código del tracker</a:t>
            </a:r>
            <a:endParaRPr sz="1900"/>
          </a:p>
          <a:p>
            <a:pPr indent="-349250" lvl="0" marL="457200" rtl="0" algn="l">
              <a:lnSpc>
                <a:spcPct val="90000"/>
              </a:lnSpc>
              <a:spcBef>
                <a:spcPts val="0"/>
              </a:spcBef>
              <a:spcAft>
                <a:spcPts val="0"/>
              </a:spcAft>
              <a:buSzPts val="1900"/>
              <a:buChar char="•"/>
            </a:pPr>
            <a:r>
              <a:rPr lang="es-AR" sz="1900"/>
              <a:t>Analizar el </a:t>
            </a:r>
            <a:r>
              <a:rPr lang="es-AR" sz="1900"/>
              <a:t>contexto</a:t>
            </a:r>
            <a:r>
              <a:rPr lang="es-AR" sz="1900"/>
              <a:t> en el cual se puede cambiar</a:t>
            </a:r>
            <a:endParaRPr sz="1900"/>
          </a:p>
          <a:p>
            <a:pPr indent="-349250" lvl="0" marL="457200" rtl="0" algn="l">
              <a:lnSpc>
                <a:spcPct val="90000"/>
              </a:lnSpc>
              <a:spcBef>
                <a:spcPts val="0"/>
              </a:spcBef>
              <a:spcAft>
                <a:spcPts val="0"/>
              </a:spcAft>
              <a:buSzPts val="1900"/>
              <a:buChar char="•"/>
            </a:pPr>
            <a:r>
              <a:rPr lang="es-AR" sz="1900"/>
              <a:t>Medir los tiempos de compilación dentro del ESP32</a:t>
            </a:r>
            <a:endParaRPr sz="1900"/>
          </a:p>
          <a:p>
            <a:pPr indent="-349250" lvl="0" marL="457200" rtl="0" algn="l">
              <a:lnSpc>
                <a:spcPct val="90000"/>
              </a:lnSpc>
              <a:spcBef>
                <a:spcPts val="0"/>
              </a:spcBef>
              <a:spcAft>
                <a:spcPts val="0"/>
              </a:spcAft>
              <a:buSzPts val="1900"/>
              <a:buChar char="•"/>
            </a:pPr>
            <a:r>
              <a:rPr lang="es-AR" sz="1900"/>
              <a:t>Realizar un análisis de los procesos que ocurren dentro del microcontrolador</a:t>
            </a:r>
            <a:endParaRPr sz="1900"/>
          </a:p>
          <a:p>
            <a:pPr indent="0" lvl="0" marL="0" rtl="0" algn="l">
              <a:lnSpc>
                <a:spcPct val="90000"/>
              </a:lnSpc>
              <a:spcBef>
                <a:spcPts val="500"/>
              </a:spcBef>
              <a:spcAft>
                <a:spcPts val="0"/>
              </a:spcAft>
              <a:buNone/>
            </a:pPr>
            <a:r>
              <a:rPr b="1" i="1" lang="es-AR" sz="1900"/>
              <a:t>Aclaración</a:t>
            </a:r>
            <a:r>
              <a:rPr lang="es-AR" sz="1900"/>
              <a:t>: No se pueden usar librerias externas, solamente las que provienen de </a:t>
            </a:r>
            <a:r>
              <a:rPr lang="es-AR" sz="1900" u="sng">
                <a:solidFill>
                  <a:schemeClr val="hlink"/>
                </a:solidFill>
                <a:hlinkClick r:id="rId3"/>
              </a:rPr>
              <a:t>https://docs.espressif.com/projects/esp-idf/en/latest/esp32/api-reference/system/ota.html?highlight=ota</a:t>
            </a:r>
            <a:r>
              <a:rPr lang="es-AR" sz="1900"/>
              <a:t> y sus relacionados de docs.espressif.</a:t>
            </a:r>
            <a:endParaRPr sz="1900"/>
          </a:p>
        </p:txBody>
      </p:sp>
      <p:pic>
        <p:nvPicPr>
          <p:cNvPr id="233" name="Google Shape;233;g27afbd3fb79_0_21"/>
          <p:cNvPicPr preferRelativeResize="0"/>
          <p:nvPr/>
        </p:nvPicPr>
        <p:blipFill rotWithShape="1">
          <a:blip r:embed="rId4">
            <a:alphaModFix/>
          </a:blip>
          <a:srcRect b="0" l="13694" r="13694" t="0"/>
          <a:stretch/>
        </p:blipFill>
        <p:spPr>
          <a:xfrm>
            <a:off x="0" y="10"/>
            <a:ext cx="4657344" cy="6858000"/>
          </a:xfrm>
          <a:custGeom>
            <a:rect b="b" l="l" r="r" t="t"/>
            <a:pathLst>
              <a:path extrusionOk="0" h="6858000" w="4657344">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37" name="Shape 237"/>
        <p:cNvGrpSpPr/>
        <p:nvPr/>
      </p:nvGrpSpPr>
      <p:grpSpPr>
        <a:xfrm>
          <a:off x="0" y="0"/>
          <a:ext cx="0" cy="0"/>
          <a:chOff x="0" y="0"/>
          <a:chExt cx="0" cy="0"/>
        </a:xfrm>
      </p:grpSpPr>
      <p:sp>
        <p:nvSpPr>
          <p:cNvPr id="238" name="Google Shape;238;g27afbd3fb79_0_71"/>
          <p:cNvSpPr/>
          <p:nvPr/>
        </p:nvSpPr>
        <p:spPr>
          <a:xfrm>
            <a:off x="0" y="0"/>
            <a:ext cx="12189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39" name="Google Shape;239;g27afbd3fb79_0_71"/>
          <p:cNvSpPr txBox="1"/>
          <p:nvPr>
            <p:ph type="title"/>
          </p:nvPr>
        </p:nvSpPr>
        <p:spPr>
          <a:xfrm>
            <a:off x="4923400" y="329175"/>
            <a:ext cx="7189800" cy="1033800"/>
          </a:xfrm>
          <a:prstGeom prst="rect">
            <a:avLst/>
          </a:prstGeom>
          <a:noFill/>
          <a:ln>
            <a:noFill/>
          </a:ln>
        </p:spPr>
        <p:txBody>
          <a:bodyPr anchorCtr="0" anchor="b" bIns="45700" lIns="91425" spcFirstLastPara="1" rIns="91425" wrap="square" tIns="45700">
            <a:noAutofit/>
          </a:bodyPr>
          <a:lstStyle/>
          <a:p>
            <a:pPr indent="0" lvl="0" marL="0" rtl="0" algn="l">
              <a:lnSpc>
                <a:spcPct val="150000"/>
              </a:lnSpc>
              <a:spcBef>
                <a:spcPts val="500"/>
              </a:spcBef>
              <a:spcAft>
                <a:spcPts val="0"/>
              </a:spcAft>
              <a:buNone/>
            </a:pPr>
            <a:r>
              <a:t/>
            </a:r>
            <a:endParaRPr sz="2000"/>
          </a:p>
          <a:p>
            <a:pPr indent="0" lvl="0" marL="0" rtl="0" algn="l">
              <a:lnSpc>
                <a:spcPct val="150000"/>
              </a:lnSpc>
              <a:spcBef>
                <a:spcPts val="500"/>
              </a:spcBef>
              <a:spcAft>
                <a:spcPts val="0"/>
              </a:spcAft>
              <a:buNone/>
            </a:pPr>
            <a:r>
              <a:rPr b="1" lang="es-AR" sz="2000"/>
              <a:t>STR - A3. Comunicación Arduino DUE y Arduino Mega con TX/RX</a:t>
            </a:r>
            <a:endParaRPr b="1" sz="2000"/>
          </a:p>
          <a:p>
            <a:pPr indent="0" lvl="0" marL="0" rtl="0" algn="l">
              <a:spcBef>
                <a:spcPts val="0"/>
              </a:spcBef>
              <a:spcAft>
                <a:spcPts val="0"/>
              </a:spcAft>
              <a:buClr>
                <a:schemeClr val="dk1"/>
              </a:buClr>
              <a:buSzPts val="1100"/>
              <a:buFont typeface="Arial"/>
              <a:buNone/>
            </a:pPr>
            <a:r>
              <a:t/>
            </a:r>
            <a:endParaRPr sz="2000"/>
          </a:p>
        </p:txBody>
      </p:sp>
      <p:sp>
        <p:nvSpPr>
          <p:cNvPr id="240" name="Google Shape;240;g27afbd3fb79_0_71"/>
          <p:cNvSpPr/>
          <p:nvPr/>
        </p:nvSpPr>
        <p:spPr>
          <a:xfrm>
            <a:off x="5196437" y="1204660"/>
            <a:ext cx="4243589" cy="18288"/>
          </a:xfrm>
          <a:custGeom>
            <a:rect b="b" l="l" r="r" t="t"/>
            <a:pathLst>
              <a:path extrusionOk="0" fill="none" h="18288" w="4243589">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extrusionOk="0" h="18288" w="4243589">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cap="rnd" cmpd="sng" w="4445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41" name="Google Shape;241;g27afbd3fb79_0_71"/>
          <p:cNvSpPr txBox="1"/>
          <p:nvPr>
            <p:ph idx="1" type="body"/>
          </p:nvPr>
        </p:nvSpPr>
        <p:spPr>
          <a:xfrm>
            <a:off x="4835725" y="1440975"/>
            <a:ext cx="7145400" cy="5366700"/>
          </a:xfrm>
          <a:prstGeom prst="rect">
            <a:avLst/>
          </a:prstGeom>
          <a:noFill/>
          <a:ln>
            <a:noFill/>
          </a:ln>
        </p:spPr>
        <p:txBody>
          <a:bodyPr anchorCtr="0" anchor="t" bIns="45700" lIns="91425" spcFirstLastPara="1" rIns="91425" wrap="square" tIns="45700">
            <a:noAutofit/>
          </a:bodyPr>
          <a:lstStyle/>
          <a:p>
            <a:pPr indent="0" lvl="1" marL="0" rtl="0" algn="l">
              <a:lnSpc>
                <a:spcPct val="115000"/>
              </a:lnSpc>
              <a:spcBef>
                <a:spcPts val="500"/>
              </a:spcBef>
              <a:spcAft>
                <a:spcPts val="0"/>
              </a:spcAft>
              <a:buClr>
                <a:schemeClr val="dk1"/>
              </a:buClr>
              <a:buSzPts val="1473"/>
              <a:buNone/>
            </a:pPr>
            <a:r>
              <a:rPr lang="es-AR" sz="1672"/>
              <a:t>Dentro del mundo de los microcontroladores, podemos encontrar ciertas tardanzas dentro de la comunicación, no solo en la parte de hardware, sino </a:t>
            </a:r>
            <a:r>
              <a:rPr lang="es-AR" sz="1672"/>
              <a:t>también</a:t>
            </a:r>
            <a:r>
              <a:rPr lang="es-AR" sz="1672"/>
              <a:t> en la de software.</a:t>
            </a:r>
            <a:endParaRPr sz="1672"/>
          </a:p>
          <a:p>
            <a:pPr indent="0" lvl="1" marL="0" rtl="0" algn="l">
              <a:lnSpc>
                <a:spcPct val="115000"/>
              </a:lnSpc>
              <a:spcBef>
                <a:spcPts val="500"/>
              </a:spcBef>
              <a:spcAft>
                <a:spcPts val="0"/>
              </a:spcAft>
              <a:buClr>
                <a:schemeClr val="dk1"/>
              </a:buClr>
              <a:buSzPts val="1473"/>
              <a:buNone/>
            </a:pPr>
            <a:r>
              <a:rPr lang="es-AR" sz="1672"/>
              <a:t>El arduino Mega tiene la particularidad de ser un mononucleo, y el arduino DUE contiene 2 </a:t>
            </a:r>
            <a:r>
              <a:rPr lang="es-AR" sz="1672"/>
              <a:t>núcleos</a:t>
            </a:r>
            <a:r>
              <a:rPr lang="es-AR" sz="1672"/>
              <a:t>.</a:t>
            </a:r>
            <a:endParaRPr sz="1672"/>
          </a:p>
          <a:p>
            <a:pPr indent="0" lvl="1" marL="0" rtl="0" algn="l">
              <a:lnSpc>
                <a:spcPct val="115000"/>
              </a:lnSpc>
              <a:spcBef>
                <a:spcPts val="500"/>
              </a:spcBef>
              <a:spcAft>
                <a:spcPts val="0"/>
              </a:spcAft>
              <a:buClr>
                <a:schemeClr val="dk1"/>
              </a:buClr>
              <a:buSzPts val="1473"/>
              <a:buNone/>
            </a:pPr>
            <a:r>
              <a:t/>
            </a:r>
            <a:endParaRPr sz="1672"/>
          </a:p>
          <a:p>
            <a:pPr indent="0" lvl="1" marL="0" rtl="0" algn="l">
              <a:lnSpc>
                <a:spcPct val="115000"/>
              </a:lnSpc>
              <a:spcBef>
                <a:spcPts val="500"/>
              </a:spcBef>
              <a:spcAft>
                <a:spcPts val="0"/>
              </a:spcAft>
              <a:buClr>
                <a:schemeClr val="dk1"/>
              </a:buClr>
              <a:buSzPts val="1473"/>
              <a:buNone/>
            </a:pPr>
            <a:r>
              <a:rPr lang="es-AR" sz="1672"/>
              <a:t>Lo que se debe analizar es:</a:t>
            </a:r>
            <a:endParaRPr sz="1672"/>
          </a:p>
          <a:p>
            <a:pPr indent="-334803" lvl="0" marL="457200" rtl="0" algn="l">
              <a:lnSpc>
                <a:spcPct val="115000"/>
              </a:lnSpc>
              <a:spcBef>
                <a:spcPts val="500"/>
              </a:spcBef>
              <a:spcAft>
                <a:spcPts val="0"/>
              </a:spcAft>
              <a:buSzPts val="1673"/>
              <a:buChar char="•"/>
            </a:pPr>
            <a:r>
              <a:rPr lang="es-AR" sz="1672"/>
              <a:t>Realizar un proceso de multiplicación de matrices, tanto en Arduino Mega como en DUE. Analizar el tamaño de matrices que pueden llegar a procesar, y cómo </a:t>
            </a:r>
            <a:r>
              <a:rPr lang="es-AR" sz="1672"/>
              <a:t>sería</a:t>
            </a:r>
            <a:r>
              <a:rPr lang="es-AR" sz="1672"/>
              <a:t> el resultado de las mismas</a:t>
            </a:r>
            <a:endParaRPr sz="1672"/>
          </a:p>
          <a:p>
            <a:pPr indent="-334803" lvl="0" marL="457200" rtl="0" algn="l">
              <a:lnSpc>
                <a:spcPct val="115000"/>
              </a:lnSpc>
              <a:spcBef>
                <a:spcPts val="0"/>
              </a:spcBef>
              <a:spcAft>
                <a:spcPts val="0"/>
              </a:spcAft>
              <a:buSzPts val="1673"/>
              <a:buChar char="•"/>
            </a:pPr>
            <a:r>
              <a:rPr lang="es-AR" sz="1672"/>
              <a:t>Realizar procesamiento paralelo entre el arduino mega y el DUE. </a:t>
            </a:r>
            <a:endParaRPr sz="1672"/>
          </a:p>
          <a:p>
            <a:pPr indent="-334803" lvl="0" marL="457200" rtl="0" algn="l">
              <a:lnSpc>
                <a:spcPct val="115000"/>
              </a:lnSpc>
              <a:spcBef>
                <a:spcPts val="0"/>
              </a:spcBef>
              <a:spcAft>
                <a:spcPts val="0"/>
              </a:spcAft>
              <a:buSzPts val="1673"/>
              <a:buChar char="•"/>
            </a:pPr>
            <a:r>
              <a:rPr lang="es-AR" sz="1672"/>
              <a:t>Medir el tiempo de Comunicación que existe entre los 2 pines. Particularmente en este punto se debe contemplar: </a:t>
            </a:r>
            <a:r>
              <a:rPr lang="es-AR" sz="1672"/>
              <a:t>Cuánto</a:t>
            </a:r>
            <a:r>
              <a:rPr lang="es-AR" sz="1672"/>
              <a:t> tarda en enviar un byte y un arreglo de los mismos, como intervienen los procesos de ejecución de las cuentas, el tiempo final de ida y vuelta de dicha comunicación sobre el mismo pin.</a:t>
            </a:r>
            <a:endParaRPr sz="1672"/>
          </a:p>
        </p:txBody>
      </p:sp>
      <p:pic>
        <p:nvPicPr>
          <p:cNvPr id="242" name="Google Shape;242;g27afbd3fb79_0_71"/>
          <p:cNvPicPr preferRelativeResize="0"/>
          <p:nvPr/>
        </p:nvPicPr>
        <p:blipFill rotWithShape="1">
          <a:blip r:embed="rId3">
            <a:alphaModFix/>
          </a:blip>
          <a:srcRect b="0" l="23605" r="23610" t="0"/>
          <a:stretch/>
        </p:blipFill>
        <p:spPr>
          <a:xfrm>
            <a:off x="0" y="10"/>
            <a:ext cx="4657344" cy="6858000"/>
          </a:xfrm>
          <a:custGeom>
            <a:rect b="b" l="l" r="r" t="t"/>
            <a:pathLst>
              <a:path extrusionOk="0" h="6858000" w="4657344">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46" name="Shape 246"/>
        <p:cNvGrpSpPr/>
        <p:nvPr/>
      </p:nvGrpSpPr>
      <p:grpSpPr>
        <a:xfrm>
          <a:off x="0" y="0"/>
          <a:ext cx="0" cy="0"/>
          <a:chOff x="0" y="0"/>
          <a:chExt cx="0" cy="0"/>
        </a:xfrm>
      </p:grpSpPr>
      <p:sp>
        <p:nvSpPr>
          <p:cNvPr id="247" name="Google Shape;247;g27afbd3fb79_0_79"/>
          <p:cNvSpPr/>
          <p:nvPr/>
        </p:nvSpPr>
        <p:spPr>
          <a:xfrm>
            <a:off x="0" y="0"/>
            <a:ext cx="12189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48" name="Google Shape;248;g27afbd3fb79_0_79"/>
          <p:cNvSpPr txBox="1"/>
          <p:nvPr>
            <p:ph type="title"/>
          </p:nvPr>
        </p:nvSpPr>
        <p:spPr>
          <a:xfrm>
            <a:off x="4999200" y="296025"/>
            <a:ext cx="7189800" cy="645000"/>
          </a:xfrm>
          <a:prstGeom prst="rect">
            <a:avLst/>
          </a:prstGeom>
          <a:noFill/>
          <a:ln>
            <a:noFill/>
          </a:ln>
        </p:spPr>
        <p:txBody>
          <a:bodyPr anchorCtr="0" anchor="b" bIns="45700" lIns="91425" spcFirstLastPara="1" rIns="91425" wrap="square" tIns="45700">
            <a:noAutofit/>
          </a:bodyPr>
          <a:lstStyle/>
          <a:p>
            <a:pPr indent="0" lvl="0" marL="0" rtl="0" algn="l">
              <a:lnSpc>
                <a:spcPct val="150000"/>
              </a:lnSpc>
              <a:spcBef>
                <a:spcPts val="500"/>
              </a:spcBef>
              <a:spcAft>
                <a:spcPts val="0"/>
              </a:spcAft>
              <a:buNone/>
            </a:pPr>
            <a:r>
              <a:rPr b="1" lang="es-AR" sz="3100"/>
              <a:t>STR - A4. Semáforos Inteligentes</a:t>
            </a:r>
            <a:endParaRPr sz="3100"/>
          </a:p>
        </p:txBody>
      </p:sp>
      <p:sp>
        <p:nvSpPr>
          <p:cNvPr id="249" name="Google Shape;249;g27afbd3fb79_0_79"/>
          <p:cNvSpPr/>
          <p:nvPr/>
        </p:nvSpPr>
        <p:spPr>
          <a:xfrm>
            <a:off x="5155887" y="1123585"/>
            <a:ext cx="4243589" cy="18288"/>
          </a:xfrm>
          <a:custGeom>
            <a:rect b="b" l="l" r="r" t="t"/>
            <a:pathLst>
              <a:path extrusionOk="0" fill="none" h="18288" w="4243589">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extrusionOk="0" h="18288" w="4243589">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cap="rnd" cmpd="sng" w="4445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50" name="Google Shape;250;g27afbd3fb79_0_79"/>
          <p:cNvSpPr txBox="1"/>
          <p:nvPr>
            <p:ph idx="1" type="body"/>
          </p:nvPr>
        </p:nvSpPr>
        <p:spPr>
          <a:xfrm>
            <a:off x="4835725" y="1440975"/>
            <a:ext cx="7353300" cy="5417100"/>
          </a:xfrm>
          <a:prstGeom prst="rect">
            <a:avLst/>
          </a:prstGeom>
          <a:noFill/>
          <a:ln>
            <a:noFill/>
          </a:ln>
        </p:spPr>
        <p:txBody>
          <a:bodyPr anchorCtr="0" anchor="t" bIns="45700" lIns="91425" spcFirstLastPara="1" rIns="91425" wrap="square" tIns="45700">
            <a:normAutofit/>
          </a:bodyPr>
          <a:lstStyle/>
          <a:p>
            <a:pPr indent="0" lvl="1" marL="0" rtl="0" algn="l">
              <a:lnSpc>
                <a:spcPct val="90000"/>
              </a:lnSpc>
              <a:spcBef>
                <a:spcPts val="500"/>
              </a:spcBef>
              <a:spcAft>
                <a:spcPts val="0"/>
              </a:spcAft>
              <a:buClr>
                <a:schemeClr val="dk1"/>
              </a:buClr>
              <a:buSzPts val="1900"/>
              <a:buNone/>
            </a:pPr>
            <a:r>
              <a:rPr b="1" lang="es-AR" sz="1900"/>
              <a:t>Link referencia: </a:t>
            </a:r>
            <a:r>
              <a:rPr lang="es-AR" sz="1900" u="sng">
                <a:solidFill>
                  <a:schemeClr val="hlink"/>
                </a:solidFill>
                <a:hlinkClick r:id="rId3"/>
              </a:rPr>
              <a:t>https://www.onroad.to/teorico/clases-autoescuela/senalizacion/semaforos/semaforos-inteligentes</a:t>
            </a:r>
            <a:endParaRPr sz="1900"/>
          </a:p>
          <a:p>
            <a:pPr indent="0" lvl="1" marL="0" rtl="0" algn="l">
              <a:lnSpc>
                <a:spcPct val="90000"/>
              </a:lnSpc>
              <a:spcBef>
                <a:spcPts val="500"/>
              </a:spcBef>
              <a:spcAft>
                <a:spcPts val="0"/>
              </a:spcAft>
              <a:buClr>
                <a:schemeClr val="dk1"/>
              </a:buClr>
              <a:buSzPts val="1900"/>
              <a:buNone/>
            </a:pPr>
            <a:r>
              <a:rPr lang="es-AR" sz="1900"/>
              <a:t>Se debe construir </a:t>
            </a:r>
            <a:r>
              <a:rPr lang="es-AR" sz="1900"/>
              <a:t>semáforos</a:t>
            </a:r>
            <a:r>
              <a:rPr lang="es-AR" sz="1900"/>
              <a:t> inteligentes, que permitan realizar el pase de los </a:t>
            </a:r>
            <a:r>
              <a:rPr lang="es-AR" sz="1900"/>
              <a:t>vehículos</a:t>
            </a:r>
            <a:r>
              <a:rPr lang="es-AR" sz="1900"/>
              <a:t> lo más rápido posible dentro de 1 sola esquina.</a:t>
            </a:r>
            <a:endParaRPr sz="1900"/>
          </a:p>
          <a:p>
            <a:pPr indent="-349250" lvl="0" marL="457200" rtl="0" algn="l">
              <a:lnSpc>
                <a:spcPct val="90000"/>
              </a:lnSpc>
              <a:spcBef>
                <a:spcPts val="500"/>
              </a:spcBef>
              <a:spcAft>
                <a:spcPts val="0"/>
              </a:spcAft>
              <a:buSzPts val="1900"/>
              <a:buChar char="•"/>
            </a:pPr>
            <a:r>
              <a:rPr lang="es-AR" sz="1900"/>
              <a:t>Realizar el montaje de una simulación con un ESP32</a:t>
            </a:r>
            <a:endParaRPr sz="1900"/>
          </a:p>
          <a:p>
            <a:pPr indent="-349250" lvl="0" marL="457200" rtl="0" algn="l">
              <a:lnSpc>
                <a:spcPct val="90000"/>
              </a:lnSpc>
              <a:spcBef>
                <a:spcPts val="0"/>
              </a:spcBef>
              <a:spcAft>
                <a:spcPts val="0"/>
              </a:spcAft>
              <a:buSzPts val="1900"/>
              <a:buChar char="•"/>
            </a:pPr>
            <a:r>
              <a:rPr lang="es-AR" sz="1900"/>
              <a:t>La esquina contiene 4 semáforos, se debe realizar la carga de "</a:t>
            </a:r>
            <a:r>
              <a:rPr lang="es-AR" sz="1900"/>
              <a:t>vehículos</a:t>
            </a:r>
            <a:r>
              <a:rPr lang="es-AR" sz="1900"/>
              <a:t>" (a criterio del alumno).</a:t>
            </a:r>
            <a:endParaRPr sz="1900"/>
          </a:p>
          <a:p>
            <a:pPr indent="-349250" lvl="0" marL="457200" rtl="0" algn="l">
              <a:lnSpc>
                <a:spcPct val="90000"/>
              </a:lnSpc>
              <a:spcBef>
                <a:spcPts val="0"/>
              </a:spcBef>
              <a:spcAft>
                <a:spcPts val="0"/>
              </a:spcAft>
              <a:buSzPts val="1900"/>
              <a:buChar char="•"/>
            </a:pPr>
            <a:r>
              <a:rPr lang="es-AR" sz="1900"/>
              <a:t>Físicamente</a:t>
            </a:r>
            <a:r>
              <a:rPr lang="es-AR" sz="1900"/>
              <a:t>, los 4 semáforos deben ser representados con 3 leds c/u, con su color correspondiente, pudiendo realizar una maqueta del mismo.</a:t>
            </a:r>
            <a:endParaRPr sz="1900"/>
          </a:p>
          <a:p>
            <a:pPr indent="-349250" lvl="0" marL="457200" rtl="0" algn="l">
              <a:lnSpc>
                <a:spcPct val="90000"/>
              </a:lnSpc>
              <a:spcBef>
                <a:spcPts val="0"/>
              </a:spcBef>
              <a:spcAft>
                <a:spcPts val="0"/>
              </a:spcAft>
              <a:buSzPts val="1900"/>
              <a:buChar char="•"/>
            </a:pPr>
            <a:r>
              <a:rPr lang="es-AR" sz="1900"/>
              <a:t>Analizar distintos tipos de métodos de trabajo (Ej: Round Robin, entre otros) y comprobar los resultados obtenidos con distintos muestreos.</a:t>
            </a:r>
            <a:endParaRPr sz="1900"/>
          </a:p>
          <a:p>
            <a:pPr indent="-349250" lvl="0" marL="457200" rtl="0" algn="l">
              <a:lnSpc>
                <a:spcPct val="90000"/>
              </a:lnSpc>
              <a:spcBef>
                <a:spcPts val="0"/>
              </a:spcBef>
              <a:spcAft>
                <a:spcPts val="0"/>
              </a:spcAft>
              <a:buSzPts val="1900"/>
              <a:buChar char="•"/>
            </a:pPr>
            <a:r>
              <a:rPr lang="es-AR" sz="1900"/>
              <a:t>Detallar las ventajas y desventajas de los algoritmos y métodos de trabajos planteados.</a:t>
            </a:r>
            <a:endParaRPr sz="1900"/>
          </a:p>
        </p:txBody>
      </p:sp>
      <p:pic>
        <p:nvPicPr>
          <p:cNvPr id="251" name="Google Shape;251;g27afbd3fb79_0_79"/>
          <p:cNvPicPr preferRelativeResize="0"/>
          <p:nvPr/>
        </p:nvPicPr>
        <p:blipFill rotWithShape="1">
          <a:blip r:embed="rId4">
            <a:alphaModFix/>
          </a:blip>
          <a:srcRect b="0" l="18026" r="18026" t="0"/>
          <a:stretch/>
        </p:blipFill>
        <p:spPr>
          <a:xfrm>
            <a:off x="0" y="10"/>
            <a:ext cx="4657344" cy="6858000"/>
          </a:xfrm>
          <a:custGeom>
            <a:rect b="b" l="l" r="r" t="t"/>
            <a:pathLst>
              <a:path extrusionOk="0" h="6858000" w="4657344">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55" name="Shape 255"/>
        <p:cNvGrpSpPr/>
        <p:nvPr/>
      </p:nvGrpSpPr>
      <p:grpSpPr>
        <a:xfrm>
          <a:off x="0" y="0"/>
          <a:ext cx="0" cy="0"/>
          <a:chOff x="0" y="0"/>
          <a:chExt cx="0" cy="0"/>
        </a:xfrm>
      </p:grpSpPr>
      <p:sp>
        <p:nvSpPr>
          <p:cNvPr id="256" name="Google Shape;256;g27afbd3fb79_0_89"/>
          <p:cNvSpPr/>
          <p:nvPr/>
        </p:nvSpPr>
        <p:spPr>
          <a:xfrm>
            <a:off x="0" y="0"/>
            <a:ext cx="12189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57" name="Google Shape;257;g27afbd3fb79_0_89"/>
          <p:cNvSpPr txBox="1"/>
          <p:nvPr>
            <p:ph type="title"/>
          </p:nvPr>
        </p:nvSpPr>
        <p:spPr>
          <a:xfrm>
            <a:off x="4999200" y="296025"/>
            <a:ext cx="7189800" cy="645000"/>
          </a:xfrm>
          <a:prstGeom prst="rect">
            <a:avLst/>
          </a:prstGeom>
          <a:noFill/>
          <a:ln>
            <a:noFill/>
          </a:ln>
        </p:spPr>
        <p:txBody>
          <a:bodyPr anchorCtr="0" anchor="b" bIns="45700" lIns="91425" spcFirstLastPara="1" rIns="91425" wrap="square" tIns="45700">
            <a:noAutofit/>
          </a:bodyPr>
          <a:lstStyle/>
          <a:p>
            <a:pPr indent="0" lvl="0" marL="0" rtl="0" algn="l">
              <a:lnSpc>
                <a:spcPct val="150000"/>
              </a:lnSpc>
              <a:spcBef>
                <a:spcPts val="500"/>
              </a:spcBef>
              <a:spcAft>
                <a:spcPts val="0"/>
              </a:spcAft>
              <a:buNone/>
            </a:pPr>
            <a:r>
              <a:rPr b="1" lang="es-AR" sz="3100"/>
              <a:t>STR - A5. Tortugas del deporte</a:t>
            </a:r>
            <a:endParaRPr b="1" sz="3100"/>
          </a:p>
        </p:txBody>
      </p:sp>
      <p:sp>
        <p:nvSpPr>
          <p:cNvPr id="258" name="Google Shape;258;g27afbd3fb79_0_89"/>
          <p:cNvSpPr/>
          <p:nvPr/>
        </p:nvSpPr>
        <p:spPr>
          <a:xfrm>
            <a:off x="5155887" y="1123585"/>
            <a:ext cx="4243589" cy="18288"/>
          </a:xfrm>
          <a:custGeom>
            <a:rect b="b" l="l" r="r" t="t"/>
            <a:pathLst>
              <a:path extrusionOk="0" fill="none" h="18288" w="4243589">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extrusionOk="0" h="18288" w="4243589">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cap="rnd" cmpd="sng" w="4445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59" name="Google Shape;259;g27afbd3fb79_0_89"/>
          <p:cNvSpPr txBox="1"/>
          <p:nvPr>
            <p:ph idx="1" type="body"/>
          </p:nvPr>
        </p:nvSpPr>
        <p:spPr>
          <a:xfrm>
            <a:off x="4847200" y="1475400"/>
            <a:ext cx="7145400" cy="5320800"/>
          </a:xfrm>
          <a:prstGeom prst="rect">
            <a:avLst/>
          </a:prstGeom>
          <a:noFill/>
          <a:ln>
            <a:noFill/>
          </a:ln>
        </p:spPr>
        <p:txBody>
          <a:bodyPr anchorCtr="0" anchor="t" bIns="45700" lIns="91425" spcFirstLastPara="1" rIns="91425" wrap="square" tIns="45700">
            <a:normAutofit fontScale="77500" lnSpcReduction="20000"/>
          </a:bodyPr>
          <a:lstStyle/>
          <a:p>
            <a:pPr indent="0" lvl="1" marL="0" rtl="0" algn="l">
              <a:lnSpc>
                <a:spcPct val="150000"/>
              </a:lnSpc>
              <a:spcBef>
                <a:spcPts val="500"/>
              </a:spcBef>
              <a:spcAft>
                <a:spcPts val="0"/>
              </a:spcAft>
              <a:buClr>
                <a:schemeClr val="dk1"/>
              </a:buClr>
              <a:buSzPct val="76000"/>
              <a:buNone/>
            </a:pPr>
            <a:r>
              <a:rPr lang="es-AR" sz="2500"/>
              <a:t>La idea del proyecto es el armado de "Tortugas" (conos) que realicen la comunicación y sincronización entre ellos, y un servidor, el cual contiene una rutina de acción distinta. Estas rutinas constan de pasar la mano del deportista por encima de ellas, y a partir de eso realiza una marca de tiempo (tardanza)</a:t>
            </a:r>
            <a:endParaRPr sz="2500"/>
          </a:p>
          <a:p>
            <a:pPr indent="-351631" lvl="0" marL="457200" rtl="0" algn="l">
              <a:lnSpc>
                <a:spcPct val="150000"/>
              </a:lnSpc>
              <a:spcBef>
                <a:spcPts val="500"/>
              </a:spcBef>
              <a:spcAft>
                <a:spcPts val="0"/>
              </a:spcAft>
              <a:buSzPct val="100000"/>
              <a:buChar char="•"/>
            </a:pPr>
            <a:r>
              <a:rPr lang="es-AR" sz="2500"/>
              <a:t>Realizar un análisis de sincronización con el </a:t>
            </a:r>
            <a:r>
              <a:rPr b="1" lang="es-AR" sz="2500"/>
              <a:t>algoritmo de Christian</a:t>
            </a:r>
            <a:endParaRPr b="1" sz="2500"/>
          </a:p>
          <a:p>
            <a:pPr indent="-351631" lvl="0" marL="457200" rtl="0" algn="l">
              <a:lnSpc>
                <a:spcPct val="150000"/>
              </a:lnSpc>
              <a:spcBef>
                <a:spcPts val="0"/>
              </a:spcBef>
              <a:spcAft>
                <a:spcPts val="0"/>
              </a:spcAft>
              <a:buSzPct val="100000"/>
              <a:buChar char="•"/>
            </a:pPr>
            <a:r>
              <a:rPr lang="es-AR" sz="2500"/>
              <a:t>Realizar una medición del tiempo en el que se realiza TODA la rutina. </a:t>
            </a:r>
            <a:endParaRPr sz="2500"/>
          </a:p>
          <a:p>
            <a:pPr indent="-351631" lvl="0" marL="457200" rtl="0" algn="l">
              <a:lnSpc>
                <a:spcPct val="150000"/>
              </a:lnSpc>
              <a:spcBef>
                <a:spcPts val="0"/>
              </a:spcBef>
              <a:spcAft>
                <a:spcPts val="0"/>
              </a:spcAft>
              <a:buSzPct val="100000"/>
              <a:buChar char="•"/>
            </a:pPr>
            <a:r>
              <a:rPr lang="es-AR" sz="2500"/>
              <a:t>Montar 4 "tortugas" de acción para poder trabajar</a:t>
            </a:r>
            <a:endParaRPr sz="2500"/>
          </a:p>
          <a:p>
            <a:pPr indent="-351631" lvl="0" marL="457200" rtl="0" algn="l">
              <a:lnSpc>
                <a:spcPct val="150000"/>
              </a:lnSpc>
              <a:spcBef>
                <a:spcPts val="0"/>
              </a:spcBef>
              <a:spcAft>
                <a:spcPts val="0"/>
              </a:spcAft>
              <a:buSzPct val="100000"/>
              <a:buChar char="•"/>
            </a:pPr>
            <a:r>
              <a:rPr lang="es-AR" sz="2500"/>
              <a:t>Montar un servidor en una computadora portátil, que contenga una interfaz programada, para poder hacer la carga de rutinas.</a:t>
            </a:r>
            <a:endParaRPr sz="2100"/>
          </a:p>
          <a:p>
            <a:pPr indent="0" lvl="1" marL="568769" rtl="0" algn="l">
              <a:lnSpc>
                <a:spcPct val="115000"/>
              </a:lnSpc>
              <a:spcBef>
                <a:spcPts val="500"/>
              </a:spcBef>
              <a:spcAft>
                <a:spcPts val="0"/>
              </a:spcAft>
              <a:buClr>
                <a:schemeClr val="dk1"/>
              </a:buClr>
              <a:buSzPct val="90476"/>
              <a:buNone/>
            </a:pPr>
            <a:r>
              <a:t/>
            </a:r>
            <a:endParaRPr sz="2100"/>
          </a:p>
        </p:txBody>
      </p:sp>
      <p:pic>
        <p:nvPicPr>
          <p:cNvPr id="260" name="Google Shape;260;g27afbd3fb79_0_89"/>
          <p:cNvPicPr preferRelativeResize="0"/>
          <p:nvPr/>
        </p:nvPicPr>
        <p:blipFill rotWithShape="1">
          <a:blip r:embed="rId3">
            <a:alphaModFix/>
          </a:blip>
          <a:srcRect b="0" l="13603" r="13610" t="0"/>
          <a:stretch/>
        </p:blipFill>
        <p:spPr>
          <a:xfrm>
            <a:off x="0" y="10"/>
            <a:ext cx="4657344" cy="6858000"/>
          </a:xfrm>
          <a:custGeom>
            <a:rect b="b" l="l" r="r" t="t"/>
            <a:pathLst>
              <a:path extrusionOk="0" h="6858000" w="4657344">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ontents Slide Master">
  <a:themeElements>
    <a:clrScheme name="Azul">
      <a:dk1>
        <a:srgbClr val="000000"/>
      </a:dk1>
      <a:lt1>
        <a:srgbClr val="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2023-09-01T20:30:45Z</dcterms:created>
  <dc:creator>cesar Es</dc:creator>
</cp:coreProperties>
</file>