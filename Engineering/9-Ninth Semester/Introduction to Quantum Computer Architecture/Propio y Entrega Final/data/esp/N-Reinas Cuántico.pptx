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DM Sans"/>
      <p:bold r:id="rId22"/>
      <p:boldItalic r:id="rId23"/>
    </p:embeddedFont>
    <p:embeddedFont>
      <p:font typeface="Merriweather"/>
      <p:bold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8C2EED-53E5-4F51-AA09-BCD89966A08B}">
  <a:tblStyle styleId="{438C2EED-53E5-4F51-AA09-BCD89966A08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DMSans-bold.fntdata"/><Relationship Id="rId21" Type="http://schemas.openxmlformats.org/officeDocument/2006/relationships/slide" Target="slides/slide15.xml"/><Relationship Id="rId24" Type="http://schemas.openxmlformats.org/officeDocument/2006/relationships/font" Target="fonts/Merriweather-bold.fntdata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schemas.openxmlformats.org/officeDocument/2006/relationships/font" Target="fonts/Merriweather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52649e11b_237_2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52649e11b_237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f52649e11b_254_0)">
  <p:cSld name="Generated (g3f52649e11b_254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0D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4"/>
          <p:cNvGrpSpPr/>
          <p:nvPr/>
        </p:nvGrpSpPr>
        <p:grpSpPr>
          <a:xfrm>
            <a:off x="6524625" y="952500"/>
            <a:ext cx="4953000" cy="4953000"/>
            <a:chOff x="6524625" y="952500"/>
            <a:chExt cx="4953000" cy="4953000"/>
          </a:xfrm>
        </p:grpSpPr>
        <p:sp>
          <p:nvSpPr>
            <p:cNvPr id="86" name="Google Shape;86;p14"/>
            <p:cNvSpPr/>
            <p:nvPr/>
          </p:nvSpPr>
          <p:spPr>
            <a:xfrm>
              <a:off x="6524625" y="952500"/>
              <a:ext cx="4953000" cy="4953000"/>
            </a:xfrm>
            <a:prstGeom prst="ellipse">
              <a:avLst/>
            </a:prstGeom>
            <a:solidFill>
              <a:srgbClr val="11CAA0">
                <a:alpha val="7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4"/>
            <p:cNvSpPr/>
            <p:nvPr/>
          </p:nvSpPr>
          <p:spPr>
            <a:xfrm>
              <a:off x="7286625" y="1714500"/>
              <a:ext cx="3429000" cy="3429000"/>
            </a:xfrm>
            <a:prstGeom prst="ellipse">
              <a:avLst/>
            </a:prstGeom>
            <a:solidFill>
              <a:srgbClr val="005088">
                <a:alpha val="7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8" name="Google Shape;88;p14"/>
          <p:cNvGrpSpPr/>
          <p:nvPr/>
        </p:nvGrpSpPr>
        <p:grpSpPr>
          <a:xfrm>
            <a:off x="7286625" y="1519238"/>
            <a:ext cx="3333750" cy="3529013"/>
            <a:chOff x="7286625" y="1519238"/>
            <a:chExt cx="3333750" cy="3529013"/>
          </a:xfrm>
        </p:grpSpPr>
        <p:pic>
          <p:nvPicPr>
            <p:cNvPr id="89" name="Google Shape;89;p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519988" y="1519238"/>
              <a:ext cx="1623900" cy="3476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" name="Google Shape;90;p14"/>
            <p:cNvSpPr/>
            <p:nvPr/>
          </p:nvSpPr>
          <p:spPr>
            <a:xfrm>
              <a:off x="7286625" y="1714500"/>
              <a:ext cx="762000" cy="762000"/>
            </a:xfrm>
            <a:prstGeom prst="roundRect">
              <a:avLst>
                <a:gd fmla="val 12500" name="adj"/>
              </a:avLst>
            </a:prstGeom>
            <a:solidFill>
              <a:srgbClr val="12335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14"/>
            <p:cNvSpPr/>
            <p:nvPr/>
          </p:nvSpPr>
          <p:spPr>
            <a:xfrm>
              <a:off x="8143875" y="1714500"/>
              <a:ext cx="762000" cy="762000"/>
            </a:xfrm>
            <a:prstGeom prst="roundRect">
              <a:avLst>
                <a:gd fmla="val 125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14"/>
            <p:cNvSpPr/>
            <p:nvPr/>
          </p:nvSpPr>
          <p:spPr>
            <a:xfrm>
              <a:off x="9001125" y="1714500"/>
              <a:ext cx="762000" cy="762000"/>
            </a:xfrm>
            <a:prstGeom prst="roundRect">
              <a:avLst>
                <a:gd fmla="val 12500" name="adj"/>
              </a:avLst>
            </a:prstGeom>
            <a:solidFill>
              <a:srgbClr val="12335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4"/>
            <p:cNvSpPr/>
            <p:nvPr/>
          </p:nvSpPr>
          <p:spPr>
            <a:xfrm>
              <a:off x="9858375" y="1714500"/>
              <a:ext cx="762000" cy="762000"/>
            </a:xfrm>
            <a:prstGeom prst="roundRect">
              <a:avLst>
                <a:gd fmla="val 12500" name="adj"/>
              </a:avLst>
            </a:prstGeom>
            <a:solidFill>
              <a:srgbClr val="0A2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14"/>
            <p:cNvSpPr/>
            <p:nvPr/>
          </p:nvSpPr>
          <p:spPr>
            <a:xfrm>
              <a:off x="7286625" y="2571750"/>
              <a:ext cx="762000" cy="762000"/>
            </a:xfrm>
            <a:prstGeom prst="roundRect">
              <a:avLst>
                <a:gd fmla="val 12500" name="adj"/>
              </a:avLst>
            </a:prstGeom>
            <a:solidFill>
              <a:srgbClr val="0A2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000">
                  <a:solidFill>
                    <a:schemeClr val="lt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lock</a:t>
              </a:r>
              <a:endParaRPr/>
            </a:p>
          </p:txBody>
        </p:sp>
        <p:sp>
          <p:nvSpPr>
            <p:cNvPr id="95" name="Google Shape;95;p14"/>
            <p:cNvSpPr/>
            <p:nvPr/>
          </p:nvSpPr>
          <p:spPr>
            <a:xfrm>
              <a:off x="8143875" y="2571750"/>
              <a:ext cx="762000" cy="762000"/>
            </a:xfrm>
            <a:prstGeom prst="roundRect">
              <a:avLst>
                <a:gd fmla="val 12500" name="adj"/>
              </a:avLst>
            </a:prstGeom>
            <a:solidFill>
              <a:srgbClr val="12335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4"/>
            <p:cNvSpPr/>
            <p:nvPr/>
          </p:nvSpPr>
          <p:spPr>
            <a:xfrm>
              <a:off x="9001125" y="2571750"/>
              <a:ext cx="762000" cy="762000"/>
            </a:xfrm>
            <a:prstGeom prst="roundRect">
              <a:avLst>
                <a:gd fmla="val 12500" name="adj"/>
              </a:avLst>
            </a:prstGeom>
            <a:solidFill>
              <a:srgbClr val="0A2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000">
                  <a:solidFill>
                    <a:schemeClr val="lt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lock</a:t>
              </a:r>
              <a:endParaRPr/>
            </a:p>
          </p:txBody>
        </p:sp>
        <p:sp>
          <p:nvSpPr>
            <p:cNvPr id="97" name="Google Shape;97;p14"/>
            <p:cNvSpPr/>
            <p:nvPr/>
          </p:nvSpPr>
          <p:spPr>
            <a:xfrm>
              <a:off x="9858375" y="2571750"/>
              <a:ext cx="762000" cy="762000"/>
            </a:xfrm>
            <a:prstGeom prst="roundRect">
              <a:avLst>
                <a:gd fmla="val 12500" name="adj"/>
              </a:avLst>
            </a:prstGeom>
            <a:solidFill>
              <a:srgbClr val="11CAA0">
                <a:alpha val="94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/>
            <p:nvPr/>
          </p:nvSpPr>
          <p:spPr>
            <a:xfrm>
              <a:off x="7286625" y="3429000"/>
              <a:ext cx="762000" cy="762000"/>
            </a:xfrm>
            <a:prstGeom prst="roundRect">
              <a:avLst>
                <a:gd fmla="val 12500" name="adj"/>
              </a:avLst>
            </a:prstGeom>
            <a:solidFill>
              <a:srgbClr val="11CAA0">
                <a:alpha val="94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4"/>
            <p:cNvSpPr/>
            <p:nvPr/>
          </p:nvSpPr>
          <p:spPr>
            <a:xfrm>
              <a:off x="8143875" y="3429000"/>
              <a:ext cx="762000" cy="762000"/>
            </a:xfrm>
            <a:prstGeom prst="roundRect">
              <a:avLst>
                <a:gd fmla="val 12500" name="adj"/>
              </a:avLst>
            </a:prstGeom>
            <a:solidFill>
              <a:srgbClr val="0A2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000">
                  <a:solidFill>
                    <a:schemeClr val="lt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lock</a:t>
              </a:r>
              <a:endParaRPr/>
            </a:p>
          </p:txBody>
        </p:sp>
        <p:sp>
          <p:nvSpPr>
            <p:cNvPr id="100" name="Google Shape;100;p14"/>
            <p:cNvSpPr/>
            <p:nvPr/>
          </p:nvSpPr>
          <p:spPr>
            <a:xfrm>
              <a:off x="9001125" y="3429000"/>
              <a:ext cx="762000" cy="762000"/>
            </a:xfrm>
            <a:prstGeom prst="roundRect">
              <a:avLst>
                <a:gd fmla="val 12500" name="adj"/>
              </a:avLst>
            </a:prstGeom>
            <a:solidFill>
              <a:srgbClr val="12335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4"/>
            <p:cNvSpPr/>
            <p:nvPr/>
          </p:nvSpPr>
          <p:spPr>
            <a:xfrm>
              <a:off x="9858375" y="3429000"/>
              <a:ext cx="762000" cy="762000"/>
            </a:xfrm>
            <a:prstGeom prst="roundRect">
              <a:avLst>
                <a:gd fmla="val 12500" name="adj"/>
              </a:avLst>
            </a:prstGeom>
            <a:solidFill>
              <a:srgbClr val="0A2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000">
                  <a:solidFill>
                    <a:schemeClr val="lt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lock</a:t>
              </a:r>
              <a:endParaRPr/>
            </a:p>
          </p:txBody>
        </p:sp>
        <p:sp>
          <p:nvSpPr>
            <p:cNvPr id="102" name="Google Shape;102;p14"/>
            <p:cNvSpPr/>
            <p:nvPr/>
          </p:nvSpPr>
          <p:spPr>
            <a:xfrm>
              <a:off x="7286625" y="4286250"/>
              <a:ext cx="762000" cy="762000"/>
            </a:xfrm>
            <a:prstGeom prst="roundRect">
              <a:avLst>
                <a:gd fmla="val 12500" name="adj"/>
              </a:avLst>
            </a:prstGeom>
            <a:solidFill>
              <a:srgbClr val="0A223C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4"/>
            <p:cNvSpPr/>
            <p:nvPr/>
          </p:nvSpPr>
          <p:spPr>
            <a:xfrm>
              <a:off x="8143875" y="4286250"/>
              <a:ext cx="762000" cy="762000"/>
            </a:xfrm>
            <a:prstGeom prst="roundRect">
              <a:avLst>
                <a:gd fmla="val 12500" name="adj"/>
              </a:avLst>
            </a:prstGeom>
            <a:solidFill>
              <a:srgbClr val="12335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000">
                  <a:solidFill>
                    <a:schemeClr val="lt1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lock</a:t>
              </a:r>
              <a:endParaRPr/>
            </a:p>
          </p:txBody>
        </p:sp>
        <p:sp>
          <p:nvSpPr>
            <p:cNvPr id="104" name="Google Shape;104;p14"/>
            <p:cNvSpPr/>
            <p:nvPr/>
          </p:nvSpPr>
          <p:spPr>
            <a:xfrm>
              <a:off x="9001125" y="4286250"/>
              <a:ext cx="762000" cy="762000"/>
            </a:xfrm>
            <a:prstGeom prst="roundRect">
              <a:avLst>
                <a:gd fmla="val 12500" name="adj"/>
              </a:avLst>
            </a:prstGeom>
            <a:solidFill>
              <a:srgbClr val="11CAA0">
                <a:alpha val="94999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14"/>
            <p:cNvSpPr/>
            <p:nvPr/>
          </p:nvSpPr>
          <p:spPr>
            <a:xfrm>
              <a:off x="9858375" y="4286250"/>
              <a:ext cx="762000" cy="762000"/>
            </a:xfrm>
            <a:prstGeom prst="roundRect">
              <a:avLst>
                <a:gd fmla="val 12500" name="adj"/>
              </a:avLst>
            </a:prstGeom>
            <a:solidFill>
              <a:srgbClr val="12335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4"/>
            <p:cNvSpPr/>
            <p:nvPr/>
          </p:nvSpPr>
          <p:spPr>
            <a:xfrm>
              <a:off x="8372475" y="1943100"/>
              <a:ext cx="304800" cy="30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4"/>
            <p:cNvSpPr/>
            <p:nvPr/>
          </p:nvSpPr>
          <p:spPr>
            <a:xfrm>
              <a:off x="10086975" y="2800350"/>
              <a:ext cx="304800" cy="30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4"/>
            <p:cNvSpPr/>
            <p:nvPr/>
          </p:nvSpPr>
          <p:spPr>
            <a:xfrm>
              <a:off x="7515225" y="3657600"/>
              <a:ext cx="304800" cy="30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4"/>
            <p:cNvSpPr/>
            <p:nvPr/>
          </p:nvSpPr>
          <p:spPr>
            <a:xfrm>
              <a:off x="9229725" y="4514850"/>
              <a:ext cx="304800" cy="3048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4"/>
            <p:cNvSpPr txBox="1"/>
            <p:nvPr/>
          </p:nvSpPr>
          <p:spPr>
            <a:xfrm>
              <a:off x="7286625" y="1743710"/>
              <a:ext cx="76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lock</a:t>
              </a:r>
              <a:endParaRPr sz="2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1" name="Google Shape;111;p14"/>
            <p:cNvSpPr txBox="1"/>
            <p:nvPr/>
          </p:nvSpPr>
          <p:spPr>
            <a:xfrm>
              <a:off x="9001125" y="1743710"/>
              <a:ext cx="76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lock</a:t>
              </a:r>
              <a:endParaRPr sz="2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12" name="Google Shape;112;p14"/>
            <p:cNvSpPr txBox="1"/>
            <p:nvPr/>
          </p:nvSpPr>
          <p:spPr>
            <a:xfrm>
              <a:off x="8143875" y="2600960"/>
              <a:ext cx="762000" cy="762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FFFFFF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lock</a:t>
              </a:r>
              <a:endParaRPr sz="2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113" name="Google Shape;113;p14"/>
          <p:cNvSpPr txBox="1"/>
          <p:nvPr/>
        </p:nvSpPr>
        <p:spPr>
          <a:xfrm>
            <a:off x="762000" y="1143000"/>
            <a:ext cx="6096000" cy="457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Introducción a la Arquitectura de Computadoras Cuánticas</a:t>
            </a:r>
            <a:endParaRPr b="1" sz="11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Resolución del Problema de </a:t>
            </a:r>
            <a:r>
              <a:rPr b="1" lang="en-US" sz="460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N-Reinas</a:t>
            </a:r>
            <a:endParaRPr b="1" sz="11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Mediante el Algoritmo Cuántico de Grover</a:t>
            </a:r>
            <a:endParaRPr b="1" sz="11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360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Ignacio Andrés Schwindt 03229/0</a:t>
            </a:r>
            <a:endParaRPr b="1" sz="11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" name="Google Shape;114;p14"/>
          <p:cNvSpPr txBox="1"/>
          <p:nvPr/>
        </p:nvSpPr>
        <p:spPr>
          <a:xfrm>
            <a:off x="8769250" y="4444700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lok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8153075" y="3429000"/>
            <a:ext cx="762000" cy="762000"/>
          </a:xfrm>
          <a:prstGeom prst="roundRect">
            <a:avLst>
              <a:gd fmla="val 12500" name="adj"/>
            </a:avLst>
          </a:prstGeom>
          <a:solidFill>
            <a:srgbClr val="1233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4"/>
          <p:cNvSpPr/>
          <p:nvPr/>
        </p:nvSpPr>
        <p:spPr>
          <a:xfrm>
            <a:off x="8999325" y="2571975"/>
            <a:ext cx="762000" cy="762000"/>
          </a:xfrm>
          <a:prstGeom prst="roundRect">
            <a:avLst>
              <a:gd fmla="val 12500" name="adj"/>
            </a:avLst>
          </a:prstGeom>
          <a:solidFill>
            <a:srgbClr val="1233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7286625" y="2571975"/>
            <a:ext cx="762000" cy="762000"/>
          </a:xfrm>
          <a:prstGeom prst="roundRect">
            <a:avLst>
              <a:gd fmla="val 12500" name="adj"/>
            </a:avLst>
          </a:prstGeom>
          <a:solidFill>
            <a:srgbClr val="1233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4"/>
          <p:cNvSpPr/>
          <p:nvPr/>
        </p:nvSpPr>
        <p:spPr>
          <a:xfrm>
            <a:off x="9888250" y="3429000"/>
            <a:ext cx="762000" cy="762000"/>
          </a:xfrm>
          <a:prstGeom prst="roundRect">
            <a:avLst>
              <a:gd fmla="val 12500" name="adj"/>
            </a:avLst>
          </a:prstGeom>
          <a:solidFill>
            <a:srgbClr val="1233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4"/>
          <p:cNvSpPr/>
          <p:nvPr/>
        </p:nvSpPr>
        <p:spPr>
          <a:xfrm>
            <a:off x="9020663" y="3429000"/>
            <a:ext cx="762000" cy="762000"/>
          </a:xfrm>
          <a:prstGeom prst="roundRect">
            <a:avLst>
              <a:gd fmla="val 12500" name="adj"/>
            </a:avLst>
          </a:prstGeom>
          <a:solidFill>
            <a:srgbClr val="0A223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4"/>
          <p:cNvSpPr/>
          <p:nvPr/>
        </p:nvSpPr>
        <p:spPr>
          <a:xfrm>
            <a:off x="9888250" y="4310000"/>
            <a:ext cx="762000" cy="762000"/>
          </a:xfrm>
          <a:prstGeom prst="roundRect">
            <a:avLst>
              <a:gd fmla="val 12500" name="adj"/>
            </a:avLst>
          </a:prstGeom>
          <a:solidFill>
            <a:srgbClr val="0A223C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7286625" y="2571985"/>
            <a:ext cx="76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lock</a:t>
            </a:r>
            <a:endParaRPr sz="20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020675" y="2571985"/>
            <a:ext cx="76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lock</a:t>
            </a:r>
            <a:endParaRPr sz="20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23" name="Google Shape;123;p14"/>
          <p:cNvSpPr txBox="1"/>
          <p:nvPr/>
        </p:nvSpPr>
        <p:spPr>
          <a:xfrm>
            <a:off x="8153100" y="3429010"/>
            <a:ext cx="76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lock</a:t>
            </a:r>
            <a:endParaRPr sz="20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9888250" y="3429010"/>
            <a:ext cx="762000" cy="762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lock</a:t>
            </a:r>
            <a:endParaRPr sz="2000">
              <a:solidFill>
                <a:srgbClr val="FFFFFF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 txBox="1"/>
          <p:nvPr/>
        </p:nvSpPr>
        <p:spPr>
          <a:xfrm>
            <a:off x="571500" y="1333500"/>
            <a:ext cx="5238900" cy="492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750"/>
              </a:spcAft>
              <a:buNone/>
            </a:pPr>
            <a:r>
              <a:rPr b="0" lang="en-US" sz="16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El problema consiste en ubicar </a:t>
            </a:r>
            <a:r>
              <a:rPr b="1" lang="en-US" sz="16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N reinas</a:t>
            </a:r>
            <a:r>
              <a:rPr b="0" lang="en-US" sz="16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en un tablero de N×N de modo que ninguna se amenace entre sí.</a:t>
            </a:r>
            <a:endParaRPr b="0" sz="160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0" name="Google Shape;130;p15"/>
          <p:cNvGrpSpPr/>
          <p:nvPr/>
        </p:nvGrpSpPr>
        <p:grpSpPr>
          <a:xfrm>
            <a:off x="571500" y="2190750"/>
            <a:ext cx="5238900" cy="1714500"/>
            <a:chOff x="571500" y="2190750"/>
            <a:chExt cx="5238900" cy="1714500"/>
          </a:xfrm>
        </p:grpSpPr>
        <p:sp>
          <p:nvSpPr>
            <p:cNvPr id="131" name="Google Shape;131;p15"/>
            <p:cNvSpPr/>
            <p:nvPr/>
          </p:nvSpPr>
          <p:spPr>
            <a:xfrm>
              <a:off x="571500" y="2190750"/>
              <a:ext cx="5238900" cy="1714500"/>
            </a:xfrm>
            <a:prstGeom prst="roundRect">
              <a:avLst>
                <a:gd fmla="val 6666" name="adj"/>
              </a:avLst>
            </a:prstGeom>
            <a:solidFill>
              <a:srgbClr val="FFFFFF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" name="Google Shape;132;p15"/>
            <p:cNvSpPr txBox="1"/>
            <p:nvPr/>
          </p:nvSpPr>
          <p:spPr>
            <a:xfrm>
              <a:off x="809625" y="2381250"/>
              <a:ext cx="4762500" cy="13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1CAA0"/>
                  </a:solidFill>
                  <a:latin typeface="DM Sans"/>
                  <a:ea typeface="DM Sans"/>
                  <a:cs typeface="DM Sans"/>
                  <a:sym typeface="DM Sans"/>
                </a:rPr>
                <a:t>01</a:t>
              </a:r>
              <a:r>
                <a:rPr lang="en-US" sz="14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 No deben compartir la misma </a:t>
              </a:r>
              <a:r>
                <a:rPr b="1" lang="en-US" sz="14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fila</a:t>
              </a:r>
              <a:r>
                <a:rPr lang="en-US" sz="14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1CAA0"/>
                  </a:solidFill>
                  <a:latin typeface="DM Sans"/>
                  <a:ea typeface="DM Sans"/>
                  <a:cs typeface="DM Sans"/>
                  <a:sym typeface="DM Sans"/>
                </a:rPr>
                <a:t>02</a:t>
              </a:r>
              <a:r>
                <a:rPr lang="en-US" sz="14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 No deben compartir la misma </a:t>
              </a:r>
              <a:r>
                <a:rPr b="1" lang="en-US" sz="14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columna</a:t>
              </a:r>
              <a:r>
                <a:rPr lang="en-US" sz="14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05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1CAA0"/>
                  </a:solidFill>
                  <a:latin typeface="DM Sans"/>
                  <a:ea typeface="DM Sans"/>
                  <a:cs typeface="DM Sans"/>
                  <a:sym typeface="DM Sans"/>
                </a:rPr>
                <a:t>03</a:t>
              </a:r>
              <a:r>
                <a:rPr lang="en-US" sz="14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 No deben compartir la misma </a:t>
              </a:r>
              <a:r>
                <a:rPr b="1" lang="en-US" sz="14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diagonal</a:t>
              </a:r>
              <a:r>
                <a:rPr lang="en-US" sz="14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33" name="Google Shape;133;p15"/>
          <p:cNvGrpSpPr/>
          <p:nvPr/>
        </p:nvGrpSpPr>
        <p:grpSpPr>
          <a:xfrm>
            <a:off x="571500" y="4191000"/>
            <a:ext cx="5238825" cy="1428900"/>
            <a:chOff x="571500" y="4191000"/>
            <a:chExt cx="5238825" cy="1428900"/>
          </a:xfrm>
        </p:grpSpPr>
        <p:sp>
          <p:nvSpPr>
            <p:cNvPr id="134" name="Google Shape;134;p15"/>
            <p:cNvSpPr/>
            <p:nvPr/>
          </p:nvSpPr>
          <p:spPr>
            <a:xfrm>
              <a:off x="571500" y="4191000"/>
              <a:ext cx="47700" cy="1428900"/>
            </a:xfrm>
            <a:prstGeom prst="roundRect">
              <a:avLst>
                <a:gd fmla="val 50000" name="adj"/>
              </a:avLst>
            </a:prstGeom>
            <a:solidFill>
              <a:srgbClr val="11CA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5"/>
            <p:cNvSpPr txBox="1"/>
            <p:nvPr/>
          </p:nvSpPr>
          <p:spPr>
            <a:xfrm>
              <a:off x="809625" y="4191000"/>
              <a:ext cx="50007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5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Teoría Combinatoria</a:t>
              </a:r>
              <a:endParaRPr b="1" sz="135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475569"/>
                  </a:solidFill>
                  <a:latin typeface="DM Sans"/>
                  <a:ea typeface="DM Sans"/>
                  <a:cs typeface="DM Sans"/>
                  <a:sym typeface="DM Sans"/>
                </a:rPr>
                <a:t>Es un problema clásico cuya búsqueda por fuerza bruta tiene una complejidad exponencial, analizando todas las permutaciones posibles de las columnas.</a:t>
              </a:r>
              <a:endParaRPr sz="135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36" name="Google Shape;136;p15"/>
          <p:cNvSpPr txBox="1"/>
          <p:nvPr/>
        </p:nvSpPr>
        <p:spPr>
          <a:xfrm>
            <a:off x="571500" y="523875"/>
            <a:ext cx="11049000" cy="554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Problema de las N-Reinas</a:t>
            </a:r>
            <a:endParaRPr b="1" sz="360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37" name="Google Shape;13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9700" y="1752350"/>
            <a:ext cx="3686175" cy="3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/>
          <p:nvPr/>
        </p:nvSpPr>
        <p:spPr>
          <a:xfrm>
            <a:off x="762000" y="1606250"/>
            <a:ext cx="4191000" cy="4381500"/>
          </a:xfrm>
          <a:prstGeom prst="roundRect">
            <a:avLst>
              <a:gd fmla="val 3636" name="adj"/>
            </a:avLst>
          </a:prstGeom>
          <a:solidFill>
            <a:srgbClr val="0050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047750" y="2148600"/>
            <a:ext cx="3619500" cy="4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COMPLEJIDAD TEMPORAL</a:t>
            </a:r>
            <a:endParaRPr b="1" sz="1400">
              <a:solidFill>
                <a:srgbClr val="11CAA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78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O(</a:t>
            </a:r>
            <a:r>
              <a:rPr b="1" lang="en-US" sz="780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√N</a:t>
            </a:r>
            <a:r>
              <a:rPr b="1" lang="en-US" sz="7800">
                <a:solidFill>
                  <a:srgbClr val="FFFFFF"/>
                </a:solidFill>
                <a:latin typeface="Merriweather"/>
                <a:ea typeface="Merriweather"/>
                <a:cs typeface="Merriweather"/>
                <a:sym typeface="Merriweather"/>
              </a:rPr>
              <a:t>)</a:t>
            </a:r>
            <a:endParaRPr b="1" sz="7800">
              <a:solidFill>
                <a:srgbClr val="FFFFFF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F3F0DF"/>
                </a:solidFill>
                <a:latin typeface="DM Sans"/>
                <a:ea typeface="DM Sans"/>
                <a:cs typeface="DM Sans"/>
                <a:sym typeface="DM Sans"/>
              </a:rPr>
              <a:t>Consultas al Oráculo</a:t>
            </a:r>
            <a:endParaRPr b="1" sz="2200">
              <a:solidFill>
                <a:srgbClr val="F3F0D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A0C4DF"/>
                </a:solidFill>
                <a:latin typeface="DM Sans"/>
                <a:ea typeface="DM Sans"/>
                <a:cs typeface="DM Sans"/>
                <a:sym typeface="DM Sans"/>
              </a:rPr>
              <a:t>Representa el número óptimo de consultas necesarias para hallar una solución única en un espacio de búsqueda no estructurado.</a:t>
            </a:r>
            <a:endParaRPr b="0" sz="1300">
              <a:solidFill>
                <a:srgbClr val="A0C4D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762000" y="523875"/>
            <a:ext cx="10668000" cy="52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 Ventaja Cuántica: Aceleración Cuadrática</a:t>
            </a:r>
            <a:endParaRPr b="1" sz="340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5334000" y="1606250"/>
            <a:ext cx="6096000" cy="33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Algoritmo de Búsqueda de Grover</a:t>
            </a:r>
            <a:endParaRPr b="1" sz="220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5334000" y="2082500"/>
            <a:ext cx="6096000" cy="6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Para problemas de búsqueda no estructurada con un espacio de tamaño N y M soluciones, Grover ofrece una ventaja óptima demostrada.</a:t>
            </a:r>
            <a:endParaRPr b="0" sz="150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334000" y="3130850"/>
            <a:ext cx="5851800" cy="1713300"/>
          </a:xfrm>
          <a:prstGeom prst="roundRect">
            <a:avLst>
              <a:gd fmla="val 8000" name="adj"/>
            </a:avLst>
          </a:prstGeom>
          <a:solidFill>
            <a:srgbClr val="12335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5732700" y="3151475"/>
            <a:ext cx="20955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CDD6E2"/>
                </a:solidFill>
                <a:latin typeface="DM Sans"/>
                <a:ea typeface="DM Sans"/>
                <a:cs typeface="DM Sans"/>
                <a:sym typeface="DM Sans"/>
              </a:rPr>
              <a:t>Caso Clásico</a:t>
            </a:r>
            <a:endParaRPr b="1" sz="1400">
              <a:solidFill>
                <a:srgbClr val="CDD6E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CDD6E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CDD6E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Caso Cuántico</a:t>
            </a:r>
            <a:endParaRPr b="1" sz="1400">
              <a:solidFill>
                <a:srgbClr val="11CAA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209" r="209" t="0"/>
          <a:stretch/>
        </p:blipFill>
        <p:spPr>
          <a:xfrm>
            <a:off x="8096250" y="3472363"/>
            <a:ext cx="2192400" cy="2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/>
          <p:cNvPicPr preferRelativeResize="0"/>
          <p:nvPr/>
        </p:nvPicPr>
        <p:blipFill rotWithShape="1">
          <a:blip r:embed="rId4">
            <a:alphaModFix/>
          </a:blip>
          <a:srcRect b="952" l="0" r="0" t="952"/>
          <a:stretch/>
        </p:blipFill>
        <p:spPr>
          <a:xfrm>
            <a:off x="8096250" y="4178600"/>
            <a:ext cx="2501700" cy="270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5414700" y="5247600"/>
            <a:ext cx="6096000" cy="6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Esta aceleración permite encontrar estados válidos con una probabilidad cercana al 100% mediante interferencia constructiva de amplitudes.</a:t>
            </a:r>
            <a:endParaRPr b="0" sz="1500">
              <a:solidFill>
                <a:srgbClr val="47556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1485900"/>
            <a:ext cx="5286375" cy="361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3175" y="1504950"/>
            <a:ext cx="5248276" cy="3581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8" name="Google Shape;158;p17"/>
          <p:cNvGrpSpPr/>
          <p:nvPr/>
        </p:nvGrpSpPr>
        <p:grpSpPr>
          <a:xfrm>
            <a:off x="590550" y="1447800"/>
            <a:ext cx="304800" cy="3590925"/>
            <a:chOff x="590550" y="1447800"/>
            <a:chExt cx="304800" cy="3590925"/>
          </a:xfrm>
        </p:grpSpPr>
        <p:pic>
          <p:nvPicPr>
            <p:cNvPr id="159" name="Google Shape;159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733425" y="1600200"/>
              <a:ext cx="19200" cy="3286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" name="Google Shape;160;p17"/>
            <p:cNvSpPr/>
            <p:nvPr/>
          </p:nvSpPr>
          <p:spPr>
            <a:xfrm>
              <a:off x="590550" y="1447800"/>
              <a:ext cx="304800" cy="304800"/>
            </a:xfrm>
            <a:prstGeom prst="ellipse">
              <a:avLst/>
            </a:prstGeom>
            <a:solidFill>
              <a:srgbClr val="11CA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590550" y="2543175"/>
              <a:ext cx="304800" cy="304800"/>
            </a:xfrm>
            <a:prstGeom prst="ellipse">
              <a:avLst/>
            </a:prstGeom>
            <a:solidFill>
              <a:srgbClr val="11CA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7"/>
            <p:cNvSpPr/>
            <p:nvPr/>
          </p:nvSpPr>
          <p:spPr>
            <a:xfrm>
              <a:off x="590550" y="3638550"/>
              <a:ext cx="304800" cy="304800"/>
            </a:xfrm>
            <a:prstGeom prst="ellipse">
              <a:avLst/>
            </a:prstGeom>
            <a:solidFill>
              <a:srgbClr val="11CA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590550" y="4733925"/>
              <a:ext cx="304800" cy="304800"/>
            </a:xfrm>
            <a:prstGeom prst="ellipse">
              <a:avLst/>
            </a:prstGeom>
            <a:solidFill>
              <a:srgbClr val="11CA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" name="Google Shape;164;p17"/>
          <p:cNvGrpSpPr/>
          <p:nvPr/>
        </p:nvGrpSpPr>
        <p:grpSpPr>
          <a:xfrm>
            <a:off x="590550" y="1447800"/>
            <a:ext cx="304800" cy="3590925"/>
            <a:chOff x="590550" y="1447800"/>
            <a:chExt cx="304800" cy="3590925"/>
          </a:xfrm>
        </p:grpSpPr>
        <p:sp>
          <p:nvSpPr>
            <p:cNvPr id="165" name="Google Shape;165;p17"/>
            <p:cNvSpPr txBox="1"/>
            <p:nvPr/>
          </p:nvSpPr>
          <p:spPr>
            <a:xfrm>
              <a:off x="590550" y="144780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1</a:t>
              </a:r>
              <a:endParaRPr b="1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6" name="Google Shape;166;p17"/>
            <p:cNvSpPr txBox="1"/>
            <p:nvPr/>
          </p:nvSpPr>
          <p:spPr>
            <a:xfrm>
              <a:off x="590550" y="2543175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2</a:t>
              </a:r>
              <a:endParaRPr b="1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7" name="Google Shape;167;p17"/>
            <p:cNvSpPr txBox="1"/>
            <p:nvPr/>
          </p:nvSpPr>
          <p:spPr>
            <a:xfrm>
              <a:off x="590550" y="3638550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3</a:t>
              </a:r>
              <a:endParaRPr b="1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168" name="Google Shape;168;p17"/>
            <p:cNvSpPr txBox="1"/>
            <p:nvPr/>
          </p:nvSpPr>
          <p:spPr>
            <a:xfrm>
              <a:off x="590550" y="4733925"/>
              <a:ext cx="3048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4</a:t>
              </a:r>
              <a:endParaRPr b="1" sz="11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sp>
        <p:nvSpPr>
          <p:cNvPr id="169" name="Google Shape;169;p17"/>
          <p:cNvSpPr txBox="1"/>
          <p:nvPr/>
        </p:nvSpPr>
        <p:spPr>
          <a:xfrm>
            <a:off x="1143000" y="1381125"/>
            <a:ext cx="4667400" cy="9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Inicialización</a:t>
            </a:r>
            <a:endParaRPr b="1" sz="15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Preparación en superposición uniforme de todos los estados posibles aplicando compuertas Hadamard.</a:t>
            </a:r>
            <a:endParaRPr b="0" sz="12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17"/>
          <p:cNvSpPr txBox="1"/>
          <p:nvPr/>
        </p:nvSpPr>
        <p:spPr>
          <a:xfrm>
            <a:off x="1143000" y="2476500"/>
            <a:ext cx="4667400" cy="9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Oráculo (Uf)</a:t>
            </a:r>
            <a:endParaRPr b="1" sz="15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Marca los estados que son soluciones aplicando una fase de -1 (Phase Kickback).</a:t>
            </a:r>
            <a:endParaRPr b="0" sz="12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1143000" y="3571875"/>
            <a:ext cx="4667400" cy="9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Difusor</a:t>
            </a:r>
            <a:endParaRPr b="1" sz="15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Inversión sobre la media. Amplifica la probabilidad de los estados marcados y atenúa el resto.</a:t>
            </a:r>
            <a:endParaRPr b="0" sz="12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1143000" y="4667250"/>
            <a:ext cx="4667400" cy="9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Medición</a:t>
            </a:r>
            <a:endParaRPr b="1" sz="15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Colapsa el estado revelando la solución con alta probabilidad.</a:t>
            </a:r>
            <a:endParaRPr b="0" sz="12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571500" y="571500"/>
            <a:ext cx="116016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Flujo del Algoritmo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/>
          <p:nvPr/>
        </p:nvSpPr>
        <p:spPr>
          <a:xfrm>
            <a:off x="762000" y="571500"/>
            <a:ext cx="10668000" cy="523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Estrategia de Codificación Cuántica</a:t>
            </a:r>
            <a:endParaRPr b="1" sz="340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179" name="Google Shape;179;p18"/>
          <p:cNvGrpSpPr/>
          <p:nvPr/>
        </p:nvGrpSpPr>
        <p:grpSpPr>
          <a:xfrm>
            <a:off x="762000" y="1428750"/>
            <a:ext cx="5143500" cy="4667400"/>
            <a:chOff x="762000" y="1428750"/>
            <a:chExt cx="5143500" cy="4667400"/>
          </a:xfrm>
        </p:grpSpPr>
        <p:sp>
          <p:nvSpPr>
            <p:cNvPr id="180" name="Google Shape;180;p18"/>
            <p:cNvSpPr/>
            <p:nvPr/>
          </p:nvSpPr>
          <p:spPr>
            <a:xfrm>
              <a:off x="762000" y="1428750"/>
              <a:ext cx="5143500" cy="4667400"/>
            </a:xfrm>
            <a:prstGeom prst="roundRect">
              <a:avLst>
                <a:gd fmla="val 3265" name="adj"/>
              </a:avLst>
            </a:prstGeom>
            <a:solidFill>
              <a:srgbClr val="FFFFFF"/>
            </a:solidFill>
            <a:ln cap="flat" cmpd="sng" w="14300">
              <a:solidFill>
                <a:srgbClr val="CDD6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18"/>
            <p:cNvSpPr txBox="1"/>
            <p:nvPr/>
          </p:nvSpPr>
          <p:spPr>
            <a:xfrm>
              <a:off x="1143000" y="186232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grid_off</a:t>
              </a:r>
              <a:endParaRPr sz="3600">
                <a:solidFill>
                  <a:srgbClr val="11CAA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2" name="Google Shape;182;p18"/>
            <p:cNvSpPr txBox="1"/>
            <p:nvPr/>
          </p:nvSpPr>
          <p:spPr>
            <a:xfrm>
              <a:off x="1143000" y="2524125"/>
              <a:ext cx="438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Eliminación de Simetría</a:t>
              </a:r>
              <a:endParaRPr b="1" sz="22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83" name="Google Shape;183;p18"/>
            <p:cNvSpPr txBox="1"/>
            <p:nvPr/>
          </p:nvSpPr>
          <p:spPr>
            <a:xfrm>
              <a:off x="1143000" y="3190875"/>
              <a:ext cx="4381500" cy="257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La primera decisión de diseño es </a:t>
              </a:r>
              <a:r>
                <a:rPr b="1" lang="en-US" sz="14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fijar implícitamente</a:t>
              </a:r>
              <a:r>
                <a:rPr lang="en-US" sz="14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 cada reina </a:t>
              </a:r>
              <a:r>
                <a:rPr i="1" lang="en-US" sz="14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i</a:t>
              </a:r>
              <a:r>
                <a:rPr lang="en-US" sz="14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 en la fila </a:t>
              </a:r>
              <a:r>
                <a:rPr i="1" lang="en-US" sz="14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i</a:t>
              </a:r>
              <a:r>
                <a:rPr lang="en-US" sz="14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Esto </a:t>
              </a:r>
              <a:r>
                <a:rPr b="1" lang="en-US" sz="1400">
                  <a:solidFill>
                    <a:srgbClr val="11CAA0"/>
                  </a:solidFill>
                  <a:latin typeface="DM Sans"/>
                  <a:ea typeface="DM Sans"/>
                  <a:cs typeface="DM Sans"/>
                  <a:sym typeface="DM Sans"/>
                </a:rPr>
                <a:t>elimina los conflictos de fila</a:t>
              </a:r>
              <a:r>
                <a:rPr lang="en-US" sz="14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 por construcción geométrica y reduce drásticamente el espacio de Hilbert a explorar, pasando de configuraciones arbitrarias a combinaciones puras de columnas.</a:t>
              </a:r>
              <a:endParaRPr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184" name="Google Shape;184;p18"/>
          <p:cNvGrpSpPr/>
          <p:nvPr/>
        </p:nvGrpSpPr>
        <p:grpSpPr>
          <a:xfrm>
            <a:off x="6286500" y="1428750"/>
            <a:ext cx="5143500" cy="4667400"/>
            <a:chOff x="6286500" y="1428750"/>
            <a:chExt cx="5143500" cy="4667400"/>
          </a:xfrm>
        </p:grpSpPr>
        <p:sp>
          <p:nvSpPr>
            <p:cNvPr id="185" name="Google Shape;185;p18"/>
            <p:cNvSpPr/>
            <p:nvPr/>
          </p:nvSpPr>
          <p:spPr>
            <a:xfrm>
              <a:off x="6286500" y="1428750"/>
              <a:ext cx="5143500" cy="4667400"/>
            </a:xfrm>
            <a:prstGeom prst="roundRect">
              <a:avLst>
                <a:gd fmla="val 3265" name="adj"/>
              </a:avLst>
            </a:prstGeom>
            <a:solidFill>
              <a:srgbClr val="FFFFFF"/>
            </a:solidFill>
            <a:ln cap="flat" cmpd="sng" w="14300">
              <a:solidFill>
                <a:srgbClr val="CDD6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8"/>
            <p:cNvSpPr txBox="1"/>
            <p:nvPr/>
          </p:nvSpPr>
          <p:spPr>
            <a:xfrm>
              <a:off x="6667500" y="1862328"/>
              <a:ext cx="571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sz="3600">
                <a:solidFill>
                  <a:srgbClr val="11CAA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87" name="Google Shape;187;p18"/>
            <p:cNvSpPr txBox="1"/>
            <p:nvPr/>
          </p:nvSpPr>
          <p:spPr>
            <a:xfrm>
              <a:off x="6667500" y="2524125"/>
              <a:ext cx="43815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Estado Compacto</a:t>
              </a:r>
              <a:endParaRPr b="1" sz="22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188" name="Google Shape;188;p18"/>
            <p:cNvSpPr txBox="1"/>
            <p:nvPr/>
          </p:nvSpPr>
          <p:spPr>
            <a:xfrm>
              <a:off x="6667500" y="3190875"/>
              <a:ext cx="43815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A diferencia del mapeo espacial común (1 qubit por casillero = N² qubits), aquí la columna de la reina </a:t>
              </a:r>
              <a:r>
                <a:rPr i="1" lang="en-US" sz="14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i</a:t>
              </a:r>
              <a:r>
                <a:rPr lang="en-US" sz="14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 se codifica directamente en binario.</a:t>
              </a:r>
              <a:endParaRPr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pic>
        <p:nvPicPr>
          <p:cNvPr id="189" name="Google Shape;189;p18"/>
          <p:cNvPicPr preferRelativeResize="0"/>
          <p:nvPr/>
        </p:nvPicPr>
        <p:blipFill rotWithShape="1">
          <a:blip r:embed="rId3">
            <a:alphaModFix/>
          </a:blip>
          <a:srcRect b="661" l="0" r="0" t="661"/>
          <a:stretch/>
        </p:blipFill>
        <p:spPr>
          <a:xfrm>
            <a:off x="6667500" y="4429125"/>
            <a:ext cx="3381300" cy="29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8"/>
          <p:cNvSpPr txBox="1"/>
          <p:nvPr/>
        </p:nvSpPr>
        <p:spPr>
          <a:xfrm>
            <a:off x="6667500" y="5000625"/>
            <a:ext cx="4381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Total de estado requerido para el circuito:</a:t>
            </a:r>
            <a:br>
              <a:rPr lang="en-US" sz="15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b="1" lang="en-US" sz="18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n = N × k</a:t>
            </a:r>
            <a:r>
              <a:rPr lang="en-US" sz="15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qubits.</a:t>
            </a:r>
            <a:endParaRPr sz="150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9"/>
          <p:cNvSpPr txBox="1"/>
          <p:nvPr/>
        </p:nvSpPr>
        <p:spPr>
          <a:xfrm>
            <a:off x="571500" y="14859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El circuito requiere qubits de estado (posiciones), qubits auxiliares (flags) para verificar colisiones, y un flag de rango para tableros donde N no es potencia de 2.</a:t>
            </a:r>
            <a:endParaRPr/>
          </a:p>
        </p:txBody>
      </p:sp>
      <p:sp>
        <p:nvSpPr>
          <p:cNvPr id="196" name="Google Shape;196;p19"/>
          <p:cNvSpPr/>
          <p:nvPr/>
        </p:nvSpPr>
        <p:spPr>
          <a:xfrm>
            <a:off x="571500" y="2486025"/>
            <a:ext cx="11049000" cy="3095625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7" name="Google Shape;197;p19"/>
          <p:cNvGraphicFramePr/>
          <p:nvPr/>
        </p:nvGraphicFramePr>
        <p:xfrm>
          <a:off x="571500" y="24860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{438C2EED-53E5-4F51-AA09-BCD89966A08B}</a:tableStyleId>
              </a:tblPr>
              <a:tblGrid>
                <a:gridCol w="1594100"/>
                <a:gridCol w="1845625"/>
                <a:gridCol w="1616575"/>
                <a:gridCol w="1711825"/>
                <a:gridCol w="1902775"/>
                <a:gridCol w="2378125"/>
              </a:tblGrid>
              <a:tr h="773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 (Reinas)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Qubits Estado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Flags Pares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Flags Rango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Qubits Totales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F3F0D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Soluciones Clásicas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5088"/>
                    </a:solidFill>
                  </a:tcPr>
                </a:tc>
              </a:tr>
              <a:tr h="773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8 (k=2)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3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15 (k=3)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73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18 (k=3)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1E293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8" name="Google Shape;198;p19"/>
          <p:cNvSpPr/>
          <p:nvPr/>
        </p:nvSpPr>
        <p:spPr>
          <a:xfrm>
            <a:off x="571500" y="3433762"/>
            <a:ext cx="15940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2165598" y="3433762"/>
            <a:ext cx="18456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4011215" y="3433762"/>
            <a:ext cx="16165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5627786" y="3433762"/>
            <a:ext cx="17118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7339607" y="3433762"/>
            <a:ext cx="19027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9242375" y="3433762"/>
            <a:ext cx="23781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/>
          <p:nvPr/>
        </p:nvSpPr>
        <p:spPr>
          <a:xfrm>
            <a:off x="571500" y="4148137"/>
            <a:ext cx="15940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9"/>
          <p:cNvSpPr/>
          <p:nvPr/>
        </p:nvSpPr>
        <p:spPr>
          <a:xfrm>
            <a:off x="2165598" y="4148137"/>
            <a:ext cx="18456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9"/>
          <p:cNvSpPr/>
          <p:nvPr/>
        </p:nvSpPr>
        <p:spPr>
          <a:xfrm>
            <a:off x="4011215" y="4148137"/>
            <a:ext cx="16165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9"/>
          <p:cNvSpPr/>
          <p:nvPr/>
        </p:nvSpPr>
        <p:spPr>
          <a:xfrm>
            <a:off x="5627786" y="4148137"/>
            <a:ext cx="17118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9"/>
          <p:cNvSpPr/>
          <p:nvPr/>
        </p:nvSpPr>
        <p:spPr>
          <a:xfrm>
            <a:off x="7339607" y="4148137"/>
            <a:ext cx="19027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9242375" y="4148137"/>
            <a:ext cx="23781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/>
          <p:nvPr/>
        </p:nvSpPr>
        <p:spPr>
          <a:xfrm>
            <a:off x="571500" y="4862512"/>
            <a:ext cx="159409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2165598" y="4862512"/>
            <a:ext cx="184561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4011215" y="4862512"/>
            <a:ext cx="161657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5627786" y="4862512"/>
            <a:ext cx="17118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7339607" y="4862512"/>
            <a:ext cx="19027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9242375" y="4862512"/>
            <a:ext cx="237812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Requerimientos de Recursos por Tablero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0"/>
          <p:cNvSpPr txBox="1"/>
          <p:nvPr/>
        </p:nvSpPr>
        <p:spPr>
          <a:xfrm>
            <a:off x="571500" y="571500"/>
            <a:ext cx="11601600" cy="5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Diseño Modular del Oráculo</a:t>
            </a:r>
            <a:endParaRPr b="1" sz="3375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222" name="Google Shape;222;p20"/>
          <p:cNvGrpSpPr/>
          <p:nvPr/>
        </p:nvGrpSpPr>
        <p:grpSpPr>
          <a:xfrm>
            <a:off x="571500" y="1524000"/>
            <a:ext cx="3429000" cy="4476900"/>
            <a:chOff x="571500" y="1524000"/>
            <a:chExt cx="3429000" cy="4476900"/>
          </a:xfrm>
        </p:grpSpPr>
        <p:sp>
          <p:nvSpPr>
            <p:cNvPr id="223" name="Google Shape;223;p20"/>
            <p:cNvSpPr/>
            <p:nvPr/>
          </p:nvSpPr>
          <p:spPr>
            <a:xfrm>
              <a:off x="571500" y="1524000"/>
              <a:ext cx="3429000" cy="44769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CDD6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20"/>
            <p:cNvSpPr txBox="1"/>
            <p:nvPr/>
          </p:nvSpPr>
          <p:spPr>
            <a:xfrm>
              <a:off x="857250" y="1809750"/>
              <a:ext cx="28575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memory</a:t>
              </a:r>
              <a:endParaRPr sz="3600">
                <a:solidFill>
                  <a:srgbClr val="11CAA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1. Compute</a:t>
              </a:r>
              <a:endParaRPr b="1" sz="20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Verifica restricciones para cada par de reinas. Voltea un qubit </a:t>
              </a:r>
              <a:r>
                <a:rPr i="1" lang="en-US" sz="135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flag</a:t>
              </a:r>
              <a:r>
                <a:rPr lang="en-US" sz="135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 auxiliar si detecta que comparten columna o se encuentran en la misma diagonal.</a:t>
              </a:r>
              <a:endParaRPr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25" name="Google Shape;225;p20"/>
          <p:cNvGrpSpPr/>
          <p:nvPr/>
        </p:nvGrpSpPr>
        <p:grpSpPr>
          <a:xfrm>
            <a:off x="4381500" y="1524000"/>
            <a:ext cx="3429000" cy="4476900"/>
            <a:chOff x="4381500" y="1524000"/>
            <a:chExt cx="3429000" cy="4476900"/>
          </a:xfrm>
        </p:grpSpPr>
        <p:sp>
          <p:nvSpPr>
            <p:cNvPr id="226" name="Google Shape;226;p20"/>
            <p:cNvSpPr/>
            <p:nvPr/>
          </p:nvSpPr>
          <p:spPr>
            <a:xfrm>
              <a:off x="4381500" y="1524000"/>
              <a:ext cx="3429000" cy="44769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CDD6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20"/>
            <p:cNvSpPr txBox="1"/>
            <p:nvPr/>
          </p:nvSpPr>
          <p:spPr>
            <a:xfrm>
              <a:off x="4667250" y="1809750"/>
              <a:ext cx="28575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bolt</a:t>
              </a:r>
              <a:endParaRPr sz="3600">
                <a:solidFill>
                  <a:srgbClr val="11CAA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2. Phase Flip</a:t>
              </a:r>
              <a:endParaRPr b="1" sz="20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Se aplica una fase condicional de -1 exclusivamente si </a:t>
              </a:r>
              <a:r>
                <a:rPr b="1" lang="en-US" sz="135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todos</a:t>
              </a:r>
              <a:r>
                <a:rPr lang="en-US" sz="135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 los flags permanecen en 0 (indicando ausencia total de conflictos y estado válido).</a:t>
              </a:r>
              <a:endParaRPr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  <p:grpSp>
        <p:nvGrpSpPr>
          <p:cNvPr id="228" name="Google Shape;228;p20"/>
          <p:cNvGrpSpPr/>
          <p:nvPr/>
        </p:nvGrpSpPr>
        <p:grpSpPr>
          <a:xfrm>
            <a:off x="8191500" y="1524000"/>
            <a:ext cx="3429000" cy="4476900"/>
            <a:chOff x="8191500" y="1524000"/>
            <a:chExt cx="3429000" cy="4476900"/>
          </a:xfrm>
        </p:grpSpPr>
        <p:sp>
          <p:nvSpPr>
            <p:cNvPr id="229" name="Google Shape;229;p20"/>
            <p:cNvSpPr/>
            <p:nvPr/>
          </p:nvSpPr>
          <p:spPr>
            <a:xfrm>
              <a:off x="8191500" y="1524000"/>
              <a:ext cx="3429000" cy="44769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14300">
              <a:solidFill>
                <a:srgbClr val="CDD6E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0"/>
            <p:cNvSpPr txBox="1"/>
            <p:nvPr/>
          </p:nvSpPr>
          <p:spPr>
            <a:xfrm>
              <a:off x="8477250" y="1809750"/>
              <a:ext cx="2857500" cy="390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11CAA0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settings_backup_restore</a:t>
              </a:r>
              <a:endParaRPr sz="3600">
                <a:solidFill>
                  <a:srgbClr val="11CAA0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3. Uncompute</a:t>
              </a:r>
              <a:endParaRPr b="1" sz="20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Deshace las operaciones lógicas de la primera etapa para restaurar los qubits ancilla (flags) al estado |0⟩, garantizando que el oráculo sea unitario.</a:t>
              </a:r>
              <a:endParaRPr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/>
          <p:nvPr/>
        </p:nvSpPr>
        <p:spPr>
          <a:xfrm>
            <a:off x="571500" y="571500"/>
            <a:ext cx="1104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Lógica Interna: Detección de Conflictos</a:t>
            </a:r>
            <a:endParaRPr b="1" sz="320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6" name="Google Shape;236;p21"/>
          <p:cNvSpPr/>
          <p:nvPr/>
        </p:nvSpPr>
        <p:spPr>
          <a:xfrm>
            <a:off x="6286500" y="1809750"/>
            <a:ext cx="5334000" cy="4000500"/>
          </a:xfrm>
          <a:prstGeom prst="roundRect">
            <a:avLst>
              <a:gd fmla="val 3809" name="adj"/>
            </a:avLst>
          </a:prstGeom>
          <a:solidFill>
            <a:srgbClr val="FFFFFF"/>
          </a:solidFill>
          <a:ln cap="flat" cmpd="sng" w="14300">
            <a:solidFill>
              <a:srgbClr val="CDD6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571500" y="1190625"/>
            <a:ext cx="1104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La función </a:t>
            </a:r>
            <a:r>
              <a:rPr b="1" i="1" lang="en-US" sz="18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match_pattern</a:t>
            </a:r>
            <a:endParaRPr b="1" sz="180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38" name="Google Shape;238;p21"/>
          <p:cNvSpPr txBox="1"/>
          <p:nvPr/>
        </p:nvSpPr>
        <p:spPr>
          <a:xfrm>
            <a:off x="6572250" y="2047875"/>
            <a:ext cx="4762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Lógica Cuántica Simplificada</a:t>
            </a:r>
            <a:endParaRPr b="1" sz="160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39" name="Google Shape;23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2475" y="2095500"/>
            <a:ext cx="192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21"/>
          <p:cNvPicPr preferRelativeResize="0"/>
          <p:nvPr/>
        </p:nvPicPr>
        <p:blipFill rotWithShape="1">
          <a:blip r:embed="rId4">
            <a:alphaModFix/>
          </a:blip>
          <a:srcRect b="229" l="0" r="0" t="239"/>
          <a:stretch/>
        </p:blipFill>
        <p:spPr>
          <a:xfrm>
            <a:off x="6381750" y="3190875"/>
            <a:ext cx="5143500" cy="2333700"/>
          </a:xfrm>
          <a:prstGeom prst="roundRect">
            <a:avLst>
              <a:gd fmla="val 3265" name="adj"/>
            </a:avLst>
          </a:prstGeom>
          <a:noFill/>
          <a:ln>
            <a:noFill/>
          </a:ln>
        </p:spPr>
      </p:pic>
      <p:sp>
        <p:nvSpPr>
          <p:cNvPr id="241" name="Google Shape;241;p21"/>
          <p:cNvSpPr/>
          <p:nvPr/>
        </p:nvSpPr>
        <p:spPr>
          <a:xfrm>
            <a:off x="590550" y="1924050"/>
            <a:ext cx="342900" cy="342900"/>
          </a:xfrm>
          <a:prstGeom prst="ellipse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"/>
          <p:cNvSpPr/>
          <p:nvPr/>
        </p:nvSpPr>
        <p:spPr>
          <a:xfrm>
            <a:off x="590550" y="3162300"/>
            <a:ext cx="342900" cy="342900"/>
          </a:xfrm>
          <a:prstGeom prst="ellipse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590550" y="4400550"/>
            <a:ext cx="342900" cy="342900"/>
          </a:xfrm>
          <a:prstGeom prst="ellipse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590550" y="1924050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b="1" sz="1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5" name="Google Shape;245;p21"/>
          <p:cNvSpPr txBox="1"/>
          <p:nvPr/>
        </p:nvSpPr>
        <p:spPr>
          <a:xfrm>
            <a:off x="590550" y="3162300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endParaRPr b="1" sz="1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6" name="Google Shape;246;p21"/>
          <p:cNvSpPr txBox="1"/>
          <p:nvPr/>
        </p:nvSpPr>
        <p:spPr>
          <a:xfrm>
            <a:off x="590550" y="4400550"/>
            <a:ext cx="342900" cy="34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  <a:endParaRPr b="1" sz="14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7" name="Google Shape;247;p21"/>
          <p:cNvSpPr txBox="1"/>
          <p:nvPr/>
        </p:nvSpPr>
        <p:spPr>
          <a:xfrm>
            <a:off x="1143000" y="1809750"/>
            <a:ext cx="4572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95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Detección sin Aritmética</a:t>
            </a:r>
            <a:endParaRPr b="1" sz="1295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95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Para detectar colisiones sin operaciones aritméticas complejas, se enumeran explícitamente los patrones binarios conflictivos.</a:t>
            </a:r>
            <a:endParaRPr sz="1295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8" name="Google Shape;248;p21"/>
          <p:cNvSpPr txBox="1"/>
          <p:nvPr/>
        </p:nvSpPr>
        <p:spPr>
          <a:xfrm>
            <a:off x="1143000" y="3048000"/>
            <a:ext cx="45720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Filtro de Bits con Compuertas X</a:t>
            </a:r>
            <a:endParaRPr b="1" sz="14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Dado un registro de </a:t>
            </a:r>
            <a:r>
              <a:rPr i="1" lang="en-US"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k</a:t>
            </a:r>
            <a:r>
              <a:rPr lang="en-US"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qubits y un valor objetivo </a:t>
            </a:r>
            <a:r>
              <a:rPr i="1" lang="en-US"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, se aplican compuertas </a:t>
            </a:r>
            <a:r>
              <a:rPr b="1" lang="en-US"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X</a:t>
            </a:r>
            <a:r>
              <a:rPr lang="en-US"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a cada qubit cuyo bit en </a:t>
            </a:r>
            <a:r>
              <a:rPr i="1" lang="en-US"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es 0.</a:t>
            </a:r>
            <a:endParaRPr sz="140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49" name="Google Shape;249;p21"/>
          <p:cNvSpPr txBox="1"/>
          <p:nvPr/>
        </p:nvSpPr>
        <p:spPr>
          <a:xfrm>
            <a:off x="1143000" y="4238625"/>
            <a:ext cx="4572000" cy="1047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Activación del Flag de Conflicto</a:t>
            </a:r>
            <a:endParaRPr b="1" sz="14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Esto convierte el estado en |11...1⟩, permitiendo usar una compuerta </a:t>
            </a:r>
            <a:r>
              <a:rPr b="1" lang="en-US"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MCX</a:t>
            </a:r>
            <a:r>
              <a:rPr lang="en-US" sz="14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(Toffoli Generalizada) para activar el flag de conflicto.</a:t>
            </a:r>
            <a:endParaRPr sz="140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"/>
          <p:cNvSpPr/>
          <p:nvPr/>
        </p:nvSpPr>
        <p:spPr>
          <a:xfrm>
            <a:off x="6191250" y="1333500"/>
            <a:ext cx="5429400" cy="4876800"/>
          </a:xfrm>
          <a:prstGeom prst="roundRect">
            <a:avLst>
              <a:gd fmla="val 312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2"/>
          <p:cNvSpPr txBox="1"/>
          <p:nvPr/>
        </p:nvSpPr>
        <p:spPr>
          <a:xfrm>
            <a:off x="571500" y="1333500"/>
            <a:ext cx="51435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La estrategia de </a:t>
            </a:r>
            <a:r>
              <a:rPr b="1" i="1" lang="en-US" sz="140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match_pattern</a:t>
            </a:r>
            <a:r>
              <a:rPr b="0" lang="en-US"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minimiza los requisitos de qubits auxiliares operando </a:t>
            </a:r>
            <a:r>
              <a:rPr b="1" i="1" lang="en-US" sz="140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in-place</a:t>
            </a:r>
            <a:r>
              <a:rPr b="0" lang="en-US" sz="14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, pero incrementa significativamente la profundidad del circuito.</a:t>
            </a:r>
            <a:endParaRPr b="0" sz="14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56" name="Google Shape;256;p22"/>
          <p:cNvSpPr txBox="1"/>
          <p:nvPr/>
        </p:nvSpPr>
        <p:spPr>
          <a:xfrm>
            <a:off x="6477000" y="1619250"/>
            <a:ext cx="48579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Circuito de Detección (match_pattern)</a:t>
            </a:r>
            <a:endParaRPr b="1" sz="1600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7" name="Google Shape;257;p22"/>
          <p:cNvSpPr/>
          <p:nvPr/>
        </p:nvSpPr>
        <p:spPr>
          <a:xfrm>
            <a:off x="571500" y="2333625"/>
            <a:ext cx="5143500" cy="609600"/>
          </a:xfrm>
          <a:prstGeom prst="roundRect">
            <a:avLst>
              <a:gd fmla="val 12500" name="adj"/>
            </a:avLst>
          </a:prstGeom>
          <a:solidFill>
            <a:srgbClr val="003F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571500" y="3086100"/>
            <a:ext cx="5143500" cy="609600"/>
          </a:xfrm>
          <a:prstGeom prst="roundRect">
            <a:avLst>
              <a:gd fmla="val 12500" name="adj"/>
            </a:avLst>
          </a:prstGeom>
          <a:solidFill>
            <a:srgbClr val="003F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571500" y="3838575"/>
            <a:ext cx="5143500" cy="609600"/>
          </a:xfrm>
          <a:prstGeom prst="roundRect">
            <a:avLst>
              <a:gd fmla="val 12500" name="adj"/>
            </a:avLst>
          </a:prstGeom>
          <a:solidFill>
            <a:srgbClr val="003F6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2"/>
          <p:cNvSpPr/>
          <p:nvPr/>
        </p:nvSpPr>
        <p:spPr>
          <a:xfrm>
            <a:off x="571500" y="4591050"/>
            <a:ext cx="5143500" cy="1619100"/>
          </a:xfrm>
          <a:prstGeom prst="roundRect">
            <a:avLst>
              <a:gd fmla="val 7058" name="adj"/>
            </a:avLst>
          </a:prstGeom>
          <a:solidFill>
            <a:srgbClr val="161E2E"/>
          </a:solidFill>
          <a:ln cap="flat" cmpd="sng" w="14300">
            <a:solidFill>
              <a:srgbClr val="FF6B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2"/>
          <p:cNvPicPr preferRelativeResize="0"/>
          <p:nvPr/>
        </p:nvPicPr>
        <p:blipFill rotWithShape="1">
          <a:blip r:embed="rId3">
            <a:alphaModFix/>
          </a:blip>
          <a:srcRect b="209" l="0" r="0" t="209"/>
          <a:stretch/>
        </p:blipFill>
        <p:spPr>
          <a:xfrm>
            <a:off x="6286500" y="2143125"/>
            <a:ext cx="5238900" cy="3571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/>
          <p:cNvSpPr/>
          <p:nvPr/>
        </p:nvSpPr>
        <p:spPr>
          <a:xfrm>
            <a:off x="571500" y="2333625"/>
            <a:ext cx="38100" cy="6096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571500" y="3086100"/>
            <a:ext cx="38100" cy="6096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2"/>
          <p:cNvSpPr/>
          <p:nvPr/>
        </p:nvSpPr>
        <p:spPr>
          <a:xfrm>
            <a:off x="571500" y="3838575"/>
            <a:ext cx="38100" cy="6096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800100" y="4591050"/>
            <a:ext cx="46863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8F8F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warning</a:t>
            </a:r>
            <a:r>
              <a:rPr b="1" lang="en-US" sz="1100">
                <a:solidFill>
                  <a:srgbClr val="FF8F8F"/>
                </a:solidFill>
                <a:latin typeface="DM Sans"/>
                <a:ea typeface="DM Sans"/>
                <a:cs typeface="DM Sans"/>
                <a:sym typeface="DM Sans"/>
              </a:rPr>
              <a:t>Explosión de Complejidad</a:t>
            </a:r>
            <a:endParaRPr b="1" sz="1100">
              <a:solidFill>
                <a:srgbClr val="FF8F8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Para </a:t>
            </a: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N=4</a:t>
            </a:r>
            <a:r>
              <a:rPr b="0" lang="en-US" sz="130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, el circuito alcanza </a:t>
            </a:r>
            <a:r>
              <a:rPr b="1" lang="en-US" sz="1300">
                <a:solidFill>
                  <a:srgbClr val="FF6B6B"/>
                </a:solidFill>
                <a:latin typeface="DM Sans"/>
                <a:ea typeface="DM Sans"/>
                <a:cs typeface="DM Sans"/>
                <a:sym typeface="DM Sans"/>
              </a:rPr>
              <a:t>~41,000</a:t>
            </a:r>
            <a:r>
              <a:rPr b="0" lang="en-US" sz="130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 compuertas elementales.</a:t>
            </a:r>
            <a:endParaRPr b="0" sz="1300">
              <a:solidFill>
                <a:srgbClr val="E2E8F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Para </a:t>
            </a:r>
            <a:r>
              <a:rPr b="1" lang="en-US" sz="1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N=5</a:t>
            </a:r>
            <a:r>
              <a:rPr b="0" lang="en-US" sz="130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, supera las </a:t>
            </a:r>
            <a:r>
              <a:rPr b="1" lang="en-US" sz="1300">
                <a:solidFill>
                  <a:srgbClr val="FF6B6B"/>
                </a:solidFill>
                <a:latin typeface="DM Sans"/>
                <a:ea typeface="DM Sans"/>
                <a:cs typeface="DM Sans"/>
                <a:sym typeface="DM Sans"/>
              </a:rPr>
              <a:t>600,000</a:t>
            </a:r>
            <a:r>
              <a:rPr b="0" lang="en-US" sz="1300">
                <a:solidFill>
                  <a:srgbClr val="E2E8F0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b="0" sz="1300">
              <a:solidFill>
                <a:srgbClr val="E2E8F0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6" name="Google Shape;266;p22"/>
          <p:cNvSpPr txBox="1"/>
          <p:nvPr/>
        </p:nvSpPr>
        <p:spPr>
          <a:xfrm>
            <a:off x="762000" y="2333625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8AB4F8"/>
                </a:solidFill>
                <a:latin typeface="DM Sans"/>
                <a:ea typeface="DM Sans"/>
                <a:cs typeface="DM Sans"/>
                <a:sym typeface="DM Sans"/>
              </a:rPr>
              <a:t>Pares posibles</a:t>
            </a:r>
            <a:endParaRPr b="1" sz="1000">
              <a:solidFill>
                <a:srgbClr val="8AB4F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O(N²)</a:t>
            </a:r>
            <a:endParaRPr b="1" sz="15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7" name="Google Shape;267;p22"/>
          <p:cNvSpPr txBox="1"/>
          <p:nvPr/>
        </p:nvSpPr>
        <p:spPr>
          <a:xfrm>
            <a:off x="762000" y="30861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8AB4F8"/>
                </a:solidFill>
                <a:latin typeface="DM Sans"/>
                <a:ea typeface="DM Sans"/>
                <a:cs typeface="DM Sans"/>
                <a:sym typeface="DM Sans"/>
              </a:rPr>
              <a:t>Comprobaciones por par</a:t>
            </a:r>
            <a:endParaRPr b="1" sz="1000">
              <a:solidFill>
                <a:srgbClr val="8AB4F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O(N)</a:t>
            </a:r>
            <a:endParaRPr b="1" sz="15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8" name="Google Shape;268;p22"/>
          <p:cNvSpPr txBox="1"/>
          <p:nvPr/>
        </p:nvSpPr>
        <p:spPr>
          <a:xfrm>
            <a:off x="762000" y="3838575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8AB4F8"/>
                </a:solidFill>
                <a:latin typeface="DM Sans"/>
                <a:ea typeface="DM Sans"/>
                <a:cs typeface="DM Sans"/>
                <a:sym typeface="DM Sans"/>
              </a:rPr>
              <a:t>Compuertas MCX necesarias</a:t>
            </a:r>
            <a:endParaRPr b="1" sz="1000">
              <a:solidFill>
                <a:srgbClr val="8AB4F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5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Escalan en O(N³)</a:t>
            </a:r>
            <a:endParaRPr b="1" sz="15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69" name="Google Shape;269;p22"/>
          <p:cNvSpPr txBox="1"/>
          <p:nvPr/>
        </p:nvSpPr>
        <p:spPr>
          <a:xfrm>
            <a:off x="571500" y="571500"/>
            <a:ext cx="11601600" cy="5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Complejidad y Compuertas</a:t>
            </a:r>
            <a:endParaRPr b="1" sz="3375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4" name="Google Shape;2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67000"/>
            <a:ext cx="5334000" cy="3552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5" name="Google Shape;27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667000"/>
            <a:ext cx="5334000" cy="355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3"/>
          <p:cNvSpPr txBox="1"/>
          <p:nvPr/>
        </p:nvSpPr>
        <p:spPr>
          <a:xfrm>
            <a:off x="1333500" y="1485900"/>
            <a:ext cx="9525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Tras el oráculo, el operador de difusión amplifica la probabilidad de los estados solución.</a:t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2333386" y="3971925"/>
            <a:ext cx="181022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Atenuación</a:t>
            </a:r>
            <a:endParaRPr/>
          </a:p>
        </p:txBody>
      </p:sp>
      <p:sp>
        <p:nvSpPr>
          <p:cNvPr id="278" name="Google Shape;278;p23"/>
          <p:cNvSpPr txBox="1"/>
          <p:nvPr/>
        </p:nvSpPr>
        <p:spPr>
          <a:xfrm>
            <a:off x="866775" y="4543425"/>
            <a:ext cx="4743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Los estados inválidos, que no recibieron la fase negativa del oráculo, poseen amplitudes por encima de la media disminuida, por lo que son empujados hacia cero.</a:t>
            </a: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7848361" y="3971925"/>
            <a:ext cx="2210276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Amplificación</a:t>
            </a:r>
            <a:endParaRPr/>
          </a:p>
        </p:txBody>
      </p:sp>
      <p:sp>
        <p:nvSpPr>
          <p:cNvPr id="280" name="Google Shape;280;p23"/>
          <p:cNvSpPr txBox="1"/>
          <p:nvPr/>
        </p:nvSpPr>
        <p:spPr>
          <a:xfrm>
            <a:off x="6581775" y="4543425"/>
            <a:ext cx="4743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Las soluciones (amplitudes negativas) se "reflejan" sobre la media positiva, convirtiéndose en picos masivos de probabilidad en el espacio de estados.</a:t>
            </a:r>
            <a:endParaRPr/>
          </a:p>
        </p:txBody>
      </p:sp>
      <p:pic>
        <p:nvPicPr>
          <p:cNvPr descr="image.png" id="281" name="Google Shape;281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47987" y="3124200"/>
            <a:ext cx="5810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2987" y="3124200"/>
            <a:ext cx="581025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El Difusor: Inversión sobre la Media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4"/>
          <p:cNvSpPr txBox="1"/>
          <p:nvPr/>
        </p:nvSpPr>
        <p:spPr>
          <a:xfrm>
            <a:off x="571500" y="571500"/>
            <a:ext cx="11049000" cy="533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Resultados (N=4): Ejecución Completa</a:t>
            </a:r>
            <a:endParaRPr b="1" sz="3375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89" name="Google Shape;289;p24"/>
          <p:cNvSpPr txBox="1"/>
          <p:nvPr/>
        </p:nvSpPr>
        <p:spPr>
          <a:xfrm>
            <a:off x="571500" y="1238250"/>
            <a:ext cx="11049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Distribución de probabilidad tras 8 iteraciones óptimas de Grover, simulado mediante Statevector con 4096 shots (14 Qubits en total).</a:t>
            </a:r>
            <a:endParaRPr b="0" sz="1500">
              <a:solidFill>
                <a:srgbClr val="334155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90" name="Google Shape;290;p24"/>
          <p:cNvSpPr/>
          <p:nvPr/>
        </p:nvSpPr>
        <p:spPr>
          <a:xfrm>
            <a:off x="571500" y="1905000"/>
            <a:ext cx="6477000" cy="4381500"/>
          </a:xfrm>
          <a:prstGeom prst="roundRect">
            <a:avLst>
              <a:gd fmla="val 50000" name="adj"/>
            </a:avLst>
          </a:prstGeom>
          <a:solidFill>
            <a:srgbClr val="161E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4"/>
          <p:cNvSpPr/>
          <p:nvPr/>
        </p:nvSpPr>
        <p:spPr>
          <a:xfrm>
            <a:off x="571500" y="3637150"/>
            <a:ext cx="76200" cy="806700"/>
          </a:xfrm>
          <a:prstGeom prst="roundRect">
            <a:avLst>
              <a:gd fmla="val 0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952500" y="2571750"/>
            <a:ext cx="5715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11CAA0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bar_chart</a:t>
            </a:r>
            <a:r>
              <a:rPr b="1" lang="en-US" sz="16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Resultados de la Simulación (Frecuencia)</a:t>
            </a:r>
            <a:endParaRPr b="1" sz="16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293" name="Google Shape;293;p24"/>
          <p:cNvPicPr preferRelativeResize="0"/>
          <p:nvPr/>
        </p:nvPicPr>
        <p:blipFill rotWithShape="1">
          <a:blip r:embed="rId3">
            <a:alphaModFix/>
          </a:blip>
          <a:srcRect b="0" l="60" r="60" t="0"/>
          <a:stretch/>
        </p:blipFill>
        <p:spPr>
          <a:xfrm>
            <a:off x="952500" y="3210950"/>
            <a:ext cx="5715000" cy="2486100"/>
          </a:xfrm>
          <a:prstGeom prst="roundRect">
            <a:avLst>
              <a:gd fmla="val 3065" name="adj"/>
            </a:avLst>
          </a:prstGeom>
          <a:noFill/>
          <a:ln>
            <a:noFill/>
          </a:ln>
        </p:spPr>
      </p:pic>
      <p:sp>
        <p:nvSpPr>
          <p:cNvPr id="294" name="Google Shape;294;p24"/>
          <p:cNvSpPr/>
          <p:nvPr/>
        </p:nvSpPr>
        <p:spPr>
          <a:xfrm>
            <a:off x="7334250" y="1905000"/>
            <a:ext cx="4286400" cy="4381500"/>
          </a:xfrm>
          <a:prstGeom prst="roundRect">
            <a:avLst>
              <a:gd fmla="val 3555" name="adj"/>
            </a:avLst>
          </a:prstGeom>
          <a:solidFill>
            <a:srgbClr val="161E2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7334250" y="1905000"/>
            <a:ext cx="76200" cy="43815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4"/>
          <p:cNvSpPr txBox="1"/>
          <p:nvPr/>
        </p:nvSpPr>
        <p:spPr>
          <a:xfrm>
            <a:off x="7715250" y="2286000"/>
            <a:ext cx="3524400" cy="3619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8AB4F8"/>
                </a:solidFill>
                <a:latin typeface="DM Sans"/>
                <a:ea typeface="DM Sans"/>
                <a:cs typeface="DM Sans"/>
                <a:sym typeface="DM Sans"/>
              </a:rPr>
              <a:t>Métrica Clave</a:t>
            </a:r>
            <a:endParaRPr b="1" sz="1100">
              <a:solidFill>
                <a:srgbClr val="8AB4F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5600">
                <a:solidFill>
                  <a:srgbClr val="11CAA0"/>
                </a:solidFill>
                <a:latin typeface="Merriweather"/>
                <a:ea typeface="Merriweather"/>
                <a:cs typeface="Merriweather"/>
                <a:sym typeface="Merriweather"/>
              </a:rPr>
              <a:t>99.2%</a:t>
            </a:r>
            <a:endParaRPr b="1" sz="5600">
              <a:solidFill>
                <a:srgbClr val="11CAA0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Probabilidad de medir una solución válida</a:t>
            </a:r>
            <a:endParaRPr b="1" sz="18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La simulación cuántica demuestra una concentración de probabilidad casi absoluta en las soluciones válidas tras el proceso de amplificación de amplitud.</a:t>
            </a:r>
            <a:endParaRPr b="0" sz="1300">
              <a:solidFill>
                <a:srgbClr val="CBD5E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1" name="Google Shape;30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43150"/>
            <a:ext cx="5286375" cy="3562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2" name="Google Shape;30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43150"/>
            <a:ext cx="5286375" cy="35623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 txBox="1"/>
          <p:nvPr/>
        </p:nvSpPr>
        <p:spPr>
          <a:xfrm>
            <a:off x="571500" y="1485900"/>
            <a:ext cx="11049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Debido a la profundidad del algoritmo completo (~44 iteraciones, ~600k compuertas, 30 Qubits), se validó el oráculo de forma estática (Matrix Product State).</a:t>
            </a:r>
            <a:endParaRPr/>
          </a:p>
        </p:txBody>
      </p:sp>
      <p:sp>
        <p:nvSpPr>
          <p:cNvPr id="304" name="Google Shape;304;p25"/>
          <p:cNvSpPr txBox="1"/>
          <p:nvPr/>
        </p:nvSpPr>
        <p:spPr>
          <a:xfrm>
            <a:off x="962025" y="2771775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Pruebas Positivas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962025" y="3343275"/>
            <a:ext cx="45053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Se introdujeron las 10 soluciones clásicas conocidas (ej. [0, 2, 4, 1, 3]).</a:t>
            </a:r>
            <a:endParaRPr/>
          </a:p>
        </p:txBody>
      </p:sp>
      <p:sp>
        <p:nvSpPr>
          <p:cNvPr id="306" name="Google Shape;306;p25"/>
          <p:cNvSpPr txBox="1"/>
          <p:nvPr/>
        </p:nvSpPr>
        <p:spPr>
          <a:xfrm>
            <a:off x="962025" y="4057650"/>
            <a:ext cx="45053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Resultado: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En el 100% de los casos, la simulación arrojó 0 flags activos, confirmando que la lógica de </a:t>
            </a:r>
            <a:r>
              <a:rPr b="0" i="1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Compute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reconoce configuraciones libres de colisión.</a:t>
            </a:r>
            <a:endParaRPr/>
          </a:p>
        </p:txBody>
      </p:sp>
      <p:sp>
        <p:nvSpPr>
          <p:cNvPr id="307" name="Google Shape;307;p25"/>
          <p:cNvSpPr txBox="1"/>
          <p:nvPr/>
        </p:nvSpPr>
        <p:spPr>
          <a:xfrm>
            <a:off x="6724650" y="2771775"/>
            <a:ext cx="4730591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Pruebas Negativas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6724650" y="3343275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Se testearon vectores con conflictos específicos:</a:t>
            </a:r>
            <a:endParaRPr/>
          </a:p>
        </p:txBody>
      </p:sp>
      <p:sp>
        <p:nvSpPr>
          <p:cNvPr id="309" name="Google Shape;309;p25"/>
          <p:cNvSpPr txBox="1"/>
          <p:nvPr/>
        </p:nvSpPr>
        <p:spPr>
          <a:xfrm>
            <a:off x="6724650" y="5086350"/>
            <a:ext cx="45053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Resultado:</a:t>
            </a: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 Todos rechazados (Flags &gt; 0).</a:t>
            </a:r>
            <a:endParaRPr/>
          </a:p>
        </p:txBody>
      </p:sp>
      <p:sp>
        <p:nvSpPr>
          <p:cNvPr id="310" name="Google Shape;310;p25"/>
          <p:cNvSpPr txBox="1"/>
          <p:nvPr/>
        </p:nvSpPr>
        <p:spPr>
          <a:xfrm>
            <a:off x="6848475" y="380047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6915150" y="3800475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[0, 0, 0, 0, 0] (Misma columna)</a:t>
            </a:r>
            <a:endParaRPr/>
          </a:p>
        </p:txBody>
      </p:sp>
      <p:sp>
        <p:nvSpPr>
          <p:cNvPr id="312" name="Google Shape;312;p25"/>
          <p:cNvSpPr txBox="1"/>
          <p:nvPr/>
        </p:nvSpPr>
        <p:spPr>
          <a:xfrm>
            <a:off x="6848475" y="4229100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13" name="Google Shape;313;p25"/>
          <p:cNvSpPr txBox="1"/>
          <p:nvPr/>
        </p:nvSpPr>
        <p:spPr>
          <a:xfrm>
            <a:off x="6915150" y="4229100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[0, 1, 2, 3, 4] (Diagonal principal)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6848475" y="4657725"/>
            <a:ext cx="666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•</a:t>
            </a:r>
            <a:endParaRPr/>
          </a:p>
        </p:txBody>
      </p:sp>
      <p:sp>
        <p:nvSpPr>
          <p:cNvPr id="315" name="Google Shape;315;p25"/>
          <p:cNvSpPr txBox="1"/>
          <p:nvPr/>
        </p:nvSpPr>
        <p:spPr>
          <a:xfrm>
            <a:off x="6915150" y="4657725"/>
            <a:ext cx="43148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[0, 2, 4, 1, 7] (Fuera de rango)</a:t>
            </a:r>
            <a:endParaRPr/>
          </a:p>
        </p:txBody>
      </p:sp>
      <p:sp>
        <p:nvSpPr>
          <p:cNvPr id="316" name="Google Shape;316;p25"/>
          <p:cNvSpPr txBox="1"/>
          <p:nvPr/>
        </p:nvSpPr>
        <p:spPr>
          <a:xfrm>
            <a:off x="571500" y="571500"/>
            <a:ext cx="116014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Resultados (N=5): Validación del Oráculo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6"/>
          <p:cNvSpPr txBox="1"/>
          <p:nvPr/>
        </p:nvSpPr>
        <p:spPr>
          <a:xfrm>
            <a:off x="571500" y="571500"/>
            <a:ext cx="5524500" cy="5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75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Desafíos y Escalabilidad</a:t>
            </a:r>
            <a:endParaRPr b="1" i="0" sz="3375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descr="Quantum hardware wafer" id="322" name="Google Shape;322;p26"/>
          <p:cNvPicPr preferRelativeResize="0"/>
          <p:nvPr/>
        </p:nvPicPr>
        <p:blipFill rotWithShape="1">
          <a:blip r:embed="rId3">
            <a:alphaModFix/>
          </a:blip>
          <a:srcRect b="13181" l="0" r="0" t="13181"/>
          <a:stretch/>
        </p:blipFill>
        <p:spPr>
          <a:xfrm>
            <a:off x="6096000" y="1333500"/>
            <a:ext cx="5524500" cy="4762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p26"/>
          <p:cNvGrpSpPr/>
          <p:nvPr/>
        </p:nvGrpSpPr>
        <p:grpSpPr>
          <a:xfrm>
            <a:off x="571519" y="1333500"/>
            <a:ext cx="5257171" cy="4762650"/>
            <a:chOff x="571500" y="1333500"/>
            <a:chExt cx="5143500" cy="4762650"/>
          </a:xfrm>
        </p:grpSpPr>
        <p:sp>
          <p:nvSpPr>
            <p:cNvPr id="324" name="Google Shape;324;p26"/>
            <p:cNvSpPr/>
            <p:nvPr/>
          </p:nvSpPr>
          <p:spPr>
            <a:xfrm>
              <a:off x="571500" y="1333500"/>
              <a:ext cx="51435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6"/>
            <p:cNvSpPr/>
            <p:nvPr/>
          </p:nvSpPr>
          <p:spPr>
            <a:xfrm>
              <a:off x="571500" y="1333500"/>
              <a:ext cx="5143500" cy="762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6"/>
            <p:cNvSpPr txBox="1"/>
            <p:nvPr/>
          </p:nvSpPr>
          <p:spPr>
            <a:xfrm>
              <a:off x="809625" y="1571625"/>
              <a:ext cx="46674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Limitaciones NISQ</a:t>
              </a:r>
              <a:endParaRPr b="1" sz="18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Ejecutar este circuito en hardware cuántico real moderno es inviable actualmente debido a los tiempos de coherencia (T1/T2) limitados y al ruido inherente de los sistemas </a:t>
              </a:r>
              <a:r>
                <a:rPr b="0" i="1" lang="en-US" sz="135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Noisy Intermediate-Scale Quantum</a:t>
              </a:r>
              <a:r>
                <a:rPr b="0" lang="en-US" sz="135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b="0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  <p:sp>
          <p:nvSpPr>
            <p:cNvPr id="327" name="Google Shape;327;p26"/>
            <p:cNvSpPr/>
            <p:nvPr/>
          </p:nvSpPr>
          <p:spPr>
            <a:xfrm>
              <a:off x="571500" y="3905250"/>
              <a:ext cx="5143500" cy="2190900"/>
            </a:xfrm>
            <a:prstGeom prst="roundRect">
              <a:avLst>
                <a:gd fmla="val 521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6"/>
            <p:cNvSpPr/>
            <p:nvPr/>
          </p:nvSpPr>
          <p:spPr>
            <a:xfrm>
              <a:off x="571500" y="3905250"/>
              <a:ext cx="5143500" cy="76200"/>
            </a:xfrm>
            <a:prstGeom prst="roundRect">
              <a:avLst>
                <a:gd fmla="val 50000" name="adj"/>
              </a:avLst>
            </a:prstGeom>
            <a:solidFill>
              <a:srgbClr val="11CA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6"/>
            <p:cNvSpPr txBox="1"/>
            <p:nvPr/>
          </p:nvSpPr>
          <p:spPr>
            <a:xfrm>
              <a:off x="809625" y="4143375"/>
              <a:ext cx="4667400" cy="180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Optimización Futura</a:t>
              </a:r>
              <a:endParaRPr b="1" sz="18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0" lang="en-US" sz="135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Para escalar a N≥5 en simulación completa, la enumeración explícita mediante MCX debe ser reemplazada por </a:t>
              </a:r>
              <a:r>
                <a:rPr b="1" lang="en-US" sz="1350">
                  <a:solidFill>
                    <a:srgbClr val="005088"/>
                  </a:solidFill>
                  <a:latin typeface="DM Sans"/>
                  <a:ea typeface="DM Sans"/>
                  <a:cs typeface="DM Sans"/>
                  <a:sym typeface="DM Sans"/>
                </a:rPr>
                <a:t>Sumadores Cuánticos Aritméticos</a:t>
              </a:r>
              <a:r>
                <a:rPr b="0" lang="en-US" sz="135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, reduciendo drásticamente la profundidad a polinomios de </a:t>
              </a:r>
              <a:r>
                <a:rPr b="0" i="1" lang="en-US" sz="135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k</a:t>
              </a:r>
              <a:r>
                <a:rPr b="0" lang="en-US" sz="135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.</a:t>
              </a:r>
              <a:endParaRPr b="0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7"/>
          <p:cNvSpPr txBox="1"/>
          <p:nvPr/>
        </p:nvSpPr>
        <p:spPr>
          <a:xfrm>
            <a:off x="571500" y="571500"/>
            <a:ext cx="110490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Conclusiones</a:t>
            </a:r>
            <a:endParaRPr b="1" sz="3375">
              <a:solidFill>
                <a:srgbClr val="005088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35" name="Google Shape;335;p27"/>
          <p:cNvSpPr/>
          <p:nvPr/>
        </p:nvSpPr>
        <p:spPr>
          <a:xfrm>
            <a:off x="571500" y="1809750"/>
            <a:ext cx="3429000" cy="40959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27"/>
          <p:cNvSpPr/>
          <p:nvPr/>
        </p:nvSpPr>
        <p:spPr>
          <a:xfrm>
            <a:off x="571500" y="1809750"/>
            <a:ext cx="3429000" cy="76200"/>
          </a:xfrm>
          <a:prstGeom prst="roundRect">
            <a:avLst>
              <a:gd fmla="val 50000" name="adj"/>
            </a:avLst>
          </a:prstGeom>
          <a:solidFill>
            <a:srgbClr val="0050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7"/>
          <p:cNvSpPr txBox="1"/>
          <p:nvPr/>
        </p:nvSpPr>
        <p:spPr>
          <a:xfrm>
            <a:off x="809625" y="2143125"/>
            <a:ext cx="2952900" cy="352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 b="1" sz="3200">
              <a:solidFill>
                <a:srgbClr val="11CAA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Eficiencia de Memoria</a:t>
            </a:r>
            <a:endParaRPr b="1" sz="18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La codificación por columna (</a:t>
            </a:r>
            <a:r>
              <a:rPr b="0" i="1"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k</a:t>
            </a:r>
            <a:r>
              <a:rPr b="0"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qubits) ofrece un uso de memoria cuántica sumamente eficiente frente a los mapeos espaciales tradicionales.</a:t>
            </a:r>
            <a:endParaRPr b="0" sz="13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4381500" y="1809750"/>
            <a:ext cx="3429000" cy="40959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7"/>
          <p:cNvSpPr/>
          <p:nvPr/>
        </p:nvSpPr>
        <p:spPr>
          <a:xfrm>
            <a:off x="4381500" y="1809750"/>
            <a:ext cx="3429000" cy="76200"/>
          </a:xfrm>
          <a:prstGeom prst="roundRect">
            <a:avLst>
              <a:gd fmla="val 50000" name="adj"/>
            </a:avLst>
          </a:prstGeom>
          <a:solidFill>
            <a:srgbClr val="00508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4619625" y="2143125"/>
            <a:ext cx="2952900" cy="352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 b="1" sz="3200">
              <a:solidFill>
                <a:srgbClr val="11CAA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Separación y Convergencia</a:t>
            </a:r>
            <a:endParaRPr b="1" sz="18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El algoritmo demostró una separación perfecta entre estados válidos e inválidos, alcanzando convergencias del &gt;99% para modelos controlados (N=4).</a:t>
            </a:r>
            <a:endParaRPr b="0" sz="13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1" name="Google Shape;341;p27"/>
          <p:cNvSpPr/>
          <p:nvPr/>
        </p:nvSpPr>
        <p:spPr>
          <a:xfrm>
            <a:off x="8191500" y="1809750"/>
            <a:ext cx="3429000" cy="40959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7"/>
          <p:cNvSpPr/>
          <p:nvPr/>
        </p:nvSpPr>
        <p:spPr>
          <a:xfrm>
            <a:off x="8191500" y="1809750"/>
            <a:ext cx="3429000" cy="76200"/>
          </a:xfrm>
          <a:prstGeom prst="roundRect">
            <a:avLst>
              <a:gd fmla="val 50000" name="adj"/>
            </a:avLst>
          </a:prstGeom>
          <a:solidFill>
            <a:srgbClr val="11CAA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8429625" y="2143125"/>
            <a:ext cx="2952900" cy="352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 b="1" sz="3200">
              <a:solidFill>
                <a:srgbClr val="11CAA0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Demostración de Concepto</a:t>
            </a:r>
            <a:endParaRPr b="1" sz="1800">
              <a:solidFill>
                <a:srgbClr val="00508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Constituye una sólida demostración conceptual de la ventaja de la búsqueda de Grover aplicada a problemas de restricciones combinatorias complejas.</a:t>
            </a:r>
            <a:endParaRPr b="0" sz="1350">
              <a:solidFill>
                <a:srgbClr val="1E293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" name="Google Shape;348;p28"/>
          <p:cNvGrpSpPr/>
          <p:nvPr/>
        </p:nvGrpSpPr>
        <p:grpSpPr>
          <a:xfrm>
            <a:off x="1333500" y="1524000"/>
            <a:ext cx="9525000" cy="3810000"/>
            <a:chOff x="1333500" y="1524000"/>
            <a:chExt cx="9525000" cy="3810000"/>
          </a:xfrm>
        </p:grpSpPr>
        <p:sp>
          <p:nvSpPr>
            <p:cNvPr id="349" name="Google Shape;349;p28"/>
            <p:cNvSpPr/>
            <p:nvPr/>
          </p:nvSpPr>
          <p:spPr>
            <a:xfrm>
              <a:off x="5334000" y="1524000"/>
              <a:ext cx="1524000" cy="1524000"/>
            </a:xfrm>
            <a:prstGeom prst="ellipse">
              <a:avLst/>
            </a:prstGeom>
            <a:solidFill>
              <a:srgbClr val="005088">
                <a:alpha val="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8"/>
            <p:cNvSpPr/>
            <p:nvPr/>
          </p:nvSpPr>
          <p:spPr>
            <a:xfrm>
              <a:off x="5619750" y="1809750"/>
              <a:ext cx="952500" cy="952500"/>
            </a:xfrm>
            <a:prstGeom prst="ellipse">
              <a:avLst/>
            </a:prstGeom>
            <a:solidFill>
              <a:srgbClr val="11CAA0">
                <a:alpha val="1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51" name="Google Shape;351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924550" y="2162175"/>
              <a:ext cx="342900" cy="247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28"/>
            <p:cNvSpPr txBox="1"/>
            <p:nvPr/>
          </p:nvSpPr>
          <p:spPr>
            <a:xfrm>
              <a:off x="1333500" y="3048000"/>
              <a:ext cx="95250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5400">
                  <a:solidFill>
                    <a:srgbClr val="005088"/>
                  </a:solidFill>
                  <a:latin typeface="Merriweather"/>
                  <a:ea typeface="Merriweather"/>
                  <a:cs typeface="Merriweather"/>
                  <a:sym typeface="Merriweather"/>
                </a:rPr>
                <a:t>¡Muchas Gracias!</a:t>
              </a:r>
              <a:endParaRPr b="1" sz="5400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endParaRPr>
            </a:p>
          </p:txBody>
        </p:sp>
        <p:sp>
          <p:nvSpPr>
            <p:cNvPr id="353" name="Google Shape;353;p28"/>
            <p:cNvSpPr txBox="1"/>
            <p:nvPr/>
          </p:nvSpPr>
          <p:spPr>
            <a:xfrm>
              <a:off x="1333500" y="4381500"/>
              <a:ext cx="9525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>
                  <a:solidFill>
                    <a:srgbClr val="1E293B"/>
                  </a:solidFill>
                  <a:latin typeface="DM Sans"/>
                  <a:ea typeface="DM Sans"/>
                  <a:cs typeface="DM Sans"/>
                  <a:sym typeface="DM Sans"/>
                </a:rPr>
                <a:t>N-Reinas Cuántico: Computación y Algoritmos</a:t>
              </a:r>
              <a:endParaRPr b="0" sz="1800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endParaRPr>
            </a:p>
            <a:p>
              <a:pPr indent="0" lvl="0" marL="0" rtl="0" algn="ctr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1CAA0"/>
                  </a:solidFill>
                  <a:latin typeface="DM Sans"/>
                  <a:ea typeface="DM Sans"/>
                  <a:cs typeface="DM Sans"/>
                  <a:sym typeface="DM Sans"/>
                </a:rPr>
                <a:t>Preguntas y Respuestas</a:t>
              </a:r>
              <a:endParaRPr b="1" sz="1800">
                <a:solidFill>
                  <a:srgbClr val="11CAA0"/>
                </a:solidFill>
                <a:latin typeface="DM Sans"/>
                <a:ea typeface="DM Sans"/>
                <a:cs typeface="DM Sans"/>
                <a:sym typeface="DM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