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2" r:id="rId6"/>
    <p:sldId id="263" r:id="rId7"/>
    <p:sldId id="264" r:id="rId8"/>
    <p:sldId id="265" r:id="rId9"/>
    <p:sldId id="266" r:id="rId10"/>
    <p:sldId id="267" r:id="rId11"/>
    <p:sldId id="268" r:id="rId12"/>
    <p:sldId id="269" r:id="rId13"/>
    <p:sldId id="270" r:id="rId14"/>
    <p:sldId id="272" r:id="rId15"/>
    <p:sldId id="273" r:id="rId16"/>
    <p:sldId id="274" r:id="rId17"/>
    <p:sldId id="283" r:id="rId18"/>
    <p:sldId id="282" r:id="rId19"/>
    <p:sldId id="275" r:id="rId20"/>
    <p:sldId id="276" r:id="rId21"/>
    <p:sldId id="277" r:id="rId22"/>
    <p:sldId id="278" r:id="rId23"/>
    <p:sldId id="279" r:id="rId24"/>
    <p:sldId id="284" r:id="rId25"/>
    <p:sldId id="285" r:id="rId26"/>
    <p:sldId id="280" r:id="rId27"/>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las" initials="W" lastIdx="1" clrIdx="0">
    <p:extLst>
      <p:ext uri="{19B8F6BF-5375-455C-9EA6-DF929625EA0E}">
        <p15:presenceInfo xmlns:p15="http://schemas.microsoft.com/office/powerpoint/2012/main" userId="Wal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6-03T15:45:50.284" idx="1">
    <p:pos x="1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2"/>
      </p:bgRef>
    </p:bg>
    <p:spTree>
      <p:nvGrpSpPr>
        <p:cNvPr id="1" name=""/>
        <p:cNvGrpSpPr/>
        <p:nvPr/>
      </p:nvGrpSpPr>
      <p:grpSpPr>
        <a:xfrm>
          <a:off x="0" y="0"/>
          <a:ext cx="0" cy="0"/>
          <a:chOff x="0" y="0"/>
          <a:chExt cx="0" cy="0"/>
        </a:xfrm>
      </p:grpSpPr>
      <p:sp>
        <p:nvSpPr>
          <p:cNvPr id="15" name="14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18 Rectángulo"/>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17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15 Rectángulo"/>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11 Rectángulo"/>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8 Subtítulo"/>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17" name="16 Marcador de pie de página"/>
          <p:cNvSpPr>
            <a:spLocks noGrp="1"/>
          </p:cNvSpPr>
          <p:nvPr>
            <p:ph type="ftr" sz="quarter" idx="11"/>
          </p:nvPr>
        </p:nvSpPr>
        <p:spPr/>
        <p:txBody>
          <a:bodyPr/>
          <a:lstStyle/>
          <a:p>
            <a:endParaRPr lang="es-AR"/>
          </a:p>
        </p:txBody>
      </p:sp>
      <p:sp>
        <p:nvSpPr>
          <p:cNvPr id="7" name="6 Conector recto"/>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9 Rectángulo"/>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12 Elipse"/>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13 Elipse"/>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28 Marcador de número de diapositiva"/>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1E00690E-C3DC-41B6-8199-D8FB99EA5358}" type="slidenum">
              <a:rPr lang="es-AR" smtClean="0"/>
              <a:t>‹Nº›</a:t>
            </a:fld>
            <a:endParaRPr lang="es-AR"/>
          </a:p>
        </p:txBody>
      </p:sp>
      <p:sp>
        <p:nvSpPr>
          <p:cNvPr id="8" name="7 Título"/>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s-ES" smtClean="0"/>
              <a:t>Haga clic para modificar el estilo de título del patrón</a:t>
            </a:r>
            <a:endParaRPr kumimoji="0" lang="en-US"/>
          </a:p>
        </p:txBody>
      </p:sp>
    </p:spTree>
    <p:extLst>
      <p:ext uri="{BB962C8B-B14F-4D97-AF65-F5344CB8AC3E}">
        <p14:creationId xmlns:p14="http://schemas.microsoft.com/office/powerpoint/2010/main" val="116544499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solidFill>
                  <a:schemeClr val="accent3">
                    <a:shade val="75000"/>
                  </a:schemeClr>
                </a:solidFill>
              </a:defRPr>
            </a:lvl1p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a:xfrm>
            <a:off x="5815584" y="1026373"/>
            <a:ext cx="609600" cy="441325"/>
          </a:xfrm>
        </p:spPr>
        <p:txBody>
          <a:bodyPr/>
          <a:lstStyle/>
          <a:p>
            <a:fld id="{1E00690E-C3DC-41B6-8199-D8FB99EA5358}" type="slidenum">
              <a:rPr lang="es-AR" smtClean="0"/>
              <a:t>‹Nº›</a:t>
            </a:fld>
            <a:endParaRPr lang="es-AR"/>
          </a:p>
        </p:txBody>
      </p:sp>
      <p:sp>
        <p:nvSpPr>
          <p:cNvPr id="8" name="7 Marcador de contenido"/>
          <p:cNvSpPr>
            <a:spLocks noGrp="1"/>
          </p:cNvSpPr>
          <p:nvPr>
            <p:ph sz="quarter" idx="1"/>
          </p:nvPr>
        </p:nvSpPr>
        <p:spPr>
          <a:xfrm>
            <a:off x="402336" y="1527048"/>
            <a:ext cx="1133856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extLst>
      <p:ext uri="{BB962C8B-B14F-4D97-AF65-F5344CB8AC3E}">
        <p14:creationId xmlns:p14="http://schemas.microsoft.com/office/powerpoint/2010/main" val="261460605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1"/>
      </p:bgRef>
    </p:bg>
    <p:spTree>
      <p:nvGrpSpPr>
        <p:cNvPr id="1" name=""/>
        <p:cNvGrpSpPr/>
        <p:nvPr/>
      </p:nvGrpSpPr>
      <p:grpSpPr>
        <a:xfrm>
          <a:off x="0" y="0"/>
          <a:ext cx="0" cy="0"/>
          <a:chOff x="0" y="0"/>
          <a:chExt cx="0" cy="0"/>
        </a:xfrm>
      </p:grpSpPr>
      <p:sp>
        <p:nvSpPr>
          <p:cNvPr id="17" name="16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14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15 Rectángulo"/>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17 Rectángulo"/>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18 Rectángulo"/>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11 Rectángulo"/>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3" name="2 Marcador de texto"/>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13" name="12 Rectángulo"/>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4" name="13 Rectángulo"/>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5" name="4 Marcador de pie de página"/>
          <p:cNvSpPr>
            <a:spLocks noGrp="1"/>
          </p:cNvSpPr>
          <p:nvPr>
            <p:ph type="ftr" sz="quarter" idx="11"/>
          </p:nvPr>
        </p:nvSpPr>
        <p:spPr/>
        <p:txBody>
          <a:bodyPr/>
          <a:lstStyle/>
          <a:p>
            <a:endParaRPr lang="es-AR"/>
          </a:p>
        </p:txBody>
      </p:sp>
      <p:sp>
        <p:nvSpPr>
          <p:cNvPr id="4" name="3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8" name="7 Conector recto"/>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9 Elipse"/>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10 Elipse"/>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5 Marcador de número de diapositiva"/>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1E00690E-C3DC-41B6-8199-D8FB99EA5358}" type="slidenum">
              <a:rPr lang="es-AR" smtClean="0"/>
              <a:t>‹Nº›</a:t>
            </a:fld>
            <a:endParaRPr lang="es-AR"/>
          </a:p>
        </p:txBody>
      </p:sp>
      <p:sp>
        <p:nvSpPr>
          <p:cNvPr id="2" name="1 Título"/>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s-ES" smtClean="0"/>
              <a:t>Haga clic para modificar el estilo de título del patrón</a:t>
            </a:r>
            <a:endParaRPr kumimoji="0" lang="en-US"/>
          </a:p>
        </p:txBody>
      </p:sp>
    </p:spTree>
    <p:extLst>
      <p:ext uri="{BB962C8B-B14F-4D97-AF65-F5344CB8AC3E}">
        <p14:creationId xmlns:p14="http://schemas.microsoft.com/office/powerpoint/2010/main" val="6963481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02336" y="228600"/>
            <a:ext cx="11379200" cy="758952"/>
          </a:xfrm>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a:xfrm>
            <a:off x="7721600" y="6409944"/>
            <a:ext cx="4059936" cy="365760"/>
          </a:xfrm>
        </p:spPr>
        <p:txBody>
          <a:bodyPr/>
          <a:lstStyle/>
          <a:p>
            <a:fld id="{2B76ECA6-9E90-4025-8C38-EDA538F19B96}" type="datetimeFigureOut">
              <a:rPr lang="es-AR" smtClean="0"/>
              <a:t>31/5/2024</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1E00690E-C3DC-41B6-8199-D8FB99EA5358}" type="slidenum">
              <a:rPr lang="es-AR" smtClean="0"/>
              <a:t>‹Nº›</a:t>
            </a:fld>
            <a:endParaRPr lang="es-AR"/>
          </a:p>
        </p:txBody>
      </p:sp>
      <p:sp>
        <p:nvSpPr>
          <p:cNvPr id="8" name="7 Conector recto"/>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9 Marcador de contenido"/>
          <p:cNvSpPr>
            <a:spLocks noGrp="1"/>
          </p:cNvSpPr>
          <p:nvPr>
            <p:ph sz="half" idx="1"/>
          </p:nvPr>
        </p:nvSpPr>
        <p:spPr>
          <a:xfrm>
            <a:off x="402336" y="1371600"/>
            <a:ext cx="5384800" cy="4681728"/>
          </a:xfrm>
        </p:spPr>
        <p:txBody>
          <a:bodyPr/>
          <a:lstStyle>
            <a:lvl1pPr>
              <a:defRPr sz="2500"/>
            </a:lvl1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contenido"/>
          <p:cNvSpPr>
            <a:spLocks noGrp="1"/>
          </p:cNvSpPr>
          <p:nvPr>
            <p:ph sz="half" idx="2"/>
          </p:nvPr>
        </p:nvSpPr>
        <p:spPr>
          <a:xfrm>
            <a:off x="6400800" y="1371600"/>
            <a:ext cx="5384800" cy="4681728"/>
          </a:xfrm>
        </p:spPr>
        <p:txBody>
          <a:bodyPr/>
          <a:lstStyle>
            <a:lvl1pPr>
              <a:defRPr sz="2500"/>
            </a:lvl1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extLst>
      <p:ext uri="{BB962C8B-B14F-4D97-AF65-F5344CB8AC3E}">
        <p14:creationId xmlns:p14="http://schemas.microsoft.com/office/powerpoint/2010/main" val="412586906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1">
        <a:schemeClr val="bg2"/>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19 Rectángulo"/>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18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1" name="20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2" name="21 Rectángulo"/>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10 Rectángulo"/>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12 Rectángulo"/>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3" name="2 Marcador de texto"/>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8" name="7 Marcador de pie de página"/>
          <p:cNvSpPr>
            <a:spLocks noGrp="1"/>
          </p:cNvSpPr>
          <p:nvPr>
            <p:ph type="ftr" sz="quarter" idx="11"/>
          </p:nvPr>
        </p:nvSpPr>
        <p:spPr>
          <a:xfrm>
            <a:off x="406400" y="6409944"/>
            <a:ext cx="4775200" cy="365760"/>
          </a:xfrm>
        </p:spPr>
        <p:txBody>
          <a:bodyPr/>
          <a:lstStyle/>
          <a:p>
            <a:endParaRPr lang="es-AR"/>
          </a:p>
        </p:txBody>
      </p:sp>
      <p:sp>
        <p:nvSpPr>
          <p:cNvPr id="15" name="14 Conector recto"/>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8" name="17 Rectángulo"/>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4" name="23 Marcador de contenido"/>
          <p:cNvSpPr>
            <a:spLocks noGrp="1"/>
          </p:cNvSpPr>
          <p:nvPr>
            <p:ph sz="quarter" idx="2"/>
          </p:nvPr>
        </p:nvSpPr>
        <p:spPr>
          <a:xfrm>
            <a:off x="402336" y="2471383"/>
            <a:ext cx="5388864" cy="3818404"/>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6" name="25 Marcador de contenido"/>
          <p:cNvSpPr>
            <a:spLocks noGrp="1"/>
          </p:cNvSpPr>
          <p:nvPr>
            <p:ph sz="quarter" idx="4"/>
          </p:nvPr>
        </p:nvSpPr>
        <p:spPr>
          <a:xfrm>
            <a:off x="6400800" y="2471383"/>
            <a:ext cx="5384800" cy="382219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5" name="24 Elipse"/>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26 Elipse"/>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8 Marcador de número de diapositiva"/>
          <p:cNvSpPr>
            <a:spLocks noGrp="1"/>
          </p:cNvSpPr>
          <p:nvPr>
            <p:ph type="sldNum" sz="quarter" idx="12"/>
          </p:nvPr>
        </p:nvSpPr>
        <p:spPr>
          <a:xfrm>
            <a:off x="5791200" y="1042417"/>
            <a:ext cx="609600" cy="441325"/>
          </a:xfrm>
        </p:spPr>
        <p:txBody>
          <a:bodyPr/>
          <a:lstStyle>
            <a:lvl1pPr algn="ctr">
              <a:defRPr/>
            </a:lvl1pPr>
          </a:lstStyle>
          <a:p>
            <a:fld id="{1E00690E-C3DC-41B6-8199-D8FB99EA5358}" type="slidenum">
              <a:rPr lang="es-AR" smtClean="0"/>
              <a:t>‹Nº›</a:t>
            </a:fld>
            <a:endParaRPr lang="es-AR"/>
          </a:p>
        </p:txBody>
      </p:sp>
      <p:sp>
        <p:nvSpPr>
          <p:cNvPr id="23" name="22 Título"/>
          <p:cNvSpPr>
            <a:spLocks noGrp="1"/>
          </p:cNvSpPr>
          <p:nvPr>
            <p:ph type="title"/>
          </p:nvPr>
        </p:nvSpPr>
        <p:spPr/>
        <p:txBody>
          <a:bodyPr rtlCol="0" anchor="b" anchorCtr="0"/>
          <a:lstStyle/>
          <a:p>
            <a:r>
              <a:rPr kumimoji="0" lang="es-ES" smtClean="0"/>
              <a:t>Haga clic para modificar el estilo de título del patrón</a:t>
            </a:r>
            <a:endParaRPr kumimoji="0" lang="en-US"/>
          </a:p>
        </p:txBody>
      </p:sp>
    </p:spTree>
    <p:extLst>
      <p:ext uri="{BB962C8B-B14F-4D97-AF65-F5344CB8AC3E}">
        <p14:creationId xmlns:p14="http://schemas.microsoft.com/office/powerpoint/2010/main" val="407031060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a:xfrm>
            <a:off x="5791200" y="1036021"/>
            <a:ext cx="609600" cy="441325"/>
          </a:xfrm>
        </p:spPr>
        <p:txBody>
          <a:bodyPr/>
          <a:lstStyle/>
          <a:p>
            <a:fld id="{1E00690E-C3DC-41B6-8199-D8FB99EA5358}" type="slidenum">
              <a:rPr lang="es-AR" smtClean="0"/>
              <a:t>‹Nº›</a:t>
            </a:fld>
            <a:endParaRPr lang="es-AR"/>
          </a:p>
        </p:txBody>
      </p:sp>
    </p:spTree>
    <p:extLst>
      <p:ext uri="{BB962C8B-B14F-4D97-AF65-F5344CB8AC3E}">
        <p14:creationId xmlns:p14="http://schemas.microsoft.com/office/powerpoint/2010/main" val="853547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7" name="6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7 Rectángulo"/>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9 Rectángulo"/>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8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5" name="4 Rectángulo"/>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6" name="5 Rectángulo"/>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 name="1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a:xfrm>
            <a:off x="5689600" y="6324600"/>
            <a:ext cx="812800" cy="441324"/>
          </a:xfrm>
        </p:spPr>
        <p:txBody>
          <a:bodyPr/>
          <a:lstStyle>
            <a:lvl1pPr>
              <a:defRPr>
                <a:solidFill>
                  <a:srgbClr val="FFFFFF"/>
                </a:solidFill>
              </a:defRPr>
            </a:lvl1pPr>
          </a:lstStyle>
          <a:p>
            <a:fld id="{1E00690E-C3DC-41B6-8199-D8FB99EA5358}" type="slidenum">
              <a:rPr lang="es-AR" smtClean="0"/>
              <a:t>‹Nº›</a:t>
            </a:fld>
            <a:endParaRPr lang="es-AR"/>
          </a:p>
        </p:txBody>
      </p:sp>
    </p:spTree>
    <p:extLst>
      <p:ext uri="{BB962C8B-B14F-4D97-AF65-F5344CB8AC3E}">
        <p14:creationId xmlns:p14="http://schemas.microsoft.com/office/powerpoint/2010/main" val="897325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9" name="18 Rectángulo"/>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14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17 Rectángulo"/>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15 Rectángulo"/>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16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3" name="12 Rectángulo"/>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1 Título"/>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Rectángulo"/>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9" name="8 Conector recto"/>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19 Marcador de contenido"/>
          <p:cNvSpPr>
            <a:spLocks noGrp="1"/>
          </p:cNvSpPr>
          <p:nvPr>
            <p:ph sz="quarter" idx="1"/>
          </p:nvPr>
        </p:nvSpPr>
        <p:spPr>
          <a:xfrm>
            <a:off x="4165600" y="685800"/>
            <a:ext cx="7518400" cy="5410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0" name="9 Elipse"/>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10 Elipse"/>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6 Marcador de número de diapositiva"/>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1E00690E-C3DC-41B6-8199-D8FB99EA5358}" type="slidenum">
              <a:rPr lang="es-AR" smtClean="0"/>
              <a:t>‹Nº›</a:t>
            </a:fld>
            <a:endParaRPr lang="es-AR"/>
          </a:p>
        </p:txBody>
      </p:sp>
      <p:sp>
        <p:nvSpPr>
          <p:cNvPr id="21" name="20 Rectángulo"/>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5" name="4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6" name="5 Marcador de pie de página"/>
          <p:cNvSpPr>
            <a:spLocks noGrp="1"/>
          </p:cNvSpPr>
          <p:nvPr>
            <p:ph type="ftr" sz="quarter" idx="11"/>
          </p:nvPr>
        </p:nvSpPr>
        <p:spPr>
          <a:xfrm>
            <a:off x="402336" y="6410848"/>
            <a:ext cx="4511040" cy="365760"/>
          </a:xfrm>
        </p:spPr>
        <p:txBody>
          <a:bodyPr/>
          <a:lstStyle/>
          <a:p>
            <a:endParaRPr lang="es-AR"/>
          </a:p>
        </p:txBody>
      </p:sp>
    </p:spTree>
    <p:extLst>
      <p:ext uri="{BB962C8B-B14F-4D97-AF65-F5344CB8AC3E}">
        <p14:creationId xmlns:p14="http://schemas.microsoft.com/office/powerpoint/2010/main" val="336799068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1" name="20 Conector recto"/>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9" name="18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15 Rectángulo"/>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16 Rectángulo"/>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17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0" name="19 Rectángulo"/>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7 Rectángulo"/>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14 Rectángulo"/>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2" name="11 Elipse"/>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12 Elipse"/>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6 Marcador de número de diapositiva"/>
          <p:cNvSpPr>
            <a:spLocks noGrp="1"/>
          </p:cNvSpPr>
          <p:nvPr>
            <p:ph type="sldNum" sz="quarter" idx="12"/>
          </p:nvPr>
        </p:nvSpPr>
        <p:spPr>
          <a:xfrm>
            <a:off x="1828800" y="312739"/>
            <a:ext cx="609600" cy="441325"/>
          </a:xfrm>
        </p:spPr>
        <p:txBody>
          <a:bodyPr/>
          <a:lstStyle/>
          <a:p>
            <a:fld id="{1E00690E-C3DC-41B6-8199-D8FB99EA5358}" type="slidenum">
              <a:rPr lang="es-AR" smtClean="0"/>
              <a:t>‹Nº›</a:t>
            </a:fld>
            <a:endParaRPr lang="es-AR"/>
          </a:p>
        </p:txBody>
      </p:sp>
      <p:sp>
        <p:nvSpPr>
          <p:cNvPr id="2" name="1 Título"/>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4000500" y="609600"/>
            <a:ext cx="7823200" cy="4267200"/>
          </a:xfrm>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22" name="21 Rectángulo"/>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5" name="4 Marcador de fecha"/>
          <p:cNvSpPr>
            <a:spLocks noGrp="1"/>
          </p:cNvSpPr>
          <p:nvPr>
            <p:ph type="dt" sz="half" idx="10"/>
          </p:nvPr>
        </p:nvSpPr>
        <p:spPr>
          <a:xfrm>
            <a:off x="7717536" y="6404984"/>
            <a:ext cx="4059936" cy="365760"/>
          </a:xfrm>
        </p:spPr>
        <p:txBody>
          <a:bodyPr/>
          <a:lstStyle/>
          <a:p>
            <a:fld id="{2B76ECA6-9E90-4025-8C38-EDA538F19B96}" type="datetimeFigureOut">
              <a:rPr lang="es-AR" smtClean="0"/>
              <a:t>31/5/2024</a:t>
            </a:fld>
            <a:endParaRPr lang="es-AR"/>
          </a:p>
        </p:txBody>
      </p:sp>
      <p:sp>
        <p:nvSpPr>
          <p:cNvPr id="6" name="5 Marcador de pie de página"/>
          <p:cNvSpPr>
            <a:spLocks noGrp="1"/>
          </p:cNvSpPr>
          <p:nvPr>
            <p:ph type="ftr" sz="quarter" idx="11"/>
          </p:nvPr>
        </p:nvSpPr>
        <p:spPr>
          <a:xfrm>
            <a:off x="402336" y="6410848"/>
            <a:ext cx="4779264" cy="365760"/>
          </a:xfrm>
        </p:spPr>
        <p:txBody>
          <a:bodyPr/>
          <a:lstStyle/>
          <a:p>
            <a:endParaRPr lang="es-AR"/>
          </a:p>
        </p:txBody>
      </p:sp>
    </p:spTree>
    <p:extLst>
      <p:ext uri="{BB962C8B-B14F-4D97-AF65-F5344CB8AC3E}">
        <p14:creationId xmlns:p14="http://schemas.microsoft.com/office/powerpoint/2010/main" val="1928241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1E00690E-C3DC-41B6-8199-D8FB99EA5358}" type="slidenum">
              <a:rPr lang="es-AR" smtClean="0"/>
              <a:t>‹Nº›</a:t>
            </a:fld>
            <a:endParaRPr lang="es-AR"/>
          </a:p>
        </p:txBody>
      </p:sp>
    </p:spTree>
    <p:extLst>
      <p:ext uri="{BB962C8B-B14F-4D97-AF65-F5344CB8AC3E}">
        <p14:creationId xmlns:p14="http://schemas.microsoft.com/office/powerpoint/2010/main" val="290223333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bg>
      <p:bgRef idx="1001">
        <a:schemeClr val="bg2"/>
      </p:bgRef>
    </p:bg>
    <p:spTree>
      <p:nvGrpSpPr>
        <p:cNvPr id="1" name=""/>
        <p:cNvGrpSpPr/>
        <p:nvPr/>
      </p:nvGrpSpPr>
      <p:grpSpPr>
        <a:xfrm>
          <a:off x="0" y="0"/>
          <a:ext cx="0" cy="0"/>
          <a:chOff x="0" y="0"/>
          <a:chExt cx="0" cy="0"/>
        </a:xfrm>
      </p:grpSpPr>
      <p:sp>
        <p:nvSpPr>
          <p:cNvPr id="7" name="6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7 Rectángulo"/>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8 Rectángulo"/>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9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10 Rectángulo"/>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11 Rectángulo"/>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12 Conector recto"/>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4" name="13 Elipse"/>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14 Elipse"/>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5 Marcador de número de diapositiva"/>
          <p:cNvSpPr>
            <a:spLocks noGrp="1"/>
          </p:cNvSpPr>
          <p:nvPr>
            <p:ph type="sldNum" sz="quarter" idx="12"/>
          </p:nvPr>
        </p:nvSpPr>
        <p:spPr>
          <a:xfrm>
            <a:off x="9221216" y="3009902"/>
            <a:ext cx="609600" cy="441325"/>
          </a:xfrm>
        </p:spPr>
        <p:txBody>
          <a:bodyPr/>
          <a:lstStyle/>
          <a:p>
            <a:fld id="{1E00690E-C3DC-41B6-8199-D8FB99EA5358}" type="slidenum">
              <a:rPr lang="es-AR" smtClean="0"/>
              <a:t>‹Nº›</a:t>
            </a:fld>
            <a:endParaRPr lang="es-AR"/>
          </a:p>
        </p:txBody>
      </p:sp>
      <p:sp>
        <p:nvSpPr>
          <p:cNvPr id="3" name="2 Marcador de texto vertical"/>
          <p:cNvSpPr>
            <a:spLocks noGrp="1"/>
          </p:cNvSpPr>
          <p:nvPr>
            <p:ph type="body" orient="vert" idx="1"/>
          </p:nvPr>
        </p:nvSpPr>
        <p:spPr>
          <a:xfrm>
            <a:off x="406400" y="304800"/>
            <a:ext cx="8737600" cy="5821366"/>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2B76ECA6-9E90-4025-8C38-EDA538F19B96}" type="datetimeFigureOut">
              <a:rPr lang="es-AR" smtClean="0"/>
              <a:t>31/5/2024</a:t>
            </a:fld>
            <a:endParaRPr lang="es-AR"/>
          </a:p>
        </p:txBody>
      </p:sp>
      <p:sp>
        <p:nvSpPr>
          <p:cNvPr id="5" name="4 Marcador de pie de página"/>
          <p:cNvSpPr>
            <a:spLocks noGrp="1"/>
          </p:cNvSpPr>
          <p:nvPr>
            <p:ph type="ftr" sz="quarter" idx="11"/>
          </p:nvPr>
        </p:nvSpPr>
        <p:spPr/>
        <p:txBody>
          <a:bodyPr/>
          <a:lstStyle/>
          <a:p>
            <a:endParaRPr lang="es-AR"/>
          </a:p>
        </p:txBody>
      </p:sp>
      <p:sp>
        <p:nvSpPr>
          <p:cNvPr id="2" name="1 Título vertical"/>
          <p:cNvSpPr>
            <a:spLocks noGrp="1"/>
          </p:cNvSpPr>
          <p:nvPr>
            <p:ph type="title" orient="vert"/>
          </p:nvPr>
        </p:nvSpPr>
        <p:spPr>
          <a:xfrm>
            <a:off x="9855200" y="304802"/>
            <a:ext cx="1930400" cy="5851525"/>
          </a:xfrm>
        </p:spPr>
        <p:txBody>
          <a:bodyPr vert="eaVert"/>
          <a:lstStyle/>
          <a:p>
            <a:r>
              <a:rPr kumimoji="0" lang="es-ES" smtClean="0"/>
              <a:t>Haga clic para modificar el estilo de título del patrón</a:t>
            </a:r>
            <a:endParaRPr kumimoji="0" lang="en-US"/>
          </a:p>
        </p:txBody>
      </p:sp>
    </p:spTree>
    <p:extLst>
      <p:ext uri="{BB962C8B-B14F-4D97-AF65-F5344CB8AC3E}">
        <p14:creationId xmlns:p14="http://schemas.microsoft.com/office/powerpoint/2010/main" val="7296848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16 Rectángulo"/>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15 Rectángulo"/>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17 Rectángulo"/>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18 Rectángulo"/>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8 Rectángulo"/>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4" name="13 Marcador de fecha"/>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2B76ECA6-9E90-4025-8C38-EDA538F19B96}" type="datetimeFigureOut">
              <a:rPr lang="es-AR" smtClean="0"/>
              <a:t>31/5/2024</a:t>
            </a:fld>
            <a:endParaRPr lang="es-AR"/>
          </a:p>
        </p:txBody>
      </p:sp>
      <p:sp>
        <p:nvSpPr>
          <p:cNvPr id="3" name="2 Marcador de pie de página"/>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s-AR"/>
          </a:p>
        </p:txBody>
      </p:sp>
      <p:sp>
        <p:nvSpPr>
          <p:cNvPr id="8" name="7 Rectángulo"/>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0" name="9 Conector recto"/>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2" name="11 Elipse"/>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14 Elipse"/>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22 Marcador de número de diapositiva"/>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1E00690E-C3DC-41B6-8199-D8FB99EA5358}" type="slidenum">
              <a:rPr lang="es-AR" smtClean="0"/>
              <a:t>‹Nº›</a:t>
            </a:fld>
            <a:endParaRPr lang="es-AR"/>
          </a:p>
        </p:txBody>
      </p:sp>
      <p:sp>
        <p:nvSpPr>
          <p:cNvPr id="22" name="21 Marcador de título"/>
          <p:cNvSpPr>
            <a:spLocks noGrp="1"/>
          </p:cNvSpPr>
          <p:nvPr>
            <p:ph type="title"/>
          </p:nvPr>
        </p:nvSpPr>
        <p:spPr>
          <a:xfrm>
            <a:off x="402336" y="228600"/>
            <a:ext cx="11379200" cy="758952"/>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Tree>
    <p:extLst>
      <p:ext uri="{BB962C8B-B14F-4D97-AF65-F5344CB8AC3E}">
        <p14:creationId xmlns:p14="http://schemas.microsoft.com/office/powerpoint/2010/main" val="1871551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p:txBody>
          <a:bodyPr>
            <a:normAutofit lnSpcReduction="10000"/>
          </a:bodyPr>
          <a:lstStyle/>
          <a:p>
            <a:r>
              <a:rPr lang="es-AR" dirty="0" smtClean="0"/>
              <a:t>Economía y emprendedorismo</a:t>
            </a:r>
          </a:p>
          <a:p>
            <a:r>
              <a:rPr lang="es-AR" dirty="0" smtClean="0"/>
              <a:t>Ing. en computación</a:t>
            </a:r>
          </a:p>
          <a:p>
            <a:endParaRPr lang="es-AR" dirty="0"/>
          </a:p>
          <a:p>
            <a:r>
              <a:rPr lang="es-AR" dirty="0" smtClean="0"/>
              <a:t>2024</a:t>
            </a:r>
            <a:endParaRPr lang="es-AR" dirty="0" smtClean="0"/>
          </a:p>
          <a:p>
            <a:endParaRPr lang="es-AR" dirty="0"/>
          </a:p>
          <a:p>
            <a:r>
              <a:rPr lang="es-AR" dirty="0" smtClean="0"/>
              <a:t>Dr. Ing. Federico </a:t>
            </a:r>
            <a:r>
              <a:rPr lang="es-AR" dirty="0" smtClean="0"/>
              <a:t>Walas Mateo </a:t>
            </a:r>
            <a:endParaRPr lang="es-AR" dirty="0"/>
          </a:p>
        </p:txBody>
      </p:sp>
      <p:sp>
        <p:nvSpPr>
          <p:cNvPr id="2" name="1 Título"/>
          <p:cNvSpPr>
            <a:spLocks noGrp="1"/>
          </p:cNvSpPr>
          <p:nvPr>
            <p:ph type="ctrTitle"/>
          </p:nvPr>
        </p:nvSpPr>
        <p:spPr/>
        <p:txBody>
          <a:bodyPr/>
          <a:lstStyle/>
          <a:p>
            <a:r>
              <a:rPr lang="es-AR" dirty="0" smtClean="0"/>
              <a:t>Costos y </a:t>
            </a:r>
            <a:r>
              <a:rPr lang="es-AR" dirty="0" err="1" smtClean="0"/>
              <a:t>Microeconomia</a:t>
            </a:r>
            <a:endParaRPr lang="es-AR" dirty="0"/>
          </a:p>
        </p:txBody>
      </p:sp>
    </p:spTree>
    <p:extLst>
      <p:ext uri="{BB962C8B-B14F-4D97-AF65-F5344CB8AC3E}">
        <p14:creationId xmlns:p14="http://schemas.microsoft.com/office/powerpoint/2010/main" val="21157785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u="sng" dirty="0" smtClean="0"/>
              <a:t>Algunas definiciones para comenzar el tema</a:t>
            </a:r>
            <a:endParaRPr lang="es-AR" u="sng" dirty="0"/>
          </a:p>
        </p:txBody>
      </p:sp>
      <p:sp>
        <p:nvSpPr>
          <p:cNvPr id="3" name="2 Marcador de contenido"/>
          <p:cNvSpPr>
            <a:spLocks noGrp="1"/>
          </p:cNvSpPr>
          <p:nvPr>
            <p:ph sz="quarter" idx="1"/>
          </p:nvPr>
        </p:nvSpPr>
        <p:spPr/>
        <p:txBody>
          <a:bodyPr>
            <a:normAutofit/>
          </a:bodyPr>
          <a:lstStyle/>
          <a:p>
            <a:r>
              <a:rPr lang="es-ES_tradnl" dirty="0" smtClean="0"/>
              <a:t>Costos: la </a:t>
            </a:r>
            <a:r>
              <a:rPr lang="es-ES_tradnl" dirty="0"/>
              <a:t>valoración monetaria de todos los insumos que forma parte, directa o indirectamente de un producto o servicio</a:t>
            </a:r>
            <a:r>
              <a:rPr lang="es-ES_tradnl" dirty="0" smtClean="0"/>
              <a:t>.</a:t>
            </a:r>
          </a:p>
          <a:p>
            <a:pPr lvl="1"/>
            <a:r>
              <a:rPr lang="es-ES_tradnl" dirty="0" err="1" smtClean="0"/>
              <a:t>Cap</a:t>
            </a:r>
            <a:r>
              <a:rPr lang="es-ES_tradnl" dirty="0" smtClean="0"/>
              <a:t> 11 y 12 del libro </a:t>
            </a:r>
            <a:r>
              <a:rPr lang="es-AR" dirty="0"/>
              <a:t>PARKIN</a:t>
            </a:r>
            <a:r>
              <a:rPr lang="es-AR" dirty="0" smtClean="0"/>
              <a:t>, </a:t>
            </a:r>
            <a:r>
              <a:rPr lang="es-AR" dirty="0"/>
              <a:t>y </a:t>
            </a:r>
            <a:r>
              <a:rPr lang="es-AR" dirty="0" smtClean="0"/>
              <a:t>LORÍA, Microeconomía</a:t>
            </a:r>
            <a:r>
              <a:rPr lang="es-AR" dirty="0"/>
              <a:t>. Versión para Latinoamérica</a:t>
            </a:r>
          </a:p>
          <a:p>
            <a:r>
              <a:rPr lang="es-ES_tradnl" dirty="0" smtClean="0"/>
              <a:t>Precios: lo que paga el cliente.</a:t>
            </a:r>
          </a:p>
          <a:p>
            <a:r>
              <a:rPr lang="es-ES_tradnl" dirty="0" smtClean="0"/>
              <a:t>Diferenciación, </a:t>
            </a:r>
            <a:r>
              <a:rPr lang="es-ES_tradnl" dirty="0"/>
              <a:t>radica en el beneficio o la pérdida, </a:t>
            </a:r>
            <a:r>
              <a:rPr lang="es-ES_tradnl" dirty="0" smtClean="0"/>
              <a:t>que es el elemento </a:t>
            </a:r>
            <a:r>
              <a:rPr lang="es-ES_tradnl" dirty="0" err="1"/>
              <a:t>motorizador</a:t>
            </a:r>
            <a:r>
              <a:rPr lang="es-ES_tradnl" dirty="0"/>
              <a:t> en la economía clásica</a:t>
            </a:r>
            <a:r>
              <a:rPr lang="es-ES_tradnl" dirty="0" smtClean="0"/>
              <a:t>. Se acuerdan de </a:t>
            </a:r>
            <a:r>
              <a:rPr lang="es-ES_tradnl" dirty="0" err="1" smtClean="0"/>
              <a:t>Schumpeter</a:t>
            </a:r>
            <a:r>
              <a:rPr lang="es-ES_tradnl" dirty="0" smtClean="0"/>
              <a:t>?</a:t>
            </a:r>
          </a:p>
          <a:p>
            <a:r>
              <a:rPr lang="es-ES_tradnl" dirty="0" smtClean="0"/>
              <a:t>Valor: lo que recibe el cliente</a:t>
            </a:r>
            <a:endParaRPr lang="es-AR" dirty="0"/>
          </a:p>
          <a:p>
            <a:pPr lvl="1"/>
            <a:r>
              <a:rPr lang="es-AR" dirty="0"/>
              <a:t>"El valor es </a:t>
            </a:r>
            <a:r>
              <a:rPr lang="es-AR" dirty="0" smtClean="0"/>
              <a:t>alcanzar los </a:t>
            </a:r>
            <a:r>
              <a:rPr lang="es-AR" dirty="0"/>
              <a:t>requisitos del </a:t>
            </a:r>
            <a:r>
              <a:rPr lang="es-AR" dirty="0" smtClean="0"/>
              <a:t>cliente al </a:t>
            </a:r>
            <a:r>
              <a:rPr lang="es-AR" dirty="0"/>
              <a:t>menor costo posible de adquisición, </a:t>
            </a:r>
            <a:r>
              <a:rPr lang="es-AR" dirty="0" smtClean="0"/>
              <a:t>propiedad, y uso."</a:t>
            </a:r>
            <a:endParaRPr lang="es-AR" dirty="0"/>
          </a:p>
          <a:p>
            <a:pPr marL="0" indent="0">
              <a:buNone/>
            </a:pPr>
            <a:endParaRPr lang="es-AR" dirty="0"/>
          </a:p>
        </p:txBody>
      </p:sp>
    </p:spTree>
    <p:extLst>
      <p:ext uri="{BB962C8B-B14F-4D97-AF65-F5344CB8AC3E}">
        <p14:creationId xmlns:p14="http://schemas.microsoft.com/office/powerpoint/2010/main" val="39727630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Consideraciones</a:t>
            </a:r>
            <a:endParaRPr lang="es-AR" u="sng" dirty="0"/>
          </a:p>
        </p:txBody>
      </p:sp>
      <p:sp>
        <p:nvSpPr>
          <p:cNvPr id="3" name="2 Marcador de contenido"/>
          <p:cNvSpPr>
            <a:spLocks noGrp="1"/>
          </p:cNvSpPr>
          <p:nvPr>
            <p:ph sz="quarter" idx="1"/>
          </p:nvPr>
        </p:nvSpPr>
        <p:spPr>
          <a:xfrm>
            <a:off x="1143000" y="1412777"/>
            <a:ext cx="9910482" cy="4597971"/>
          </a:xfrm>
        </p:spPr>
        <p:txBody>
          <a:bodyPr>
            <a:noAutofit/>
          </a:bodyPr>
          <a:lstStyle/>
          <a:p>
            <a:r>
              <a:rPr lang="es-ES_tradnl" sz="2400" dirty="0"/>
              <a:t>En la determinación de la estructura de costos de un producto o servicio, intervienen múltiples actores, a fin de cuantificar cada uno de los elementos constitutivos del producto en estudio </a:t>
            </a:r>
          </a:p>
          <a:p>
            <a:pPr lvl="1"/>
            <a:r>
              <a:rPr lang="es-ES_tradnl" dirty="0"/>
              <a:t>tecnología, </a:t>
            </a:r>
          </a:p>
          <a:p>
            <a:pPr lvl="1"/>
            <a:r>
              <a:rPr lang="es-ES_tradnl" dirty="0"/>
              <a:t>equipamiento, y cantidad del mismo, </a:t>
            </a:r>
          </a:p>
          <a:p>
            <a:pPr lvl="1"/>
            <a:r>
              <a:rPr lang="es-ES_tradnl" dirty="0" smtClean="0"/>
              <a:t>recursos </a:t>
            </a:r>
            <a:r>
              <a:rPr lang="es-ES_tradnl" dirty="0"/>
              <a:t>humanos que los operen, </a:t>
            </a:r>
          </a:p>
          <a:p>
            <a:pPr lvl="1"/>
            <a:r>
              <a:rPr lang="es-ES_tradnl" dirty="0"/>
              <a:t>costos de operación y mantenimiento, </a:t>
            </a:r>
          </a:p>
          <a:p>
            <a:pPr lvl="1"/>
            <a:r>
              <a:rPr lang="es-ES_tradnl" dirty="0" smtClean="0"/>
              <a:t>determinación </a:t>
            </a:r>
            <a:r>
              <a:rPr lang="es-ES_tradnl" dirty="0"/>
              <a:t>del capital circulante necesario, para cubrir los gastos hasta el momento de cobro, entre otros factores</a:t>
            </a:r>
            <a:r>
              <a:rPr lang="es-AR" dirty="0" smtClean="0"/>
              <a:t>. (costo financiero)</a:t>
            </a:r>
            <a:endParaRPr lang="es-AR" dirty="0"/>
          </a:p>
          <a:p>
            <a:endParaRPr lang="es-AR" sz="2400" dirty="0"/>
          </a:p>
        </p:txBody>
      </p:sp>
    </p:spTree>
    <p:extLst>
      <p:ext uri="{BB962C8B-B14F-4D97-AF65-F5344CB8AC3E}">
        <p14:creationId xmlns:p14="http://schemas.microsoft.com/office/powerpoint/2010/main" val="15437458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91544" y="0"/>
            <a:ext cx="8229600" cy="1143000"/>
          </a:xfrm>
        </p:spPr>
        <p:txBody>
          <a:bodyPr/>
          <a:lstStyle/>
          <a:p>
            <a:r>
              <a:rPr lang="es-ES_tradnl" u="sng" dirty="0"/>
              <a:t>costos </a:t>
            </a:r>
            <a:r>
              <a:rPr lang="es-ES_tradnl" u="sng" dirty="0" smtClean="0"/>
              <a:t>fijos </a:t>
            </a:r>
            <a:r>
              <a:rPr lang="es-ES_tradnl" u="sng" dirty="0"/>
              <a:t>y variables</a:t>
            </a:r>
            <a:endParaRPr lang="es-AR" u="sng" dirty="0"/>
          </a:p>
        </p:txBody>
      </p:sp>
      <p:sp>
        <p:nvSpPr>
          <p:cNvPr id="3" name="2 Marcador de contenido"/>
          <p:cNvSpPr>
            <a:spLocks noGrp="1"/>
          </p:cNvSpPr>
          <p:nvPr>
            <p:ph sz="quarter" idx="1"/>
          </p:nvPr>
        </p:nvSpPr>
        <p:spPr>
          <a:xfrm>
            <a:off x="954741" y="1631831"/>
            <a:ext cx="9937377" cy="5112568"/>
          </a:xfrm>
        </p:spPr>
        <p:txBody>
          <a:bodyPr>
            <a:noAutofit/>
          </a:bodyPr>
          <a:lstStyle/>
          <a:p>
            <a:r>
              <a:rPr lang="es-ES_tradnl" sz="2400" dirty="0"/>
              <a:t>Los costos pueden ser fijos y variables, según se mantengan constantes o se modifiquen en función directa con las unidades </a:t>
            </a:r>
            <a:r>
              <a:rPr lang="es-ES_tradnl" sz="2400" dirty="0" smtClean="0"/>
              <a:t>producidas</a:t>
            </a:r>
            <a:r>
              <a:rPr lang="es-ES_tradnl" sz="2400" dirty="0"/>
              <a:t>.</a:t>
            </a:r>
          </a:p>
        </p:txBody>
      </p:sp>
    </p:spTree>
    <p:extLst>
      <p:ext uri="{BB962C8B-B14F-4D97-AF65-F5344CB8AC3E}">
        <p14:creationId xmlns:p14="http://schemas.microsoft.com/office/powerpoint/2010/main" val="40226031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0"/>
            <a:ext cx="8229600" cy="1052736"/>
          </a:xfrm>
        </p:spPr>
        <p:txBody>
          <a:bodyPr/>
          <a:lstStyle/>
          <a:p>
            <a:r>
              <a:rPr lang="es-ES_tradnl" u="sng" dirty="0" smtClean="0"/>
              <a:t>Precios</a:t>
            </a:r>
            <a:endParaRPr lang="es-AR" u="sng" dirty="0"/>
          </a:p>
        </p:txBody>
      </p:sp>
      <p:sp>
        <p:nvSpPr>
          <p:cNvPr id="3" name="2 Marcador de contenido"/>
          <p:cNvSpPr>
            <a:spLocks noGrp="1"/>
          </p:cNvSpPr>
          <p:nvPr>
            <p:ph sz="quarter" idx="1"/>
          </p:nvPr>
        </p:nvSpPr>
        <p:spPr>
          <a:xfrm>
            <a:off x="1703512" y="1838310"/>
            <a:ext cx="8712968" cy="5145435"/>
          </a:xfrm>
        </p:spPr>
        <p:txBody>
          <a:bodyPr>
            <a:noAutofit/>
          </a:bodyPr>
          <a:lstStyle/>
          <a:p>
            <a:r>
              <a:rPr lang="es-ES_tradnl" sz="2400" dirty="0"/>
              <a:t>En la economía clásica, la razón de ser de las empresas, es el lucro.</a:t>
            </a:r>
            <a:endParaRPr lang="es-AR" sz="2400" dirty="0"/>
          </a:p>
          <a:p>
            <a:r>
              <a:rPr lang="es-ES_tradnl" sz="2400" dirty="0"/>
              <a:t>Es por eso, que a los costos totales, debemos incorporarles el beneficio y entonces sí, estaríamos en condiciones de formular nuestro precio de oferta al mercado.</a:t>
            </a:r>
            <a:endParaRPr lang="es-AR" sz="2400" dirty="0"/>
          </a:p>
          <a:p>
            <a:endParaRPr lang="es-AR" sz="1800" dirty="0"/>
          </a:p>
        </p:txBody>
      </p:sp>
    </p:spTree>
    <p:extLst>
      <p:ext uri="{BB962C8B-B14F-4D97-AF65-F5344CB8AC3E}">
        <p14:creationId xmlns:p14="http://schemas.microsoft.com/office/powerpoint/2010/main" val="1009133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Precios II</a:t>
            </a:r>
            <a:endParaRPr lang="es-AR" dirty="0"/>
          </a:p>
        </p:txBody>
      </p:sp>
      <p:sp>
        <p:nvSpPr>
          <p:cNvPr id="3" name="Marcador de contenido 2"/>
          <p:cNvSpPr>
            <a:spLocks noGrp="1"/>
          </p:cNvSpPr>
          <p:nvPr>
            <p:ph sz="quarter" idx="1"/>
          </p:nvPr>
        </p:nvSpPr>
        <p:spPr/>
        <p:txBody>
          <a:bodyPr/>
          <a:lstStyle/>
          <a:p>
            <a:r>
              <a:rPr lang="es-ES_tradnl" sz="2400" dirty="0"/>
              <a:t>Podemos establecer 2 situaciones diferentes de mercado en que podremos ofrecer los productos, lo que llevará a diferentes alternativas en la estrategia de precios.</a:t>
            </a:r>
            <a:endParaRPr lang="es-AR" sz="2400" dirty="0"/>
          </a:p>
          <a:p>
            <a:pPr lvl="1"/>
            <a:r>
              <a:rPr lang="es-ES_tradnl" sz="1800" dirty="0"/>
              <a:t>El caso de oferta atomizada, donde la existencia de muchos proveedores de bienes de </a:t>
            </a:r>
            <a:r>
              <a:rPr lang="es-AR" sz="1800" dirty="0"/>
              <a:t> </a:t>
            </a:r>
            <a:r>
              <a:rPr lang="es-ES_tradnl" sz="1800" dirty="0"/>
              <a:t>similares características. Aquí no podemos influenciar en el precio, por lo que deberemos adecuarnos a los precios fijados por el mercado</a:t>
            </a:r>
            <a:r>
              <a:rPr lang="es-ES_tradnl" sz="1800" dirty="0" smtClean="0"/>
              <a:t>.</a:t>
            </a:r>
          </a:p>
          <a:p>
            <a:pPr marL="274320" lvl="1" indent="0">
              <a:buNone/>
            </a:pPr>
            <a:endParaRPr lang="es-AR" sz="1800" dirty="0"/>
          </a:p>
          <a:p>
            <a:pPr lvl="1"/>
            <a:r>
              <a:rPr lang="es-ES_tradnl" sz="1800" dirty="0"/>
              <a:t>El  caso de un mercado monopólico, con un único proveedor o mercados oligopólicos, con pocos </a:t>
            </a:r>
            <a:r>
              <a:rPr lang="es-ES_tradnl" sz="1800" dirty="0" smtClean="0"/>
              <a:t>proveedores</a:t>
            </a:r>
            <a:r>
              <a:rPr lang="es-ES_tradnl" sz="1800" dirty="0"/>
              <a:t>.</a:t>
            </a:r>
            <a:endParaRPr lang="es-AR" dirty="0"/>
          </a:p>
        </p:txBody>
      </p:sp>
    </p:spTree>
    <p:extLst>
      <p:ext uri="{BB962C8B-B14F-4D97-AF65-F5344CB8AC3E}">
        <p14:creationId xmlns:p14="http://schemas.microsoft.com/office/powerpoint/2010/main" val="3129229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Dice Peter Drucker</a:t>
            </a:r>
            <a:endParaRPr lang="es-AR" u="sng" dirty="0"/>
          </a:p>
        </p:txBody>
      </p:sp>
      <p:sp>
        <p:nvSpPr>
          <p:cNvPr id="3" name="2 Marcador de contenido"/>
          <p:cNvSpPr>
            <a:spLocks noGrp="1"/>
          </p:cNvSpPr>
          <p:nvPr>
            <p:ph sz="quarter" idx="1"/>
          </p:nvPr>
        </p:nvSpPr>
        <p:spPr/>
        <p:txBody>
          <a:bodyPr/>
          <a:lstStyle/>
          <a:p>
            <a:r>
              <a:rPr lang="es-AR" dirty="0" smtClean="0"/>
              <a:t>Cambiar al paradigma de costeo basado en el precio (actual) desde </a:t>
            </a:r>
            <a:r>
              <a:rPr lang="es-AR" smtClean="0"/>
              <a:t>el de precios </a:t>
            </a:r>
            <a:r>
              <a:rPr lang="es-AR" dirty="0" smtClean="0"/>
              <a:t>basados </a:t>
            </a:r>
            <a:r>
              <a:rPr lang="es-AR" smtClean="0"/>
              <a:t>en costo. </a:t>
            </a:r>
            <a:endParaRPr lang="es-AR" dirty="0" smtClean="0"/>
          </a:p>
          <a:p>
            <a:r>
              <a:rPr lang="es-AR" dirty="0" smtClean="0"/>
              <a:t>Tradicionalmente las empresas empiezan con los costos y luego colocaban el margen deseado. El nuevo concepto es definir el precio que el cliente quiere pagar y eso determina los costos permitidos</a:t>
            </a:r>
          </a:p>
          <a:p>
            <a:pPr marL="0" indent="0">
              <a:buNone/>
            </a:pPr>
            <a:r>
              <a:rPr lang="es-AR" dirty="0"/>
              <a:t>	</a:t>
            </a:r>
            <a:r>
              <a:rPr lang="es-AR" dirty="0" smtClean="0"/>
              <a:t>“Gestión en Tiempos de Grandes Cambios”</a:t>
            </a:r>
            <a:endParaRPr lang="es-AR" dirty="0"/>
          </a:p>
        </p:txBody>
      </p:sp>
    </p:spTree>
    <p:extLst>
      <p:ext uri="{BB962C8B-B14F-4D97-AF65-F5344CB8AC3E}">
        <p14:creationId xmlns:p14="http://schemas.microsoft.com/office/powerpoint/2010/main" val="425333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Que costos consideramos?</a:t>
            </a:r>
            <a:endParaRPr lang="es-AR" u="sng" dirty="0"/>
          </a:p>
        </p:txBody>
      </p:sp>
      <p:sp>
        <p:nvSpPr>
          <p:cNvPr id="3" name="2 Marcador de contenido"/>
          <p:cNvSpPr>
            <a:spLocks noGrp="1"/>
          </p:cNvSpPr>
          <p:nvPr>
            <p:ph sz="quarter" idx="1"/>
          </p:nvPr>
        </p:nvSpPr>
        <p:spPr/>
        <p:txBody>
          <a:bodyPr>
            <a:normAutofit/>
          </a:bodyPr>
          <a:lstStyle/>
          <a:p>
            <a:r>
              <a:rPr lang="es-ES_tradnl" dirty="0"/>
              <a:t>Realizando un rápido listado de los insumos que ingresan a nuestro sistema empresa, vemos que son los siguientes:</a:t>
            </a:r>
            <a:endParaRPr lang="es-AR" dirty="0"/>
          </a:p>
          <a:p>
            <a:pPr lvl="1"/>
            <a:r>
              <a:rPr lang="es-ES_tradnl" dirty="0"/>
              <a:t>Recursos humanos</a:t>
            </a:r>
            <a:endParaRPr lang="es-AR" dirty="0"/>
          </a:p>
          <a:p>
            <a:pPr lvl="1"/>
            <a:r>
              <a:rPr lang="es-ES_tradnl" dirty="0"/>
              <a:t>Recursos tecnológicos</a:t>
            </a:r>
            <a:endParaRPr lang="es-AR" dirty="0"/>
          </a:p>
          <a:p>
            <a:pPr lvl="1"/>
            <a:r>
              <a:rPr lang="es-ES_tradnl" dirty="0"/>
              <a:t>Recursos financieros</a:t>
            </a:r>
            <a:endParaRPr lang="es-AR" dirty="0"/>
          </a:p>
          <a:p>
            <a:pPr lvl="1"/>
            <a:r>
              <a:rPr lang="es-ES_tradnl" dirty="0"/>
              <a:t>Recursos logísticos</a:t>
            </a:r>
            <a:endParaRPr lang="es-AR" dirty="0"/>
          </a:p>
          <a:p>
            <a:pPr lvl="1"/>
            <a:r>
              <a:rPr lang="es-ES_tradnl" dirty="0"/>
              <a:t>Energía</a:t>
            </a:r>
            <a:endParaRPr lang="es-AR" dirty="0"/>
          </a:p>
          <a:p>
            <a:pPr lvl="1"/>
            <a:r>
              <a:rPr lang="es-ES_tradnl" dirty="0" smtClean="0"/>
              <a:t>Espacio</a:t>
            </a:r>
          </a:p>
          <a:p>
            <a:pPr lvl="1"/>
            <a:r>
              <a:rPr lang="es-ES_tradnl" dirty="0" smtClean="0"/>
              <a:t>Servicios varios (contable/comunicación visual/otros)</a:t>
            </a:r>
            <a:endParaRPr lang="es-AR" dirty="0"/>
          </a:p>
        </p:txBody>
      </p:sp>
    </p:spTree>
    <p:extLst>
      <p:ext uri="{BB962C8B-B14F-4D97-AF65-F5344CB8AC3E}">
        <p14:creationId xmlns:p14="http://schemas.microsoft.com/office/powerpoint/2010/main" val="38007907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Recursos Humanos</a:t>
            </a:r>
            <a:endParaRPr lang="es-AR" u="sng" dirty="0"/>
          </a:p>
        </p:txBody>
      </p:sp>
      <p:sp>
        <p:nvSpPr>
          <p:cNvPr id="3" name="2 Marcador de contenido"/>
          <p:cNvSpPr>
            <a:spLocks noGrp="1"/>
          </p:cNvSpPr>
          <p:nvPr>
            <p:ph sz="quarter" idx="1"/>
          </p:nvPr>
        </p:nvSpPr>
        <p:spPr/>
        <p:txBody>
          <a:bodyPr>
            <a:normAutofit/>
          </a:bodyPr>
          <a:lstStyle/>
          <a:p>
            <a:r>
              <a:rPr lang="es-ES_tradnl" sz="2400" dirty="0"/>
              <a:t>Una consideración importante en lo referente </a:t>
            </a:r>
            <a:r>
              <a:rPr lang="es-ES_tradnl" sz="2400" dirty="0" smtClean="0"/>
              <a:t>a las personas, </a:t>
            </a:r>
            <a:r>
              <a:rPr lang="es-ES_tradnl" sz="2400" dirty="0"/>
              <a:t>es determinar correctamente la cantidad de horas hombre necesarias por unidad de producto, así también como su especialización, y es de gran utilidad para ello tener en cuenta la curva de aprendizaje que se da en los sistemas de producción por la acumulación de la producción; </a:t>
            </a:r>
          </a:p>
          <a:p>
            <a:pPr lvl="1"/>
            <a:r>
              <a:rPr lang="es-ES_tradnl" dirty="0"/>
              <a:t>curva de aprendizaje </a:t>
            </a:r>
            <a:r>
              <a:rPr lang="es-AR" dirty="0"/>
              <a:t>:  Proceso de  mejora de los costos por </a:t>
            </a:r>
          </a:p>
          <a:p>
            <a:pPr lvl="2"/>
            <a:r>
              <a:rPr lang="es-AR" dirty="0"/>
              <a:t>Optimización de </a:t>
            </a:r>
            <a:r>
              <a:rPr lang="es-AR" dirty="0" smtClean="0"/>
              <a:t>metodologías de trabajo (Mejora continua)</a:t>
            </a:r>
            <a:endParaRPr lang="es-AR" dirty="0"/>
          </a:p>
          <a:p>
            <a:pPr lvl="2"/>
            <a:r>
              <a:rPr lang="es-AR" dirty="0"/>
              <a:t>Optimización de condiciones ambientales de trabajo</a:t>
            </a:r>
          </a:p>
          <a:p>
            <a:pPr lvl="2"/>
            <a:r>
              <a:rPr lang="es-AR" dirty="0"/>
              <a:t>Capacitación y entrenamiento</a:t>
            </a:r>
          </a:p>
          <a:p>
            <a:endParaRPr lang="es-AR" dirty="0"/>
          </a:p>
        </p:txBody>
      </p:sp>
    </p:spTree>
    <p:extLst>
      <p:ext uri="{BB962C8B-B14F-4D97-AF65-F5344CB8AC3E}">
        <p14:creationId xmlns:p14="http://schemas.microsoft.com/office/powerpoint/2010/main" val="42003409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Recursos Tecnológicos</a:t>
            </a:r>
            <a:endParaRPr lang="es-AR" u="sng" dirty="0"/>
          </a:p>
        </p:txBody>
      </p:sp>
      <p:sp>
        <p:nvSpPr>
          <p:cNvPr id="3" name="2 Marcador de contenido"/>
          <p:cNvSpPr>
            <a:spLocks noGrp="1"/>
          </p:cNvSpPr>
          <p:nvPr>
            <p:ph sz="quarter" idx="1"/>
          </p:nvPr>
        </p:nvSpPr>
        <p:spPr/>
        <p:txBody>
          <a:bodyPr>
            <a:normAutofit/>
          </a:bodyPr>
          <a:lstStyle/>
          <a:p>
            <a:r>
              <a:rPr lang="es-AR" dirty="0" smtClean="0"/>
              <a:t>Equipos, dispositivo, licencias necesarias para llevar adelante la operación (ej. Almacenamiento en la web, </a:t>
            </a:r>
            <a:endParaRPr lang="es-AR" dirty="0"/>
          </a:p>
          <a:p>
            <a:endParaRPr lang="es-AR" dirty="0"/>
          </a:p>
        </p:txBody>
      </p:sp>
    </p:spTree>
    <p:extLst>
      <p:ext uri="{BB962C8B-B14F-4D97-AF65-F5344CB8AC3E}">
        <p14:creationId xmlns:p14="http://schemas.microsoft.com/office/powerpoint/2010/main" val="5487967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u="sng" dirty="0" smtClean="0"/>
              <a:t>Amortización (caso para equipos/activos)</a:t>
            </a:r>
            <a:endParaRPr lang="es-AR" u="sng" dirty="0"/>
          </a:p>
        </p:txBody>
      </p:sp>
      <p:sp>
        <p:nvSpPr>
          <p:cNvPr id="3" name="2 Marcador de contenido"/>
          <p:cNvSpPr>
            <a:spLocks noGrp="1"/>
          </p:cNvSpPr>
          <p:nvPr>
            <p:ph sz="quarter" idx="1"/>
          </p:nvPr>
        </p:nvSpPr>
        <p:spPr/>
        <p:txBody>
          <a:bodyPr>
            <a:normAutofit/>
          </a:bodyPr>
          <a:lstStyle/>
          <a:p>
            <a:r>
              <a:rPr lang="es-ES_tradnl" dirty="0"/>
              <a:t>sabemos que cada equipo tiene una determinada vida útil, por lo que deberemos calcular cual es su costo horario, a fin de obtener el costo por unidad de producto, según sea la cantidad de tiempo en que cada equipo participó en la elaboración de cada unidad.</a:t>
            </a:r>
            <a:endParaRPr lang="es-AR" dirty="0"/>
          </a:p>
          <a:p>
            <a:r>
              <a:rPr lang="es-ES_tradnl" dirty="0"/>
              <a:t>Claro que el valor a amortizar, tiene que descontar el precio que se podrá obtener por la venta de la máquina en cuestión, es lo que conocemos como valor de recuperación.</a:t>
            </a:r>
            <a:endParaRPr lang="es-AR" dirty="0"/>
          </a:p>
          <a:p>
            <a:endParaRPr lang="es-AR" dirty="0"/>
          </a:p>
        </p:txBody>
      </p:sp>
    </p:spTree>
    <p:extLst>
      <p:ext uri="{BB962C8B-B14F-4D97-AF65-F5344CB8AC3E}">
        <p14:creationId xmlns:p14="http://schemas.microsoft.com/office/powerpoint/2010/main" val="35197803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Ejemplos </a:t>
            </a:r>
            <a:endParaRPr lang="es-AR" u="sng"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1743074"/>
            <a:ext cx="7396235" cy="4278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6053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smtClean="0"/>
              <a:t>Otros costos</a:t>
            </a:r>
            <a:endParaRPr lang="es-AR" u="sng" dirty="0"/>
          </a:p>
        </p:txBody>
      </p:sp>
      <p:sp>
        <p:nvSpPr>
          <p:cNvPr id="3" name="2 Marcador de contenido"/>
          <p:cNvSpPr>
            <a:spLocks noGrp="1"/>
          </p:cNvSpPr>
          <p:nvPr>
            <p:ph sz="quarter" idx="1"/>
          </p:nvPr>
        </p:nvSpPr>
        <p:spPr/>
        <p:txBody>
          <a:bodyPr/>
          <a:lstStyle/>
          <a:p>
            <a:r>
              <a:rPr lang="es-AR" dirty="0" smtClean="0"/>
              <a:t>Mantenimiento de equipos</a:t>
            </a:r>
          </a:p>
          <a:p>
            <a:r>
              <a:rPr lang="es-AR" dirty="0" smtClean="0"/>
              <a:t>Energía</a:t>
            </a:r>
          </a:p>
          <a:p>
            <a:r>
              <a:rPr lang="es-AR" dirty="0" smtClean="0"/>
              <a:t>Materias primas/insumos</a:t>
            </a:r>
            <a:endParaRPr lang="es-AR" dirty="0"/>
          </a:p>
        </p:txBody>
      </p:sp>
    </p:spTree>
    <p:extLst>
      <p:ext uri="{BB962C8B-B14F-4D97-AF65-F5344CB8AC3E}">
        <p14:creationId xmlns:p14="http://schemas.microsoft.com/office/powerpoint/2010/main" val="30513812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7321"/>
            <a:ext cx="8229600" cy="1143000"/>
          </a:xfrm>
        </p:spPr>
        <p:txBody>
          <a:bodyPr>
            <a:normAutofit/>
          </a:bodyPr>
          <a:lstStyle/>
          <a:p>
            <a:r>
              <a:rPr lang="es-AR" dirty="0" smtClean="0"/>
              <a:t>Costos Generales (</a:t>
            </a:r>
            <a:r>
              <a:rPr lang="es-AR" dirty="0" err="1" smtClean="0"/>
              <a:t>Overhead</a:t>
            </a:r>
            <a:r>
              <a:rPr lang="es-AR" dirty="0" smtClean="0"/>
              <a:t>)</a:t>
            </a:r>
            <a:endParaRPr lang="es-AR" dirty="0"/>
          </a:p>
        </p:txBody>
      </p:sp>
      <p:sp>
        <p:nvSpPr>
          <p:cNvPr id="3" name="2 Marcador de contenido"/>
          <p:cNvSpPr>
            <a:spLocks noGrp="1"/>
          </p:cNvSpPr>
          <p:nvPr>
            <p:ph sz="quarter" idx="1"/>
          </p:nvPr>
        </p:nvSpPr>
        <p:spPr>
          <a:xfrm>
            <a:off x="1129553" y="1618385"/>
            <a:ext cx="9776012" cy="4857403"/>
          </a:xfrm>
        </p:spPr>
        <p:txBody>
          <a:bodyPr>
            <a:noAutofit/>
          </a:bodyPr>
          <a:lstStyle/>
          <a:p>
            <a:r>
              <a:rPr lang="es-ES_tradnl" sz="2400" dirty="0"/>
              <a:t>Personal afectado a tareas generales, costos administrativos y de ventas, asesoramientos legales, contables, impositivos, etc. generan gastos que deberemos prorratear de acuerdo con algún criterio en cada unidad producida, es lo que denominamos como gastos generales . Las empresas los deben pagar en forma continua y que prorratean en sus ingresos, a fin de determinar un porcentaje sobre el subtotal de costos de producción anteriormente determinados.</a:t>
            </a:r>
            <a:endParaRPr lang="es-AR" sz="2400" dirty="0"/>
          </a:p>
          <a:p>
            <a:r>
              <a:rPr lang="es-ES_tradnl" sz="2400" dirty="0"/>
              <a:t>Otro costo importante es el costo financiero, que implica conocer la forma de pago, tanto de los insumos cuanto de las ventas, (lo que determinará el capital circulante necesario) y cuál es la fuente de financiación que lo proporcionará y bajo qué condiciones.</a:t>
            </a:r>
            <a:endParaRPr lang="es-AR" sz="2400" dirty="0"/>
          </a:p>
        </p:txBody>
      </p:sp>
    </p:spTree>
    <p:extLst>
      <p:ext uri="{BB962C8B-B14F-4D97-AF65-F5344CB8AC3E}">
        <p14:creationId xmlns:p14="http://schemas.microsoft.com/office/powerpoint/2010/main" val="35833904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b="1" u="sng" dirty="0"/>
              <a:t>Estructura genérica </a:t>
            </a:r>
            <a:r>
              <a:rPr lang="es-ES_tradnl" b="1" u="sng"/>
              <a:t>de </a:t>
            </a:r>
            <a:r>
              <a:rPr lang="es-ES_tradnl" b="1" u="sng" smtClean="0"/>
              <a:t>costos</a:t>
            </a:r>
            <a:endParaRPr lang="es-A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260" y="1355087"/>
            <a:ext cx="6166750" cy="498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9403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17812" y="476672"/>
            <a:ext cx="9064116" cy="758952"/>
          </a:xfrm>
        </p:spPr>
        <p:txBody>
          <a:bodyPr>
            <a:normAutofit fontScale="90000"/>
          </a:bodyPr>
          <a:lstStyle/>
          <a:p>
            <a:r>
              <a:rPr lang="es-ES" b="1" u="sng" dirty="0"/>
              <a:t>CAPITAL DE </a:t>
            </a:r>
            <a:r>
              <a:rPr lang="es-ES" b="1" u="sng" dirty="0" smtClean="0"/>
              <a:t>TRABAJO/FLUJO DE FONDOS</a:t>
            </a:r>
            <a:r>
              <a:rPr lang="es-AR" dirty="0"/>
              <a:t/>
            </a:r>
            <a:br>
              <a:rPr lang="es-AR" dirty="0"/>
            </a:br>
            <a:endParaRPr lang="es-AR" dirty="0"/>
          </a:p>
        </p:txBody>
      </p:sp>
      <p:sp>
        <p:nvSpPr>
          <p:cNvPr id="3" name="2 Marcador de contenido"/>
          <p:cNvSpPr>
            <a:spLocks noGrp="1"/>
          </p:cNvSpPr>
          <p:nvPr>
            <p:ph sz="quarter" idx="1"/>
          </p:nvPr>
        </p:nvSpPr>
        <p:spPr>
          <a:xfrm>
            <a:off x="1277471" y="1628800"/>
            <a:ext cx="9668435" cy="4572000"/>
          </a:xfrm>
        </p:spPr>
        <p:txBody>
          <a:bodyPr>
            <a:normAutofit fontScale="85000" lnSpcReduction="20000"/>
          </a:bodyPr>
          <a:lstStyle/>
          <a:p>
            <a:r>
              <a:rPr lang="es-ES" dirty="0"/>
              <a:t>El capital de trabajo, es un indicador contable de tipo vertical (relaciona medidas en un mismo periodo de gestión), que se define como la diferencia entre los activos corrientes y los pasivos corrientes.</a:t>
            </a:r>
            <a:endParaRPr lang="es-AR" dirty="0"/>
          </a:p>
          <a:p>
            <a:r>
              <a:rPr lang="es-ES" b="1" dirty="0"/>
              <a:t>Los activos corrientes, totalizan los montos en dinero o créditos que la empresa podrá disponer en su mayor estado de liquidez en un período de tiempo específico (por ejemplo en 1 mes), mientras que el pasivo corriente, representa los montos que la empresa deberá honrar en el mismo período de tiempo.</a:t>
            </a:r>
            <a:endParaRPr lang="es-AR" dirty="0"/>
          </a:p>
          <a:p>
            <a:r>
              <a:rPr lang="es-ES" dirty="0"/>
              <a:t>Por lo expuesto, la diferencia descripta mide una cantidad de dinero que la firma deberá financiar para mantener su actividad económica. Dicho de otra manera, es la cantidad de dinero que la empresa deberá aportar de algún modo para producir los bienes que comercializa hasta tanto lleguen los ingresos por ventas; de allí el nombre de capital de “trabajo”.</a:t>
            </a:r>
            <a:endParaRPr lang="es-AR" dirty="0"/>
          </a:p>
          <a:p>
            <a:endParaRPr lang="es-AR" dirty="0"/>
          </a:p>
        </p:txBody>
      </p:sp>
    </p:spTree>
    <p:extLst>
      <p:ext uri="{BB962C8B-B14F-4D97-AF65-F5344CB8AC3E}">
        <p14:creationId xmlns:p14="http://schemas.microsoft.com/office/powerpoint/2010/main" val="13520105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600075" y="1628775"/>
            <a:ext cx="2214563" cy="954107"/>
          </a:xfrm>
          <a:prstGeom prst="rect">
            <a:avLst/>
          </a:prstGeom>
          <a:noFill/>
        </p:spPr>
        <p:txBody>
          <a:bodyPr wrap="square" rtlCol="0">
            <a:spAutoFit/>
          </a:bodyPr>
          <a:lstStyle/>
          <a:p>
            <a:r>
              <a:rPr lang="es-AR" sz="2800" b="1" dirty="0" smtClean="0"/>
              <a:t>FLUJO DE FONDOS</a:t>
            </a:r>
            <a:endParaRPr lang="es-AR" sz="2800" b="1" dirty="0"/>
          </a:p>
        </p:txBody>
      </p:sp>
      <p:pic>
        <p:nvPicPr>
          <p:cNvPr id="11" name="Imagen 10"/>
          <p:cNvPicPr>
            <a:picLocks noChangeAspect="1"/>
          </p:cNvPicPr>
          <p:nvPr/>
        </p:nvPicPr>
        <p:blipFill>
          <a:blip r:embed="rId2"/>
          <a:stretch>
            <a:fillRect/>
          </a:stretch>
        </p:blipFill>
        <p:spPr>
          <a:xfrm>
            <a:off x="3228976" y="119366"/>
            <a:ext cx="3986212" cy="6525201"/>
          </a:xfrm>
          <a:prstGeom prst="rect">
            <a:avLst/>
          </a:prstGeom>
        </p:spPr>
      </p:pic>
    </p:spTree>
    <p:extLst>
      <p:ext uri="{BB962C8B-B14F-4D97-AF65-F5344CB8AC3E}">
        <p14:creationId xmlns:p14="http://schemas.microsoft.com/office/powerpoint/2010/main" val="17974368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Costo Financiero</a:t>
            </a:r>
            <a:endParaRPr lang="es-AR" dirty="0"/>
          </a:p>
        </p:txBody>
      </p:sp>
      <p:sp>
        <p:nvSpPr>
          <p:cNvPr id="3" name="Marcador de contenido 2"/>
          <p:cNvSpPr>
            <a:spLocks noGrp="1"/>
          </p:cNvSpPr>
          <p:nvPr>
            <p:ph sz="quarter" idx="1"/>
          </p:nvPr>
        </p:nvSpPr>
        <p:spPr/>
        <p:txBody>
          <a:bodyPr/>
          <a:lstStyle/>
          <a:p>
            <a:r>
              <a:rPr lang="es-AR" dirty="0" smtClean="0"/>
              <a:t>Generalmente a partir de la necesidad de contar con capital de trabajo, es necesario recurrir a prestamos bancarios/cambio </a:t>
            </a:r>
            <a:r>
              <a:rPr lang="es-AR" smtClean="0"/>
              <a:t>de cheques/descubierto/Factoring</a:t>
            </a:r>
            <a:r>
              <a:rPr lang="es-AR" dirty="0" smtClean="0"/>
              <a:t>, </a:t>
            </a:r>
            <a:r>
              <a:rPr lang="es-AR" dirty="0" err="1" smtClean="0"/>
              <a:t>ect</a:t>
            </a:r>
            <a:endParaRPr lang="es-AR" dirty="0" smtClean="0"/>
          </a:p>
          <a:p>
            <a:r>
              <a:rPr lang="es-AR" dirty="0" smtClean="0"/>
              <a:t>Esto genera liquides, pero tiene un costo, que es el costo de financiación o costo financiero.</a:t>
            </a:r>
            <a:endParaRPr lang="es-AR" dirty="0"/>
          </a:p>
        </p:txBody>
      </p:sp>
    </p:spTree>
    <p:extLst>
      <p:ext uri="{BB962C8B-B14F-4D97-AF65-F5344CB8AC3E}">
        <p14:creationId xmlns:p14="http://schemas.microsoft.com/office/powerpoint/2010/main" val="37151453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2405063" y="2303464"/>
            <a:ext cx="1890712" cy="3735387"/>
          </a:xfrm>
          <a:prstGeom prst="rect">
            <a:avLst/>
          </a:prstGeom>
          <a:solidFill>
            <a:srgbClr val="FF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algn="ctr" eaLnBrk="1" hangingPunct="1"/>
            <a:r>
              <a:rPr lang="es-AR" sz="1800" b="1">
                <a:solidFill>
                  <a:srgbClr val="C2004F"/>
                </a:solidFill>
              </a:rPr>
              <a:t>ZONA DE PERDIDAS</a:t>
            </a:r>
          </a:p>
        </p:txBody>
      </p:sp>
      <p:sp>
        <p:nvSpPr>
          <p:cNvPr id="10243" name="Rectangle 3"/>
          <p:cNvSpPr>
            <a:spLocks noGrp="1" noChangeArrowheads="1"/>
          </p:cNvSpPr>
          <p:nvPr>
            <p:ph type="title"/>
          </p:nvPr>
        </p:nvSpPr>
        <p:spPr>
          <a:xfrm>
            <a:off x="1981200" y="0"/>
            <a:ext cx="8686800" cy="1143000"/>
          </a:xfrm>
        </p:spPr>
        <p:txBody>
          <a:bodyPr/>
          <a:lstStyle/>
          <a:p>
            <a:pPr eaLnBrk="1" hangingPunct="1"/>
            <a:r>
              <a:rPr lang="es-AR" sz="3200" b="1" dirty="0" err="1">
                <a:solidFill>
                  <a:srgbClr val="002448"/>
                </a:solidFill>
              </a:rPr>
              <a:t>Pto</a:t>
            </a:r>
            <a:r>
              <a:rPr lang="es-AR" sz="3200" b="1" dirty="0">
                <a:solidFill>
                  <a:srgbClr val="002448"/>
                </a:solidFill>
              </a:rPr>
              <a:t> de Equilibrio</a:t>
            </a:r>
            <a:br>
              <a:rPr lang="es-AR" sz="3200" b="1" dirty="0">
                <a:solidFill>
                  <a:srgbClr val="002448"/>
                </a:solidFill>
              </a:rPr>
            </a:br>
            <a:r>
              <a:rPr lang="es-AR" sz="2400" dirty="0">
                <a:solidFill>
                  <a:srgbClr val="002448"/>
                </a:solidFill>
                <a:latin typeface="Arial Narrow" pitchFamily="34" charset="0"/>
              </a:rPr>
              <a:t>su representación gráfica</a:t>
            </a:r>
            <a:endParaRPr lang="es-ES" sz="2400" dirty="0">
              <a:solidFill>
                <a:srgbClr val="002448"/>
              </a:solidFill>
              <a:latin typeface="Arial Narrow" pitchFamily="34" charset="0"/>
            </a:endParaRPr>
          </a:p>
        </p:txBody>
      </p:sp>
      <p:sp>
        <p:nvSpPr>
          <p:cNvPr id="78852" name="Rectangle 4"/>
          <p:cNvSpPr>
            <a:spLocks noGrp="1" noChangeArrowheads="1"/>
          </p:cNvSpPr>
          <p:nvPr>
            <p:ph sz="quarter" idx="1"/>
          </p:nvPr>
        </p:nvSpPr>
        <p:spPr>
          <a:xfrm>
            <a:off x="1992314" y="1412875"/>
            <a:ext cx="7127875" cy="503238"/>
          </a:xfrm>
        </p:spPr>
        <p:txBody>
          <a:bodyPr/>
          <a:lstStyle/>
          <a:p>
            <a:pPr eaLnBrk="1" hangingPunct="1">
              <a:lnSpc>
                <a:spcPct val="90000"/>
              </a:lnSpc>
            </a:pPr>
            <a:r>
              <a:rPr lang="es-AR" dirty="0">
                <a:solidFill>
                  <a:srgbClr val="002448"/>
                </a:solidFill>
              </a:rPr>
              <a:t>Dinero / Unidades producidas</a:t>
            </a:r>
            <a:endParaRPr lang="es-ES" dirty="0">
              <a:solidFill>
                <a:srgbClr val="002448"/>
              </a:solidFill>
            </a:endParaRPr>
          </a:p>
        </p:txBody>
      </p:sp>
      <p:grpSp>
        <p:nvGrpSpPr>
          <p:cNvPr id="78853" name="Group 5"/>
          <p:cNvGrpSpPr>
            <a:grpSpLocks/>
          </p:cNvGrpSpPr>
          <p:nvPr/>
        </p:nvGrpSpPr>
        <p:grpSpPr bwMode="auto">
          <a:xfrm>
            <a:off x="2451100" y="1719264"/>
            <a:ext cx="6146800" cy="4275137"/>
            <a:chOff x="567" y="1071"/>
            <a:chExt cx="3901" cy="2723"/>
          </a:xfrm>
        </p:grpSpPr>
        <p:sp>
          <p:nvSpPr>
            <p:cNvPr id="10280" name="Line 6"/>
            <p:cNvSpPr>
              <a:spLocks noChangeShapeType="1"/>
            </p:cNvSpPr>
            <p:nvPr/>
          </p:nvSpPr>
          <p:spPr bwMode="auto">
            <a:xfrm flipV="1">
              <a:off x="567" y="1344"/>
              <a:ext cx="3674" cy="245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81" name="Text Box 7"/>
            <p:cNvSpPr txBox="1">
              <a:spLocks noChangeArrowheads="1"/>
            </p:cNvSpPr>
            <p:nvPr/>
          </p:nvSpPr>
          <p:spPr bwMode="auto">
            <a:xfrm>
              <a:off x="4059" y="1071"/>
              <a:ext cx="409"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rgbClr val="FF0000"/>
                  </a:solidFill>
                  <a:latin typeface="Arial Black" pitchFamily="34" charset="0"/>
                </a:rPr>
                <a:t>I.V.</a:t>
              </a:r>
              <a:endParaRPr lang="es-ES" sz="1800">
                <a:solidFill>
                  <a:srgbClr val="FF0000"/>
                </a:solidFill>
                <a:latin typeface="Arial Black" pitchFamily="34" charset="0"/>
              </a:endParaRPr>
            </a:p>
          </p:txBody>
        </p:sp>
      </p:grpSp>
      <p:grpSp>
        <p:nvGrpSpPr>
          <p:cNvPr id="78856" name="Group 8"/>
          <p:cNvGrpSpPr>
            <a:grpSpLocks/>
          </p:cNvGrpSpPr>
          <p:nvPr/>
        </p:nvGrpSpPr>
        <p:grpSpPr bwMode="auto">
          <a:xfrm>
            <a:off x="2451100" y="3024188"/>
            <a:ext cx="7962900" cy="2971800"/>
            <a:chOff x="584" y="1905"/>
            <a:chExt cx="5016" cy="1872"/>
          </a:xfrm>
        </p:grpSpPr>
        <p:sp>
          <p:nvSpPr>
            <p:cNvPr id="10278" name="Line 9"/>
            <p:cNvSpPr>
              <a:spLocks noChangeShapeType="1"/>
            </p:cNvSpPr>
            <p:nvPr/>
          </p:nvSpPr>
          <p:spPr bwMode="auto">
            <a:xfrm flipV="1">
              <a:off x="584" y="2160"/>
              <a:ext cx="4734" cy="1617"/>
            </a:xfrm>
            <a:prstGeom prst="line">
              <a:avLst/>
            </a:prstGeom>
            <a:noFill/>
            <a:ln w="254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79" name="Text Box 10"/>
            <p:cNvSpPr txBox="1">
              <a:spLocks noChangeArrowheads="1"/>
            </p:cNvSpPr>
            <p:nvPr/>
          </p:nvSpPr>
          <p:spPr bwMode="auto">
            <a:xfrm>
              <a:off x="5091" y="1905"/>
              <a:ext cx="50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rgbClr val="0033CC"/>
                  </a:solidFill>
                  <a:latin typeface="Arial Black" pitchFamily="34" charset="0"/>
                </a:rPr>
                <a:t>CV</a:t>
              </a:r>
              <a:endParaRPr lang="es-ES" sz="1800">
                <a:solidFill>
                  <a:srgbClr val="0033CC"/>
                </a:solidFill>
                <a:latin typeface="Arial Black" pitchFamily="34" charset="0"/>
              </a:endParaRPr>
            </a:p>
          </p:txBody>
        </p:sp>
      </p:grpSp>
      <p:grpSp>
        <p:nvGrpSpPr>
          <p:cNvPr id="78859" name="Group 11"/>
          <p:cNvGrpSpPr>
            <a:grpSpLocks/>
          </p:cNvGrpSpPr>
          <p:nvPr/>
        </p:nvGrpSpPr>
        <p:grpSpPr bwMode="auto">
          <a:xfrm>
            <a:off x="2449513" y="5138738"/>
            <a:ext cx="7516812" cy="366712"/>
            <a:chOff x="567" y="3204"/>
            <a:chExt cx="4309" cy="274"/>
          </a:xfrm>
        </p:grpSpPr>
        <p:sp>
          <p:nvSpPr>
            <p:cNvPr id="10276" name="Line 12"/>
            <p:cNvSpPr>
              <a:spLocks noChangeShapeType="1"/>
            </p:cNvSpPr>
            <p:nvPr/>
          </p:nvSpPr>
          <p:spPr bwMode="auto">
            <a:xfrm>
              <a:off x="567" y="3431"/>
              <a:ext cx="4309" cy="0"/>
            </a:xfrm>
            <a:prstGeom prst="line">
              <a:avLst/>
            </a:prstGeom>
            <a:noFill/>
            <a:ln w="31750" cap="rnd">
              <a:solidFill>
                <a:srgbClr val="008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77" name="Rectangle 13"/>
            <p:cNvSpPr>
              <a:spLocks noChangeArrowheads="1"/>
            </p:cNvSpPr>
            <p:nvPr/>
          </p:nvSpPr>
          <p:spPr bwMode="auto">
            <a:xfrm>
              <a:off x="4105" y="3204"/>
              <a:ext cx="317"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AR">
                  <a:solidFill>
                    <a:srgbClr val="339933"/>
                  </a:solidFill>
                  <a:latin typeface="Arial Black" pitchFamily="34" charset="0"/>
                </a:rPr>
                <a:t>CF</a:t>
              </a:r>
              <a:endParaRPr lang="es-ES">
                <a:solidFill>
                  <a:srgbClr val="339933"/>
                </a:solidFill>
                <a:latin typeface="Arial Black" pitchFamily="34" charset="0"/>
              </a:endParaRPr>
            </a:p>
          </p:txBody>
        </p:sp>
      </p:grpSp>
      <p:grpSp>
        <p:nvGrpSpPr>
          <p:cNvPr id="78862" name="Group 14"/>
          <p:cNvGrpSpPr>
            <a:grpSpLocks/>
          </p:cNvGrpSpPr>
          <p:nvPr/>
        </p:nvGrpSpPr>
        <p:grpSpPr bwMode="auto">
          <a:xfrm>
            <a:off x="2135188" y="2124075"/>
            <a:ext cx="8208962" cy="4256088"/>
            <a:chOff x="385" y="1344"/>
            <a:chExt cx="5171" cy="2681"/>
          </a:xfrm>
        </p:grpSpPr>
        <p:sp>
          <p:nvSpPr>
            <p:cNvPr id="10272" name="Text Box 15"/>
            <p:cNvSpPr txBox="1">
              <a:spLocks noChangeArrowheads="1"/>
            </p:cNvSpPr>
            <p:nvPr/>
          </p:nvSpPr>
          <p:spPr bwMode="auto">
            <a:xfrm>
              <a:off x="3833" y="3794"/>
              <a:ext cx="172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chemeClr val="tx1"/>
                  </a:solidFill>
                  <a:latin typeface="Arial" charset="0"/>
                </a:rPr>
                <a:t>n (</a:t>
              </a:r>
              <a:r>
                <a:rPr lang="es-AR" sz="1800">
                  <a:solidFill>
                    <a:schemeClr val="tx1"/>
                  </a:solidFill>
                </a:rPr>
                <a:t>unidades producidas</a:t>
              </a:r>
              <a:r>
                <a:rPr lang="es-AR" sz="1800">
                  <a:solidFill>
                    <a:schemeClr val="tx1"/>
                  </a:solidFill>
                  <a:latin typeface="Arial" charset="0"/>
                </a:rPr>
                <a:t>)</a:t>
              </a:r>
              <a:endParaRPr lang="es-ES" sz="1800">
                <a:solidFill>
                  <a:schemeClr val="tx1"/>
                </a:solidFill>
                <a:latin typeface="Arial" charset="0"/>
              </a:endParaRPr>
            </a:p>
          </p:txBody>
        </p:sp>
        <p:sp>
          <p:nvSpPr>
            <p:cNvPr id="10273" name="Line 16"/>
            <p:cNvSpPr>
              <a:spLocks noChangeShapeType="1"/>
            </p:cNvSpPr>
            <p:nvPr/>
          </p:nvSpPr>
          <p:spPr bwMode="auto">
            <a:xfrm>
              <a:off x="567" y="1344"/>
              <a:ext cx="0" cy="258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74" name="Line 17"/>
            <p:cNvSpPr>
              <a:spLocks noChangeShapeType="1"/>
            </p:cNvSpPr>
            <p:nvPr/>
          </p:nvSpPr>
          <p:spPr bwMode="auto">
            <a:xfrm>
              <a:off x="567" y="3794"/>
              <a:ext cx="47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75" name="Text Box 18"/>
            <p:cNvSpPr txBox="1">
              <a:spLocks noChangeArrowheads="1"/>
            </p:cNvSpPr>
            <p:nvPr/>
          </p:nvSpPr>
          <p:spPr bwMode="auto">
            <a:xfrm>
              <a:off x="385" y="1617"/>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chemeClr val="tx1"/>
                  </a:solidFill>
                  <a:latin typeface="Arial" charset="0"/>
                </a:rPr>
                <a:t>$</a:t>
              </a:r>
              <a:endParaRPr lang="es-ES" sz="1800">
                <a:solidFill>
                  <a:schemeClr val="tx1"/>
                </a:solidFill>
                <a:latin typeface="Arial" charset="0"/>
              </a:endParaRPr>
            </a:p>
          </p:txBody>
        </p:sp>
      </p:grpSp>
      <p:grpSp>
        <p:nvGrpSpPr>
          <p:cNvPr id="78867" name="Group 19"/>
          <p:cNvGrpSpPr>
            <a:grpSpLocks/>
          </p:cNvGrpSpPr>
          <p:nvPr/>
        </p:nvGrpSpPr>
        <p:grpSpPr bwMode="auto">
          <a:xfrm>
            <a:off x="6951663" y="2933701"/>
            <a:ext cx="360362" cy="944563"/>
            <a:chOff x="3424" y="1617"/>
            <a:chExt cx="227" cy="2313"/>
          </a:xfrm>
        </p:grpSpPr>
        <p:sp>
          <p:nvSpPr>
            <p:cNvPr id="10270" name="Line 20"/>
            <p:cNvSpPr>
              <a:spLocks noChangeShapeType="1"/>
            </p:cNvSpPr>
            <p:nvPr/>
          </p:nvSpPr>
          <p:spPr bwMode="auto">
            <a:xfrm>
              <a:off x="3470" y="1617"/>
              <a:ext cx="0" cy="2313"/>
            </a:xfrm>
            <a:prstGeom prst="line">
              <a:avLst/>
            </a:prstGeom>
            <a:noFill/>
            <a:ln w="38100" cmpd="dbl">
              <a:solidFill>
                <a:srgbClr val="FF6600"/>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71" name="Text Box 21"/>
            <p:cNvSpPr txBox="1">
              <a:spLocks noChangeArrowheads="1"/>
            </p:cNvSpPr>
            <p:nvPr/>
          </p:nvSpPr>
          <p:spPr bwMode="auto">
            <a:xfrm>
              <a:off x="3424" y="1936"/>
              <a:ext cx="227" cy="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rgbClr val="FF6600"/>
                  </a:solidFill>
                  <a:latin typeface="Arial Black" pitchFamily="34" charset="0"/>
                </a:rPr>
                <a:t>U</a:t>
              </a:r>
              <a:endParaRPr lang="es-ES" sz="1800">
                <a:solidFill>
                  <a:srgbClr val="FF6600"/>
                </a:solidFill>
                <a:latin typeface="Arial Black" pitchFamily="34" charset="0"/>
              </a:endParaRPr>
            </a:p>
          </p:txBody>
        </p:sp>
      </p:grpSp>
      <p:sp>
        <p:nvSpPr>
          <p:cNvPr id="78870" name="Oval 22"/>
          <p:cNvSpPr>
            <a:spLocks noChangeArrowheads="1"/>
          </p:cNvSpPr>
          <p:nvPr/>
        </p:nvSpPr>
        <p:spPr bwMode="auto">
          <a:xfrm>
            <a:off x="4070351" y="4643438"/>
            <a:ext cx="404813" cy="315912"/>
          </a:xfrm>
          <a:prstGeom prst="ellipse">
            <a:avLst/>
          </a:prstGeom>
          <a:noFill/>
          <a:ln w="9525">
            <a:solidFill>
              <a:srgbClr val="FF0000"/>
            </a:solidFill>
            <a:prstDash val="sysDot"/>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AR"/>
          </a:p>
        </p:txBody>
      </p:sp>
      <p:sp>
        <p:nvSpPr>
          <p:cNvPr id="78871" name="AutoShape 23"/>
          <p:cNvSpPr>
            <a:spLocks/>
          </p:cNvSpPr>
          <p:nvPr/>
        </p:nvSpPr>
        <p:spPr bwMode="auto">
          <a:xfrm>
            <a:off x="2674938" y="3806825"/>
            <a:ext cx="1530350" cy="528794"/>
          </a:xfrm>
          <a:prstGeom prst="accentBorderCallout3">
            <a:avLst>
              <a:gd name="adj1" fmla="val 17912"/>
              <a:gd name="adj2" fmla="val -4981"/>
              <a:gd name="adj3" fmla="val 17912"/>
              <a:gd name="adj4" fmla="val -9338"/>
              <a:gd name="adj5" fmla="val 145023"/>
              <a:gd name="adj6" fmla="val -9338"/>
              <a:gd name="adj7" fmla="val 162440"/>
              <a:gd name="adj8" fmla="val 90458"/>
            </a:avLst>
          </a:prstGeom>
          <a:noFill/>
          <a:ln w="9525">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8000" rIns="18000" bIns="18000">
            <a:spAutoFit/>
          </a:bodyPr>
          <a:lstStyle/>
          <a:p>
            <a:pPr algn="ctr"/>
            <a:r>
              <a:rPr lang="es-AR" b="1" dirty="0">
                <a:solidFill>
                  <a:srgbClr val="FF0000"/>
                </a:solidFill>
                <a:latin typeface="Arial Black" pitchFamily="34" charset="0"/>
              </a:rPr>
              <a:t>IV</a:t>
            </a:r>
            <a:r>
              <a:rPr lang="es-AR" b="1" dirty="0">
                <a:solidFill>
                  <a:srgbClr val="006462"/>
                </a:solidFill>
                <a:latin typeface="Arial Black" pitchFamily="34" charset="0"/>
              </a:rPr>
              <a:t> = CT</a:t>
            </a:r>
            <a:endParaRPr lang="es-ES" b="1" dirty="0">
              <a:solidFill>
                <a:srgbClr val="006462"/>
              </a:solidFill>
              <a:latin typeface="Arial Black" pitchFamily="34" charset="0"/>
            </a:endParaRPr>
          </a:p>
          <a:p>
            <a:pPr algn="ctr"/>
            <a:r>
              <a:rPr lang="es-AR" sz="1400" b="1" dirty="0">
                <a:solidFill>
                  <a:srgbClr val="C2004F"/>
                </a:solidFill>
              </a:rPr>
              <a:t>PUNTO EQUILIBRIO</a:t>
            </a:r>
          </a:p>
        </p:txBody>
      </p:sp>
      <p:grpSp>
        <p:nvGrpSpPr>
          <p:cNvPr id="78873" name="Group 25"/>
          <p:cNvGrpSpPr>
            <a:grpSpLocks/>
          </p:cNvGrpSpPr>
          <p:nvPr/>
        </p:nvGrpSpPr>
        <p:grpSpPr bwMode="auto">
          <a:xfrm>
            <a:off x="2439989" y="2484438"/>
            <a:ext cx="7661275" cy="2925762"/>
            <a:chOff x="555" y="1565"/>
            <a:chExt cx="4826" cy="1843"/>
          </a:xfrm>
        </p:grpSpPr>
        <p:sp>
          <p:nvSpPr>
            <p:cNvPr id="10268" name="Text Box 26"/>
            <p:cNvSpPr txBox="1">
              <a:spLocks noChangeArrowheads="1"/>
            </p:cNvSpPr>
            <p:nvPr/>
          </p:nvSpPr>
          <p:spPr bwMode="auto">
            <a:xfrm>
              <a:off x="5005" y="1565"/>
              <a:ext cx="3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rgbClr val="006462"/>
                  </a:solidFill>
                  <a:latin typeface="Arial Black" pitchFamily="34" charset="0"/>
                </a:rPr>
                <a:t>CT</a:t>
              </a:r>
              <a:endParaRPr lang="es-ES" sz="1800">
                <a:solidFill>
                  <a:srgbClr val="006462"/>
                </a:solidFill>
                <a:latin typeface="Arial Black" pitchFamily="34" charset="0"/>
              </a:endParaRPr>
            </a:p>
          </p:txBody>
        </p:sp>
        <p:sp>
          <p:nvSpPr>
            <p:cNvPr id="10269" name="Line 27"/>
            <p:cNvSpPr>
              <a:spLocks noChangeShapeType="1"/>
            </p:cNvSpPr>
            <p:nvPr/>
          </p:nvSpPr>
          <p:spPr bwMode="auto">
            <a:xfrm flipV="1">
              <a:off x="555" y="1791"/>
              <a:ext cx="4734" cy="1617"/>
            </a:xfrm>
            <a:prstGeom prst="line">
              <a:avLst/>
            </a:prstGeom>
            <a:noFill/>
            <a:ln w="25400">
              <a:solidFill>
                <a:srgbClr val="0064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grpSp>
      <p:grpSp>
        <p:nvGrpSpPr>
          <p:cNvPr id="78876" name="Group 28"/>
          <p:cNvGrpSpPr>
            <a:grpSpLocks/>
          </p:cNvGrpSpPr>
          <p:nvPr/>
        </p:nvGrpSpPr>
        <p:grpSpPr bwMode="auto">
          <a:xfrm>
            <a:off x="2451100" y="1719264"/>
            <a:ext cx="6146800" cy="4275137"/>
            <a:chOff x="567" y="1071"/>
            <a:chExt cx="3901" cy="2723"/>
          </a:xfrm>
        </p:grpSpPr>
        <p:sp>
          <p:nvSpPr>
            <p:cNvPr id="10266" name="Line 29"/>
            <p:cNvSpPr>
              <a:spLocks noChangeShapeType="1"/>
            </p:cNvSpPr>
            <p:nvPr/>
          </p:nvSpPr>
          <p:spPr bwMode="auto">
            <a:xfrm flipV="1">
              <a:off x="567" y="1344"/>
              <a:ext cx="3674" cy="245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67" name="Text Box 30"/>
            <p:cNvSpPr txBox="1">
              <a:spLocks noChangeArrowheads="1"/>
            </p:cNvSpPr>
            <p:nvPr/>
          </p:nvSpPr>
          <p:spPr bwMode="auto">
            <a:xfrm>
              <a:off x="4059" y="1071"/>
              <a:ext cx="409"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rgbClr val="FF0000"/>
                  </a:solidFill>
                  <a:latin typeface="Arial Black" pitchFamily="34" charset="0"/>
                </a:rPr>
                <a:t>I.V.</a:t>
              </a:r>
              <a:endParaRPr lang="es-ES" sz="1800">
                <a:solidFill>
                  <a:srgbClr val="FF0000"/>
                </a:solidFill>
                <a:latin typeface="Arial Black" pitchFamily="34" charset="0"/>
              </a:endParaRPr>
            </a:p>
          </p:txBody>
        </p:sp>
      </p:grpSp>
      <p:grpSp>
        <p:nvGrpSpPr>
          <p:cNvPr id="78879" name="Group 31"/>
          <p:cNvGrpSpPr>
            <a:grpSpLocks/>
          </p:cNvGrpSpPr>
          <p:nvPr/>
        </p:nvGrpSpPr>
        <p:grpSpPr bwMode="auto">
          <a:xfrm>
            <a:off x="2451100" y="3024188"/>
            <a:ext cx="7962900" cy="2971800"/>
            <a:chOff x="584" y="1905"/>
            <a:chExt cx="5016" cy="1872"/>
          </a:xfrm>
        </p:grpSpPr>
        <p:sp>
          <p:nvSpPr>
            <p:cNvPr id="10264" name="Line 32"/>
            <p:cNvSpPr>
              <a:spLocks noChangeShapeType="1"/>
            </p:cNvSpPr>
            <p:nvPr/>
          </p:nvSpPr>
          <p:spPr bwMode="auto">
            <a:xfrm flipV="1">
              <a:off x="584" y="2160"/>
              <a:ext cx="4734" cy="1617"/>
            </a:xfrm>
            <a:prstGeom prst="line">
              <a:avLst/>
            </a:prstGeom>
            <a:noFill/>
            <a:ln w="254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65" name="Text Box 33"/>
            <p:cNvSpPr txBox="1">
              <a:spLocks noChangeArrowheads="1"/>
            </p:cNvSpPr>
            <p:nvPr/>
          </p:nvSpPr>
          <p:spPr bwMode="auto">
            <a:xfrm>
              <a:off x="5091" y="1905"/>
              <a:ext cx="50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800">
                  <a:solidFill>
                    <a:srgbClr val="0033CC"/>
                  </a:solidFill>
                  <a:latin typeface="Arial Black" pitchFamily="34" charset="0"/>
                </a:rPr>
                <a:t>CV</a:t>
              </a:r>
              <a:endParaRPr lang="es-ES" sz="1800">
                <a:solidFill>
                  <a:srgbClr val="0033CC"/>
                </a:solidFill>
                <a:latin typeface="Arial Black" pitchFamily="34" charset="0"/>
              </a:endParaRPr>
            </a:p>
          </p:txBody>
        </p:sp>
      </p:grpSp>
      <p:grpSp>
        <p:nvGrpSpPr>
          <p:cNvPr id="78897" name="Group 49"/>
          <p:cNvGrpSpPr>
            <a:grpSpLocks/>
          </p:cNvGrpSpPr>
          <p:nvPr/>
        </p:nvGrpSpPr>
        <p:grpSpPr bwMode="auto">
          <a:xfrm>
            <a:off x="6140450" y="2079625"/>
            <a:ext cx="1620838" cy="4465638"/>
            <a:chOff x="2908" y="1111"/>
            <a:chExt cx="1021" cy="3013"/>
          </a:xfrm>
        </p:grpSpPr>
        <p:sp>
          <p:nvSpPr>
            <p:cNvPr id="10261" name="Line 42"/>
            <p:cNvSpPr>
              <a:spLocks noChangeShapeType="1"/>
            </p:cNvSpPr>
            <p:nvPr/>
          </p:nvSpPr>
          <p:spPr bwMode="auto">
            <a:xfrm>
              <a:off x="3475" y="1111"/>
              <a:ext cx="0" cy="2778"/>
            </a:xfrm>
            <a:prstGeom prst="line">
              <a:avLst/>
            </a:prstGeom>
            <a:noFill/>
            <a:ln w="3175">
              <a:solidFill>
                <a:srgbClr val="FF993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62" name="Line 43"/>
            <p:cNvSpPr>
              <a:spLocks noChangeShapeType="1"/>
            </p:cNvSpPr>
            <p:nvPr/>
          </p:nvSpPr>
          <p:spPr bwMode="auto">
            <a:xfrm flipV="1">
              <a:off x="2908" y="3804"/>
              <a:ext cx="539" cy="284"/>
            </a:xfrm>
            <a:prstGeom prst="line">
              <a:avLst/>
            </a:prstGeom>
            <a:noFill/>
            <a:ln w="3175" cap="rnd">
              <a:solidFill>
                <a:srgbClr val="FF66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63" name="Text Box 47"/>
            <p:cNvSpPr txBox="1">
              <a:spLocks noChangeArrowheads="1"/>
            </p:cNvSpPr>
            <p:nvPr/>
          </p:nvSpPr>
          <p:spPr bwMode="auto">
            <a:xfrm>
              <a:off x="3277" y="3918"/>
              <a:ext cx="652"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400">
                  <a:solidFill>
                    <a:srgbClr val="FF6600"/>
                  </a:solidFill>
                  <a:ea typeface="Times New Roman" pitchFamily="18" charset="0"/>
                  <a:cs typeface="Arial" charset="0"/>
                </a:rPr>
                <a:t>n </a:t>
              </a:r>
              <a:r>
                <a:rPr lang="es-AR" sz="1000">
                  <a:solidFill>
                    <a:srgbClr val="FF6600"/>
                  </a:solidFill>
                  <a:ea typeface="Times New Roman" pitchFamily="18" charset="0"/>
                  <a:cs typeface="Arial" charset="0"/>
                </a:rPr>
                <a:t>aleatorio</a:t>
              </a:r>
            </a:p>
          </p:txBody>
        </p:sp>
      </p:grpSp>
      <p:grpSp>
        <p:nvGrpSpPr>
          <p:cNvPr id="78906" name="Group 58"/>
          <p:cNvGrpSpPr>
            <a:grpSpLocks/>
          </p:cNvGrpSpPr>
          <p:nvPr/>
        </p:nvGrpSpPr>
        <p:grpSpPr bwMode="auto">
          <a:xfrm>
            <a:off x="3351213" y="3968750"/>
            <a:ext cx="1619250" cy="2565400"/>
            <a:chOff x="1151" y="2500"/>
            <a:chExt cx="1020" cy="1616"/>
          </a:xfrm>
        </p:grpSpPr>
        <p:sp>
          <p:nvSpPr>
            <p:cNvPr id="10258" name="Line 59"/>
            <p:cNvSpPr>
              <a:spLocks noChangeShapeType="1"/>
            </p:cNvSpPr>
            <p:nvPr/>
          </p:nvSpPr>
          <p:spPr bwMode="auto">
            <a:xfrm>
              <a:off x="1718" y="2500"/>
              <a:ext cx="0" cy="1417"/>
            </a:xfrm>
            <a:prstGeom prst="line">
              <a:avLst/>
            </a:prstGeom>
            <a:noFill/>
            <a:ln w="3175">
              <a:solidFill>
                <a:srgbClr val="FF00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59" name="Line 60"/>
            <p:cNvSpPr>
              <a:spLocks noChangeShapeType="1"/>
            </p:cNvSpPr>
            <p:nvPr/>
          </p:nvSpPr>
          <p:spPr bwMode="auto">
            <a:xfrm flipV="1">
              <a:off x="1151" y="3833"/>
              <a:ext cx="539" cy="283"/>
            </a:xfrm>
            <a:prstGeom prst="line">
              <a:avLst/>
            </a:prstGeom>
            <a:noFill/>
            <a:ln w="3175" cap="rnd">
              <a:solidFill>
                <a:srgbClr val="FF0066"/>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60" name="Text Box 61"/>
            <p:cNvSpPr txBox="1">
              <a:spLocks noChangeArrowheads="1"/>
            </p:cNvSpPr>
            <p:nvPr/>
          </p:nvSpPr>
          <p:spPr bwMode="auto">
            <a:xfrm>
              <a:off x="1519" y="3918"/>
              <a:ext cx="6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FF"/>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8000">
                  <a:solidFill>
                    <a:srgbClr val="000044"/>
                  </a:solidFill>
                  <a:latin typeface="Arial Narrow" pitchFamily="34" charset="0"/>
                  <a:cs typeface="Times New Roman" pitchFamily="18" charset="0"/>
                </a:defRPr>
              </a:lvl1pPr>
              <a:lvl2pPr marL="742950" indent="-285750" eaLnBrk="0" hangingPunct="0">
                <a:defRPr sz="8000">
                  <a:solidFill>
                    <a:srgbClr val="000044"/>
                  </a:solidFill>
                  <a:latin typeface="Arial Narrow" pitchFamily="34" charset="0"/>
                  <a:cs typeface="Times New Roman" pitchFamily="18" charset="0"/>
                </a:defRPr>
              </a:lvl2pPr>
              <a:lvl3pPr marL="1143000" indent="-228600" eaLnBrk="0" hangingPunct="0">
                <a:defRPr sz="8000">
                  <a:solidFill>
                    <a:srgbClr val="000044"/>
                  </a:solidFill>
                  <a:latin typeface="Arial Narrow" pitchFamily="34" charset="0"/>
                  <a:cs typeface="Times New Roman" pitchFamily="18" charset="0"/>
                </a:defRPr>
              </a:lvl3pPr>
              <a:lvl4pPr marL="1600200" indent="-228600" eaLnBrk="0" hangingPunct="0">
                <a:defRPr sz="8000">
                  <a:solidFill>
                    <a:srgbClr val="000044"/>
                  </a:solidFill>
                  <a:latin typeface="Arial Narrow" pitchFamily="34" charset="0"/>
                  <a:cs typeface="Times New Roman" pitchFamily="18" charset="0"/>
                </a:defRPr>
              </a:lvl4pPr>
              <a:lvl5pPr marL="2057400" indent="-228600" eaLnBrk="0" hangingPunct="0">
                <a:defRPr sz="8000">
                  <a:solidFill>
                    <a:srgbClr val="000044"/>
                  </a:solidFill>
                  <a:latin typeface="Arial Narrow" pitchFamily="34" charset="0"/>
                  <a:cs typeface="Times New Roman" pitchFamily="18" charset="0"/>
                </a:defRPr>
              </a:lvl5pPr>
              <a:lvl6pPr marL="25146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6pPr>
              <a:lvl7pPr marL="29718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7pPr>
              <a:lvl8pPr marL="34290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8pPr>
              <a:lvl9pPr marL="3886200" indent="-228600" eaLnBrk="0" fontAlgn="base" hangingPunct="0">
                <a:spcBef>
                  <a:spcPct val="50000"/>
                </a:spcBef>
                <a:spcAft>
                  <a:spcPct val="0"/>
                </a:spcAft>
                <a:defRPr sz="8000">
                  <a:solidFill>
                    <a:srgbClr val="000044"/>
                  </a:solidFill>
                  <a:latin typeface="Arial Narrow" pitchFamily="34" charset="0"/>
                  <a:cs typeface="Times New Roman" pitchFamily="18" charset="0"/>
                </a:defRPr>
              </a:lvl9pPr>
            </a:lstStyle>
            <a:p>
              <a:pPr eaLnBrk="1" hangingPunct="1"/>
              <a:r>
                <a:rPr lang="es-AR" sz="1400">
                  <a:solidFill>
                    <a:srgbClr val="FF0066"/>
                  </a:solidFill>
                  <a:ea typeface="Times New Roman" pitchFamily="18" charset="0"/>
                  <a:cs typeface="Arial" charset="0"/>
                </a:rPr>
                <a:t>n </a:t>
              </a:r>
              <a:r>
                <a:rPr lang="es-AR" sz="1000">
                  <a:solidFill>
                    <a:srgbClr val="FF0066"/>
                  </a:solidFill>
                  <a:ea typeface="Times New Roman" pitchFamily="18" charset="0"/>
                  <a:cs typeface="Arial" charset="0"/>
                </a:rPr>
                <a:t>cobertura</a:t>
              </a:r>
            </a:p>
          </p:txBody>
        </p:sp>
      </p:grpSp>
    </p:spTree>
    <p:extLst>
      <p:ext uri="{BB962C8B-B14F-4D97-AF65-F5344CB8AC3E}">
        <p14:creationId xmlns:p14="http://schemas.microsoft.com/office/powerpoint/2010/main" val="2344523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78852">
                                            <p:txEl>
                                              <p:pRg st="0" end="0"/>
                                            </p:txEl>
                                          </p:spTgt>
                                        </p:tgtEl>
                                        <p:attrNameLst>
                                          <p:attrName>style.visibility</p:attrName>
                                        </p:attrNameLst>
                                      </p:cBhvr>
                                      <p:to>
                                        <p:strVal val="visible"/>
                                      </p:to>
                                    </p:set>
                                    <p:animEffect transition="in" filter="dissolve">
                                      <p:cBhvr>
                                        <p:cTn id="7" dur="2000"/>
                                        <p:tgtEl>
                                          <p:spTgt spid="78852">
                                            <p:txEl>
                                              <p:pRg st="0" end="0"/>
                                            </p:txEl>
                                          </p:spTgt>
                                        </p:tgtEl>
                                      </p:cBhvr>
                                    </p:animEffect>
                                  </p:childTnLst>
                                </p:cTn>
                              </p:par>
                              <p:par>
                                <p:cTn id="8" presetID="55" presetClass="entr" presetSubtype="0" fill="hold" nodeType="withEffect">
                                  <p:stCondLst>
                                    <p:cond delay="0"/>
                                  </p:stCondLst>
                                  <p:childTnLst>
                                    <p:set>
                                      <p:cBhvr>
                                        <p:cTn id="9" dur="1" fill="hold">
                                          <p:stCondLst>
                                            <p:cond delay="0"/>
                                          </p:stCondLst>
                                        </p:cTn>
                                        <p:tgtEl>
                                          <p:spTgt spid="78862"/>
                                        </p:tgtEl>
                                        <p:attrNameLst>
                                          <p:attrName>style.visibility</p:attrName>
                                        </p:attrNameLst>
                                      </p:cBhvr>
                                      <p:to>
                                        <p:strVal val="visible"/>
                                      </p:to>
                                    </p:set>
                                    <p:anim calcmode="lin" valueType="num">
                                      <p:cBhvr>
                                        <p:cTn id="10" dur="2000" fill="hold"/>
                                        <p:tgtEl>
                                          <p:spTgt spid="78862"/>
                                        </p:tgtEl>
                                        <p:attrNameLst>
                                          <p:attrName>ppt_w</p:attrName>
                                        </p:attrNameLst>
                                      </p:cBhvr>
                                      <p:tavLst>
                                        <p:tav tm="0">
                                          <p:val>
                                            <p:strVal val="#ppt_w*0.70"/>
                                          </p:val>
                                        </p:tav>
                                        <p:tav tm="100000">
                                          <p:val>
                                            <p:strVal val="#ppt_w"/>
                                          </p:val>
                                        </p:tav>
                                      </p:tavLst>
                                    </p:anim>
                                    <p:anim calcmode="lin" valueType="num">
                                      <p:cBhvr>
                                        <p:cTn id="11" dur="2000" fill="hold"/>
                                        <p:tgtEl>
                                          <p:spTgt spid="78862"/>
                                        </p:tgtEl>
                                        <p:attrNameLst>
                                          <p:attrName>ppt_h</p:attrName>
                                        </p:attrNameLst>
                                      </p:cBhvr>
                                      <p:tavLst>
                                        <p:tav tm="0">
                                          <p:val>
                                            <p:strVal val="#ppt_h"/>
                                          </p:val>
                                        </p:tav>
                                        <p:tav tm="100000">
                                          <p:val>
                                            <p:strVal val="#ppt_h"/>
                                          </p:val>
                                        </p:tav>
                                      </p:tavLst>
                                    </p:anim>
                                    <p:animEffect transition="in" filter="fade">
                                      <p:cBhvr>
                                        <p:cTn id="12" dur="2000"/>
                                        <p:tgtEl>
                                          <p:spTgt spid="788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8859"/>
                                        </p:tgtEl>
                                        <p:attrNameLst>
                                          <p:attrName>style.visibility</p:attrName>
                                        </p:attrNameLst>
                                      </p:cBhvr>
                                      <p:to>
                                        <p:strVal val="visible"/>
                                      </p:to>
                                    </p:set>
                                    <p:animEffect transition="in" filter="wipe(left)">
                                      <p:cBhvr>
                                        <p:cTn id="17" dur="2000"/>
                                        <p:tgtEl>
                                          <p:spTgt spid="788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8856"/>
                                        </p:tgtEl>
                                        <p:attrNameLst>
                                          <p:attrName>style.visibility</p:attrName>
                                        </p:attrNameLst>
                                      </p:cBhvr>
                                      <p:to>
                                        <p:strVal val="visible"/>
                                      </p:to>
                                    </p:set>
                                    <p:animEffect transition="in" filter="wipe(down)">
                                      <p:cBhvr>
                                        <p:cTn id="22" dur="2000"/>
                                        <p:tgtEl>
                                          <p:spTgt spid="788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8873"/>
                                        </p:tgtEl>
                                        <p:attrNameLst>
                                          <p:attrName>style.visibility</p:attrName>
                                        </p:attrNameLst>
                                      </p:cBhvr>
                                      <p:to>
                                        <p:strVal val="visible"/>
                                      </p:to>
                                    </p:set>
                                    <p:animEffect transition="in" filter="wipe(down)">
                                      <p:cBhvr>
                                        <p:cTn id="27" dur="2000"/>
                                        <p:tgtEl>
                                          <p:spTgt spid="788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78853"/>
                                        </p:tgtEl>
                                        <p:attrNameLst>
                                          <p:attrName>style.visibility</p:attrName>
                                        </p:attrNameLst>
                                      </p:cBhvr>
                                      <p:to>
                                        <p:strVal val="visible"/>
                                      </p:to>
                                    </p:set>
                                    <p:animEffect transition="in" filter="wipe(down)">
                                      <p:cBhvr>
                                        <p:cTn id="32" dur="2000"/>
                                        <p:tgtEl>
                                          <p:spTgt spid="788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8876"/>
                                        </p:tgtEl>
                                        <p:attrNameLst>
                                          <p:attrName>style.visibility</p:attrName>
                                        </p:attrNameLst>
                                      </p:cBhvr>
                                      <p:to>
                                        <p:strVal val="visible"/>
                                      </p:to>
                                    </p:set>
                                    <p:animEffect transition="in" filter="wipe(left)">
                                      <p:cBhvr>
                                        <p:cTn id="37" dur="500"/>
                                        <p:tgtEl>
                                          <p:spTgt spid="78876"/>
                                        </p:tgtEl>
                                      </p:cBhvr>
                                    </p:animEffect>
                                  </p:childTnLst>
                                </p:cTn>
                              </p:par>
                              <p:par>
                                <p:cTn id="38" presetID="9" presetClass="entr" presetSubtype="0" fill="hold" nodeType="withEffect">
                                  <p:stCondLst>
                                    <p:cond delay="0"/>
                                  </p:stCondLst>
                                  <p:childTnLst>
                                    <p:set>
                                      <p:cBhvr>
                                        <p:cTn id="39" dur="1" fill="hold">
                                          <p:stCondLst>
                                            <p:cond delay="0"/>
                                          </p:stCondLst>
                                        </p:cTn>
                                        <p:tgtEl>
                                          <p:spTgt spid="78906"/>
                                        </p:tgtEl>
                                        <p:attrNameLst>
                                          <p:attrName>style.visibility</p:attrName>
                                        </p:attrNameLst>
                                      </p:cBhvr>
                                      <p:to>
                                        <p:strVal val="visible"/>
                                      </p:to>
                                    </p:set>
                                    <p:animEffect transition="in" filter="dissolve">
                                      <p:cBhvr>
                                        <p:cTn id="40" dur="500"/>
                                        <p:tgtEl>
                                          <p:spTgt spid="78906"/>
                                        </p:tgtEl>
                                      </p:cBhvr>
                                    </p:animEffect>
                                  </p:childTnLst>
                                </p:cTn>
                              </p:par>
                            </p:childTnLst>
                          </p:cTn>
                        </p:par>
                        <p:par>
                          <p:cTn id="41" fill="hold" nodeType="afterGroup">
                            <p:stCondLst>
                              <p:cond delay="500"/>
                            </p:stCondLst>
                            <p:childTnLst>
                              <p:par>
                                <p:cTn id="42" presetID="55" presetClass="entr" presetSubtype="0" fill="hold" grpId="0" nodeType="afterEffect">
                                  <p:stCondLst>
                                    <p:cond delay="0"/>
                                  </p:stCondLst>
                                  <p:childTnLst>
                                    <p:set>
                                      <p:cBhvr>
                                        <p:cTn id="43" dur="1" fill="hold">
                                          <p:stCondLst>
                                            <p:cond delay="0"/>
                                          </p:stCondLst>
                                        </p:cTn>
                                        <p:tgtEl>
                                          <p:spTgt spid="78870"/>
                                        </p:tgtEl>
                                        <p:attrNameLst>
                                          <p:attrName>style.visibility</p:attrName>
                                        </p:attrNameLst>
                                      </p:cBhvr>
                                      <p:to>
                                        <p:strVal val="visible"/>
                                      </p:to>
                                    </p:set>
                                    <p:anim calcmode="lin" valueType="num">
                                      <p:cBhvr>
                                        <p:cTn id="44" dur="2000" fill="hold"/>
                                        <p:tgtEl>
                                          <p:spTgt spid="78870"/>
                                        </p:tgtEl>
                                        <p:attrNameLst>
                                          <p:attrName>ppt_w</p:attrName>
                                        </p:attrNameLst>
                                      </p:cBhvr>
                                      <p:tavLst>
                                        <p:tav tm="0">
                                          <p:val>
                                            <p:strVal val="#ppt_w*0.70"/>
                                          </p:val>
                                        </p:tav>
                                        <p:tav tm="100000">
                                          <p:val>
                                            <p:strVal val="#ppt_w"/>
                                          </p:val>
                                        </p:tav>
                                      </p:tavLst>
                                    </p:anim>
                                    <p:anim calcmode="lin" valueType="num">
                                      <p:cBhvr>
                                        <p:cTn id="45" dur="2000" fill="hold"/>
                                        <p:tgtEl>
                                          <p:spTgt spid="78870"/>
                                        </p:tgtEl>
                                        <p:attrNameLst>
                                          <p:attrName>ppt_h</p:attrName>
                                        </p:attrNameLst>
                                      </p:cBhvr>
                                      <p:tavLst>
                                        <p:tav tm="0">
                                          <p:val>
                                            <p:strVal val="#ppt_h"/>
                                          </p:val>
                                        </p:tav>
                                        <p:tav tm="100000">
                                          <p:val>
                                            <p:strVal val="#ppt_h"/>
                                          </p:val>
                                        </p:tav>
                                      </p:tavLst>
                                    </p:anim>
                                    <p:animEffect transition="in" filter="fade">
                                      <p:cBhvr>
                                        <p:cTn id="46" dur="2000"/>
                                        <p:tgtEl>
                                          <p:spTgt spid="78870"/>
                                        </p:tgtEl>
                                      </p:cBhvr>
                                    </p:animEffect>
                                  </p:childTnLst>
                                </p:cTn>
                              </p:par>
                            </p:childTnLst>
                          </p:cTn>
                        </p:par>
                        <p:par>
                          <p:cTn id="47" fill="hold" nodeType="afterGroup">
                            <p:stCondLst>
                              <p:cond delay="2500"/>
                            </p:stCondLst>
                            <p:childTnLst>
                              <p:par>
                                <p:cTn id="48" presetID="55" presetClass="entr" presetSubtype="0" fill="hold" grpId="0" nodeType="afterEffect">
                                  <p:stCondLst>
                                    <p:cond delay="3000"/>
                                  </p:stCondLst>
                                  <p:childTnLst>
                                    <p:set>
                                      <p:cBhvr>
                                        <p:cTn id="49" dur="1" fill="hold">
                                          <p:stCondLst>
                                            <p:cond delay="0"/>
                                          </p:stCondLst>
                                        </p:cTn>
                                        <p:tgtEl>
                                          <p:spTgt spid="78871"/>
                                        </p:tgtEl>
                                        <p:attrNameLst>
                                          <p:attrName>style.visibility</p:attrName>
                                        </p:attrNameLst>
                                      </p:cBhvr>
                                      <p:to>
                                        <p:strVal val="visible"/>
                                      </p:to>
                                    </p:set>
                                    <p:anim calcmode="lin" valueType="num">
                                      <p:cBhvr>
                                        <p:cTn id="50" dur="2000" fill="hold"/>
                                        <p:tgtEl>
                                          <p:spTgt spid="78871"/>
                                        </p:tgtEl>
                                        <p:attrNameLst>
                                          <p:attrName>ppt_w</p:attrName>
                                        </p:attrNameLst>
                                      </p:cBhvr>
                                      <p:tavLst>
                                        <p:tav tm="0">
                                          <p:val>
                                            <p:strVal val="#ppt_w*0.70"/>
                                          </p:val>
                                        </p:tav>
                                        <p:tav tm="100000">
                                          <p:val>
                                            <p:strVal val="#ppt_w"/>
                                          </p:val>
                                        </p:tav>
                                      </p:tavLst>
                                    </p:anim>
                                    <p:anim calcmode="lin" valueType="num">
                                      <p:cBhvr>
                                        <p:cTn id="51" dur="2000" fill="hold"/>
                                        <p:tgtEl>
                                          <p:spTgt spid="78871"/>
                                        </p:tgtEl>
                                        <p:attrNameLst>
                                          <p:attrName>ppt_h</p:attrName>
                                        </p:attrNameLst>
                                      </p:cBhvr>
                                      <p:tavLst>
                                        <p:tav tm="0">
                                          <p:val>
                                            <p:strVal val="#ppt_h"/>
                                          </p:val>
                                        </p:tav>
                                        <p:tav tm="100000">
                                          <p:val>
                                            <p:strVal val="#ppt_h"/>
                                          </p:val>
                                        </p:tav>
                                      </p:tavLst>
                                    </p:anim>
                                    <p:animEffect transition="in" filter="fade">
                                      <p:cBhvr>
                                        <p:cTn id="52" dur="2000"/>
                                        <p:tgtEl>
                                          <p:spTgt spid="78871"/>
                                        </p:tgtEl>
                                      </p:cBhvr>
                                    </p:animEffect>
                                  </p:childTnLst>
                                </p:cTn>
                              </p:par>
                            </p:childTnLst>
                          </p:cTn>
                        </p:par>
                        <p:par>
                          <p:cTn id="53" fill="hold" nodeType="afterGroup">
                            <p:stCondLst>
                              <p:cond delay="7500"/>
                            </p:stCondLst>
                            <p:childTnLst>
                              <p:par>
                                <p:cTn id="54" presetID="22" presetClass="entr" presetSubtype="4" fill="hold" grpId="0" nodeType="afterEffect">
                                  <p:stCondLst>
                                    <p:cond delay="0"/>
                                  </p:stCondLst>
                                  <p:childTnLst>
                                    <p:set>
                                      <p:cBhvr>
                                        <p:cTn id="55" dur="1" fill="hold">
                                          <p:stCondLst>
                                            <p:cond delay="0"/>
                                          </p:stCondLst>
                                        </p:cTn>
                                        <p:tgtEl>
                                          <p:spTgt spid="78850"/>
                                        </p:tgtEl>
                                        <p:attrNameLst>
                                          <p:attrName>style.visibility</p:attrName>
                                        </p:attrNameLst>
                                      </p:cBhvr>
                                      <p:to>
                                        <p:strVal val="visible"/>
                                      </p:to>
                                    </p:set>
                                    <p:animEffect transition="in" filter="wipe(down)">
                                      <p:cBhvr>
                                        <p:cTn id="56" dur="2000"/>
                                        <p:tgtEl>
                                          <p:spTgt spid="7885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4" presetClass="entr" presetSubtype="0" accel="100000" fill="hold" nodeType="clickEffect">
                                  <p:stCondLst>
                                    <p:cond delay="0"/>
                                  </p:stCondLst>
                                  <p:childTnLst>
                                    <p:set>
                                      <p:cBhvr>
                                        <p:cTn id="60" dur="1" fill="hold">
                                          <p:stCondLst>
                                            <p:cond delay="0"/>
                                          </p:stCondLst>
                                        </p:cTn>
                                        <p:tgtEl>
                                          <p:spTgt spid="78867"/>
                                        </p:tgtEl>
                                        <p:attrNameLst>
                                          <p:attrName>style.visibility</p:attrName>
                                        </p:attrNameLst>
                                      </p:cBhvr>
                                      <p:to>
                                        <p:strVal val="visible"/>
                                      </p:to>
                                    </p:set>
                                    <p:anim calcmode="lin" valueType="num">
                                      <p:cBhvr>
                                        <p:cTn id="61" dur="2000" fill="hold"/>
                                        <p:tgtEl>
                                          <p:spTgt spid="78867"/>
                                        </p:tgtEl>
                                        <p:attrNameLst>
                                          <p:attrName>ppt_w</p:attrName>
                                        </p:attrNameLst>
                                      </p:cBhvr>
                                      <p:tavLst>
                                        <p:tav tm="0">
                                          <p:val>
                                            <p:strVal val="#ppt_w*0.05"/>
                                          </p:val>
                                        </p:tav>
                                        <p:tav tm="100000">
                                          <p:val>
                                            <p:strVal val="#ppt_w"/>
                                          </p:val>
                                        </p:tav>
                                      </p:tavLst>
                                    </p:anim>
                                    <p:anim calcmode="lin" valueType="num">
                                      <p:cBhvr>
                                        <p:cTn id="62" dur="2000" fill="hold"/>
                                        <p:tgtEl>
                                          <p:spTgt spid="78867"/>
                                        </p:tgtEl>
                                        <p:attrNameLst>
                                          <p:attrName>ppt_h</p:attrName>
                                        </p:attrNameLst>
                                      </p:cBhvr>
                                      <p:tavLst>
                                        <p:tav tm="0">
                                          <p:val>
                                            <p:strVal val="#ppt_h"/>
                                          </p:val>
                                        </p:tav>
                                        <p:tav tm="100000">
                                          <p:val>
                                            <p:strVal val="#ppt_h"/>
                                          </p:val>
                                        </p:tav>
                                      </p:tavLst>
                                    </p:anim>
                                    <p:anim calcmode="lin" valueType="num">
                                      <p:cBhvr>
                                        <p:cTn id="63" dur="2000" fill="hold"/>
                                        <p:tgtEl>
                                          <p:spTgt spid="78867"/>
                                        </p:tgtEl>
                                        <p:attrNameLst>
                                          <p:attrName>ppt_x</p:attrName>
                                        </p:attrNameLst>
                                      </p:cBhvr>
                                      <p:tavLst>
                                        <p:tav tm="0">
                                          <p:val>
                                            <p:strVal val="#ppt_x-.2"/>
                                          </p:val>
                                        </p:tav>
                                        <p:tav tm="100000">
                                          <p:val>
                                            <p:strVal val="#ppt_x"/>
                                          </p:val>
                                        </p:tav>
                                      </p:tavLst>
                                    </p:anim>
                                    <p:anim calcmode="lin" valueType="num">
                                      <p:cBhvr>
                                        <p:cTn id="64" dur="2000" fill="hold"/>
                                        <p:tgtEl>
                                          <p:spTgt spid="78867"/>
                                        </p:tgtEl>
                                        <p:attrNameLst>
                                          <p:attrName>ppt_y</p:attrName>
                                        </p:attrNameLst>
                                      </p:cBhvr>
                                      <p:tavLst>
                                        <p:tav tm="0">
                                          <p:val>
                                            <p:strVal val="#ppt_y"/>
                                          </p:val>
                                        </p:tav>
                                        <p:tav tm="100000">
                                          <p:val>
                                            <p:strVal val="#ppt_y"/>
                                          </p:val>
                                        </p:tav>
                                      </p:tavLst>
                                    </p:anim>
                                    <p:animEffect transition="in" filter="fade">
                                      <p:cBhvr>
                                        <p:cTn id="65" dur="2000"/>
                                        <p:tgtEl>
                                          <p:spTgt spid="78867"/>
                                        </p:tgtEl>
                                      </p:cBhvr>
                                    </p:animEffect>
                                  </p:childTnLst>
                                </p:cTn>
                              </p:par>
                              <p:par>
                                <p:cTn id="66" presetID="54" presetClass="entr" presetSubtype="0" accel="100000" fill="hold" nodeType="withEffect">
                                  <p:stCondLst>
                                    <p:cond delay="0"/>
                                  </p:stCondLst>
                                  <p:childTnLst>
                                    <p:set>
                                      <p:cBhvr>
                                        <p:cTn id="67" dur="1" fill="hold">
                                          <p:stCondLst>
                                            <p:cond delay="0"/>
                                          </p:stCondLst>
                                        </p:cTn>
                                        <p:tgtEl>
                                          <p:spTgt spid="78897"/>
                                        </p:tgtEl>
                                        <p:attrNameLst>
                                          <p:attrName>style.visibility</p:attrName>
                                        </p:attrNameLst>
                                      </p:cBhvr>
                                      <p:to>
                                        <p:strVal val="visible"/>
                                      </p:to>
                                    </p:set>
                                    <p:anim calcmode="lin" valueType="num">
                                      <p:cBhvr>
                                        <p:cTn id="68" dur="2000" fill="hold"/>
                                        <p:tgtEl>
                                          <p:spTgt spid="78897"/>
                                        </p:tgtEl>
                                        <p:attrNameLst>
                                          <p:attrName>ppt_w</p:attrName>
                                        </p:attrNameLst>
                                      </p:cBhvr>
                                      <p:tavLst>
                                        <p:tav tm="0">
                                          <p:val>
                                            <p:strVal val="#ppt_w*0.05"/>
                                          </p:val>
                                        </p:tav>
                                        <p:tav tm="100000">
                                          <p:val>
                                            <p:strVal val="#ppt_w"/>
                                          </p:val>
                                        </p:tav>
                                      </p:tavLst>
                                    </p:anim>
                                    <p:anim calcmode="lin" valueType="num">
                                      <p:cBhvr>
                                        <p:cTn id="69" dur="2000" fill="hold"/>
                                        <p:tgtEl>
                                          <p:spTgt spid="78897"/>
                                        </p:tgtEl>
                                        <p:attrNameLst>
                                          <p:attrName>ppt_h</p:attrName>
                                        </p:attrNameLst>
                                      </p:cBhvr>
                                      <p:tavLst>
                                        <p:tav tm="0">
                                          <p:val>
                                            <p:strVal val="#ppt_h"/>
                                          </p:val>
                                        </p:tav>
                                        <p:tav tm="100000">
                                          <p:val>
                                            <p:strVal val="#ppt_h"/>
                                          </p:val>
                                        </p:tav>
                                      </p:tavLst>
                                    </p:anim>
                                    <p:anim calcmode="lin" valueType="num">
                                      <p:cBhvr>
                                        <p:cTn id="70" dur="2000" fill="hold"/>
                                        <p:tgtEl>
                                          <p:spTgt spid="78897"/>
                                        </p:tgtEl>
                                        <p:attrNameLst>
                                          <p:attrName>ppt_x</p:attrName>
                                        </p:attrNameLst>
                                      </p:cBhvr>
                                      <p:tavLst>
                                        <p:tav tm="0">
                                          <p:val>
                                            <p:strVal val="#ppt_x-.2"/>
                                          </p:val>
                                        </p:tav>
                                        <p:tav tm="100000">
                                          <p:val>
                                            <p:strVal val="#ppt_x"/>
                                          </p:val>
                                        </p:tav>
                                      </p:tavLst>
                                    </p:anim>
                                    <p:anim calcmode="lin" valueType="num">
                                      <p:cBhvr>
                                        <p:cTn id="71" dur="2000" fill="hold"/>
                                        <p:tgtEl>
                                          <p:spTgt spid="78897"/>
                                        </p:tgtEl>
                                        <p:attrNameLst>
                                          <p:attrName>ppt_y</p:attrName>
                                        </p:attrNameLst>
                                      </p:cBhvr>
                                      <p:tavLst>
                                        <p:tav tm="0">
                                          <p:val>
                                            <p:strVal val="#ppt_y"/>
                                          </p:val>
                                        </p:tav>
                                        <p:tav tm="100000">
                                          <p:val>
                                            <p:strVal val="#ppt_y"/>
                                          </p:val>
                                        </p:tav>
                                      </p:tavLst>
                                    </p:anim>
                                    <p:animEffect transition="in" filter="fade">
                                      <p:cBhvr>
                                        <p:cTn id="72" dur="2000"/>
                                        <p:tgtEl>
                                          <p:spTgt spid="78897"/>
                                        </p:tgtEl>
                                      </p:cBhvr>
                                    </p:animEffect>
                                  </p:childTnLst>
                                </p:cTn>
                              </p:par>
                            </p:childTnLst>
                          </p:cTn>
                        </p:par>
                        <p:par>
                          <p:cTn id="73" fill="hold" nodeType="afterGroup">
                            <p:stCondLst>
                              <p:cond delay="2000"/>
                            </p:stCondLst>
                            <p:childTnLst>
                              <p:par>
                                <p:cTn id="74" presetID="22" presetClass="entr" presetSubtype="4" fill="hold" nodeType="afterEffect">
                                  <p:stCondLst>
                                    <p:cond delay="0"/>
                                  </p:stCondLst>
                                  <p:childTnLst>
                                    <p:set>
                                      <p:cBhvr>
                                        <p:cTn id="75" dur="1" fill="hold">
                                          <p:stCondLst>
                                            <p:cond delay="0"/>
                                          </p:stCondLst>
                                        </p:cTn>
                                        <p:tgtEl>
                                          <p:spTgt spid="78879"/>
                                        </p:tgtEl>
                                        <p:attrNameLst>
                                          <p:attrName>style.visibility</p:attrName>
                                        </p:attrNameLst>
                                      </p:cBhvr>
                                      <p:to>
                                        <p:strVal val="visible"/>
                                      </p:to>
                                    </p:set>
                                    <p:animEffect transition="in" filter="wipe(down)">
                                      <p:cBhvr>
                                        <p:cTn id="76" dur="2000"/>
                                        <p:tgtEl>
                                          <p:spTgt spid="78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nimBg="1"/>
      <p:bldP spid="78852" grpId="0" build="p"/>
      <p:bldP spid="78870" grpId="0" animBg="1"/>
      <p:bldP spid="788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a:spLocks noGrp="1"/>
          </p:cNvSpPr>
          <p:nvPr>
            <p:ph type="title"/>
          </p:nvPr>
        </p:nvSpPr>
        <p:spPr/>
        <p:txBody>
          <a:bodyPr/>
          <a:lstStyle/>
          <a:p>
            <a:endParaRPr lang="es-AR" smtClean="0"/>
          </a:p>
        </p:txBody>
      </p:sp>
      <p:sp>
        <p:nvSpPr>
          <p:cNvPr id="14339" name="3 Marcador de fecha"/>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5839A7C-7E18-4D81-B1D4-81D3D7112C11}" type="datetime1">
              <a:rPr lang="es-ES" smtClean="0"/>
              <a:pPr eaLnBrk="1" hangingPunct="1"/>
              <a:t>31/05/2024</a:t>
            </a:fld>
            <a:endParaRPr lang="es-ES" altLang="en-US" smtClean="0"/>
          </a:p>
        </p:txBody>
      </p:sp>
      <p:sp>
        <p:nvSpPr>
          <p:cNvPr id="14340" name="4 Marcador de pie de página"/>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altLang="en-US" smtClean="0"/>
              <a:t>Ing/MSc. Federico Walas-Mateo</a:t>
            </a:r>
          </a:p>
        </p:txBody>
      </p:sp>
      <p:pic>
        <p:nvPicPr>
          <p:cNvPr id="143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2175" y="1533526"/>
            <a:ext cx="4916488" cy="413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10992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Título"/>
          <p:cNvSpPr>
            <a:spLocks noGrp="1"/>
          </p:cNvSpPr>
          <p:nvPr>
            <p:ph type="title"/>
          </p:nvPr>
        </p:nvSpPr>
        <p:spPr/>
        <p:txBody>
          <a:bodyPr/>
          <a:lstStyle/>
          <a:p>
            <a:r>
              <a:rPr lang="es-AR" smtClean="0"/>
              <a:t>Decidir  entre distintos Procesos</a:t>
            </a:r>
          </a:p>
        </p:txBody>
      </p:sp>
      <p:sp>
        <p:nvSpPr>
          <p:cNvPr id="15363" name="3 Marcador de fecha"/>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3ECDF02-2680-4FC7-B1AB-6A3FF9098AC6}" type="datetime1">
              <a:rPr lang="es-ES" smtClean="0"/>
              <a:pPr eaLnBrk="1" hangingPunct="1"/>
              <a:t>31/05/2024</a:t>
            </a:fld>
            <a:endParaRPr lang="es-ES" altLang="en-US" smtClean="0"/>
          </a:p>
        </p:txBody>
      </p:sp>
      <p:sp>
        <p:nvSpPr>
          <p:cNvPr id="15364" name="4 Marcador de pie de página"/>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altLang="en-US" smtClean="0"/>
              <a:t>Ing/MSc. Federico Walas-Mateo</a:t>
            </a:r>
          </a:p>
        </p:txBody>
      </p:sp>
      <p:pic>
        <p:nvPicPr>
          <p:cNvPr id="1536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4" y="1398589"/>
            <a:ext cx="5329237" cy="47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49869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1844824"/>
            <a:ext cx="6399213" cy="392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86387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Conclusiones</a:t>
            </a:r>
            <a:endParaRPr lang="es-AR" dirty="0"/>
          </a:p>
        </p:txBody>
      </p:sp>
      <p:sp>
        <p:nvSpPr>
          <p:cNvPr id="4" name="3 Rectángulo"/>
          <p:cNvSpPr/>
          <p:nvPr/>
        </p:nvSpPr>
        <p:spPr>
          <a:xfrm>
            <a:off x="2063552" y="1556792"/>
            <a:ext cx="8208912" cy="2677656"/>
          </a:xfrm>
          <a:prstGeom prst="rect">
            <a:avLst/>
          </a:prstGeom>
        </p:spPr>
        <p:txBody>
          <a:bodyPr wrap="square">
            <a:spAutoFit/>
          </a:bodyPr>
          <a:lstStyle/>
          <a:p>
            <a:pPr marL="355600" indent="-355600"/>
            <a:r>
              <a:rPr lang="es-ES" sz="2400" dirty="0"/>
              <a:t>1- Todas las empresas tienen un punto por debajo del cual pierden dinero. (e</a:t>
            </a:r>
            <a:r>
              <a:rPr lang="es-AR" sz="2400" dirty="0"/>
              <a:t>s importante saber cuál es ese Punto de Cobertura)</a:t>
            </a:r>
            <a:endParaRPr lang="es-ES" sz="2400" dirty="0"/>
          </a:p>
          <a:p>
            <a:pPr marL="355600" indent="-355600"/>
            <a:endParaRPr lang="es-ES" sz="2400" dirty="0"/>
          </a:p>
          <a:p>
            <a:pPr marL="355600" indent="-355600"/>
            <a:r>
              <a:rPr lang="es-ES" sz="2400" dirty="0"/>
              <a:t>2- El costo total unitario disminuye al aumentar el número de unidades producidas. </a:t>
            </a:r>
            <a:r>
              <a:rPr lang="es-ES" sz="2400" dirty="0" err="1"/>
              <a:t>Economia</a:t>
            </a:r>
            <a:r>
              <a:rPr lang="es-ES" sz="2400" dirty="0"/>
              <a:t> de Escala</a:t>
            </a:r>
          </a:p>
          <a:p>
            <a:pPr marL="355600" indent="-355600"/>
            <a:endParaRPr lang="es-ES" sz="2400" dirty="0"/>
          </a:p>
        </p:txBody>
      </p:sp>
    </p:spTree>
    <p:extLst>
      <p:ext uri="{BB962C8B-B14F-4D97-AF65-F5344CB8AC3E}">
        <p14:creationId xmlns:p14="http://schemas.microsoft.com/office/powerpoint/2010/main" val="3171542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1524000" y="228601"/>
            <a:ext cx="8534400" cy="758825"/>
          </a:xfrm>
        </p:spPr>
        <p:txBody>
          <a:bodyPr>
            <a:normAutofit/>
          </a:bodyPr>
          <a:lstStyle/>
          <a:p>
            <a:r>
              <a:rPr lang="es-AR" dirty="0" smtClean="0"/>
              <a:t>Costos y ciclo de vida del producto</a:t>
            </a:r>
            <a:endParaRPr lang="es-A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1556792"/>
            <a:ext cx="7256463"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8838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u="sng" dirty="0" err="1" smtClean="0"/>
              <a:t>Analisis</a:t>
            </a:r>
            <a:r>
              <a:rPr lang="es-AR" u="sng" dirty="0" smtClean="0"/>
              <a:t> de Riesgo</a:t>
            </a:r>
            <a:endParaRPr lang="es-AR" u="sng" dirty="0"/>
          </a:p>
        </p:txBody>
      </p:sp>
      <p:sp>
        <p:nvSpPr>
          <p:cNvPr id="3" name="2 Marcador de contenido"/>
          <p:cNvSpPr>
            <a:spLocks noGrp="1"/>
          </p:cNvSpPr>
          <p:nvPr>
            <p:ph idx="1"/>
          </p:nvPr>
        </p:nvSpPr>
        <p:spPr/>
        <p:txBody>
          <a:bodyPr>
            <a:normAutofit/>
          </a:bodyPr>
          <a:lstStyle/>
          <a:p>
            <a:r>
              <a:rPr lang="es-AR" dirty="0" smtClean="0"/>
              <a:t>P. E.: Punto de Equilibrio: es la medición del saldo operativo de una empresa.</a:t>
            </a:r>
          </a:p>
          <a:p>
            <a:r>
              <a:rPr lang="es-AR" dirty="0" smtClean="0"/>
              <a:t>Es requerido para su calculo:</a:t>
            </a:r>
          </a:p>
          <a:p>
            <a:pPr marL="0" indent="0">
              <a:buNone/>
            </a:pPr>
            <a:r>
              <a:rPr lang="es-AR" dirty="0" smtClean="0"/>
              <a:t>Costos Fijos</a:t>
            </a:r>
          </a:p>
          <a:p>
            <a:pPr marL="0" indent="0">
              <a:buNone/>
            </a:pPr>
            <a:r>
              <a:rPr lang="es-AR" dirty="0" smtClean="0"/>
              <a:t>Costos Variables</a:t>
            </a:r>
          </a:p>
          <a:p>
            <a:pPr marL="0" indent="0">
              <a:buNone/>
            </a:pPr>
            <a:r>
              <a:rPr lang="es-AR" dirty="0" smtClean="0"/>
              <a:t>Precio de Venta.</a:t>
            </a:r>
          </a:p>
          <a:p>
            <a:pPr marL="0" indent="0">
              <a:buNone/>
            </a:pPr>
            <a:endParaRPr lang="es-AR" dirty="0"/>
          </a:p>
        </p:txBody>
      </p:sp>
    </p:spTree>
    <p:extLst>
      <p:ext uri="{BB962C8B-B14F-4D97-AF65-F5344CB8AC3E}">
        <p14:creationId xmlns:p14="http://schemas.microsoft.com/office/powerpoint/2010/main" val="11879953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Economías de escala</a:t>
            </a:r>
            <a:endParaRPr lang="es-AR" dirty="0"/>
          </a:p>
        </p:txBody>
      </p:sp>
      <p:sp>
        <p:nvSpPr>
          <p:cNvPr id="3" name="2 Marcador de contenido"/>
          <p:cNvSpPr>
            <a:spLocks noGrp="1"/>
          </p:cNvSpPr>
          <p:nvPr>
            <p:ph sz="quarter" idx="1"/>
          </p:nvPr>
        </p:nvSpPr>
        <p:spPr/>
        <p:txBody>
          <a:bodyPr/>
          <a:lstStyle/>
          <a:p>
            <a:r>
              <a:rPr lang="es-AR" dirty="0" smtClean="0"/>
              <a:t>En relación a los costos variables</a:t>
            </a:r>
          </a:p>
          <a:p>
            <a:pPr lvl="1"/>
            <a:r>
              <a:rPr lang="es-AR" dirty="0" smtClean="0"/>
              <a:t>Disminución de los costos variables unitarios</a:t>
            </a:r>
          </a:p>
          <a:p>
            <a:r>
              <a:rPr lang="es-AR" dirty="0" smtClean="0"/>
              <a:t>En relación con costos Fijos</a:t>
            </a:r>
          </a:p>
          <a:p>
            <a:pPr lvl="1"/>
            <a:r>
              <a:rPr lang="es-AR" dirty="0" smtClean="0"/>
              <a:t>Disminución del costo de inversión x unidad producida</a:t>
            </a:r>
          </a:p>
          <a:p>
            <a:pPr lvl="1"/>
            <a:r>
              <a:rPr lang="es-AR" dirty="0" smtClean="0"/>
              <a:t>Disminución de los costos generales x unidad producida.</a:t>
            </a:r>
          </a:p>
        </p:txBody>
      </p:sp>
    </p:spTree>
    <p:extLst>
      <p:ext uri="{BB962C8B-B14F-4D97-AF65-F5344CB8AC3E}">
        <p14:creationId xmlns:p14="http://schemas.microsoft.com/office/powerpoint/2010/main" val="49959788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ema1">
  <a:themeElements>
    <a:clrScheme name="Civil">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ema1" id="{EAEAC6BB-468C-4A32-9193-59F36674E635}" vid="{4640B91D-ECCE-4972-9574-6FE19D209EF9}"/>
    </a:ext>
  </a:extLst>
</a:theme>
</file>

<file path=docProps/app.xml><?xml version="1.0" encoding="utf-8"?>
<Properties xmlns="http://schemas.openxmlformats.org/officeDocument/2006/extended-properties" xmlns:vt="http://schemas.openxmlformats.org/officeDocument/2006/docPropsVTypes">
  <Template>Tema1</Template>
  <TotalTime>316</TotalTime>
  <Words>1181</Words>
  <Application>Microsoft Office PowerPoint</Application>
  <PresentationFormat>Panorámica</PresentationFormat>
  <Paragraphs>110</Paragraphs>
  <Slides>26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26</vt:i4>
      </vt:variant>
    </vt:vector>
  </HeadingPairs>
  <TitlesOfParts>
    <vt:vector size="34" baseType="lpstr">
      <vt:lpstr>Arial</vt:lpstr>
      <vt:lpstr>Arial Black</vt:lpstr>
      <vt:lpstr>Arial Narrow</vt:lpstr>
      <vt:lpstr>Georgia</vt:lpstr>
      <vt:lpstr>Times New Roman</vt:lpstr>
      <vt:lpstr>Wingdings</vt:lpstr>
      <vt:lpstr>Wingdings 2</vt:lpstr>
      <vt:lpstr>Tema1</vt:lpstr>
      <vt:lpstr>Costos y Microeconomia</vt:lpstr>
      <vt:lpstr>Algunas definiciones para comenzar el tema</vt:lpstr>
      <vt:lpstr>Consideraciones</vt:lpstr>
      <vt:lpstr>costos fijos y variables</vt:lpstr>
      <vt:lpstr>Precios</vt:lpstr>
      <vt:lpstr>Precios II</vt:lpstr>
      <vt:lpstr>Dice Peter Drucker</vt:lpstr>
      <vt:lpstr>Que costos consideramos?</vt:lpstr>
      <vt:lpstr>Recursos Humanos</vt:lpstr>
      <vt:lpstr>Recursos Tecnológicos</vt:lpstr>
      <vt:lpstr>Amortización (caso para equipos/activos)</vt:lpstr>
      <vt:lpstr>Ejemplos </vt:lpstr>
      <vt:lpstr>Otros costos</vt:lpstr>
      <vt:lpstr>Costos Generales (Overhead)</vt:lpstr>
      <vt:lpstr>Estructura genérica de costos</vt:lpstr>
      <vt:lpstr>CAPITAL DE TRABAJO/FLUJO DE FONDOS </vt:lpstr>
      <vt:lpstr>Presentación de PowerPoint</vt:lpstr>
      <vt:lpstr>Costo Financiero</vt:lpstr>
      <vt:lpstr>Pto de Equilibrio su representación gráfica</vt:lpstr>
      <vt:lpstr>Presentación de PowerPoint</vt:lpstr>
      <vt:lpstr>Decidir  entre distintos Procesos</vt:lpstr>
      <vt:lpstr>Presentación de PowerPoint</vt:lpstr>
      <vt:lpstr>Conclusiones</vt:lpstr>
      <vt:lpstr>Costos y ciclo de vida del producto</vt:lpstr>
      <vt:lpstr>Analisis de Riesgo</vt:lpstr>
      <vt:lpstr>Economías de escala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Walas</dc:creator>
  <cp:lastModifiedBy>Fede Walas</cp:lastModifiedBy>
  <cp:revision>22</cp:revision>
  <dcterms:created xsi:type="dcterms:W3CDTF">2020-04-22T19:35:52Z</dcterms:created>
  <dcterms:modified xsi:type="dcterms:W3CDTF">2024-05-31T15:11:13Z</dcterms:modified>
</cp:coreProperties>
</file>