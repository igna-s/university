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1"/>
  </p:sldMasterIdLst>
  <p:notesMasterIdLst>
    <p:notesMasterId r:id="rId27"/>
  </p:notesMasterIdLst>
  <p:sldIdLst>
    <p:sldId id="265" r:id="rId2"/>
    <p:sldId id="266" r:id="rId3"/>
    <p:sldId id="283" r:id="rId4"/>
    <p:sldId id="293" r:id="rId5"/>
    <p:sldId id="284" r:id="rId6"/>
    <p:sldId id="289" r:id="rId7"/>
    <p:sldId id="285" r:id="rId8"/>
    <p:sldId id="291" r:id="rId9"/>
    <p:sldId id="290" r:id="rId10"/>
    <p:sldId id="267" r:id="rId11"/>
    <p:sldId id="292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C41AF-E72D-4D5C-9DEC-2B9B16EA8F7F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D255C-8787-4655-A8DC-6AEED181063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7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2D81A3-9B6A-4891-BAF2-B029CD6BB21C}" type="slidenum">
              <a:rPr lang="es-AR" altLang="es-AR" sz="1300"/>
              <a:pPr>
                <a:spcBef>
                  <a:spcPct val="0"/>
                </a:spcBef>
              </a:pPr>
              <a:t>13</a:t>
            </a:fld>
            <a:endParaRPr lang="es-AR" altLang="es-AR" sz="13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16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á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á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á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_tradnl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Marcador de fech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17" name="Marcador de pie de página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ector rec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á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Marcador de número de diapositiva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Marcador de conteni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á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á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á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</p:txBody>
      </p:sp>
      <p:sp>
        <p:nvSpPr>
          <p:cNvPr id="13" name="Rectá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á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Conector rec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B6EE300C-6FC5-4FC3-AF1A-075E4F50620D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ector rec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Marcador de conteni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12" name="Marcador de conteni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c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á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á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á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á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á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á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onector rec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Marcador de conteni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26" name="Marcador de conteni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á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á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á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á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á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á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á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á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</p:txBody>
      </p:sp>
      <p:sp>
        <p:nvSpPr>
          <p:cNvPr id="8" name="Rectá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c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Marcador de conteni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Rectá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c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á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á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á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á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á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á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_tradnl" smtClean="0"/>
              <a:t>Arrastre la imagen al marcador de posición o haga clic en el icono para agregar</a:t>
            </a:r>
            <a:endParaRPr kumimoji="0" lang="en-U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</p:txBody>
      </p:sp>
      <p:sp>
        <p:nvSpPr>
          <p:cNvPr id="22" name="Rectá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327B613C-1AD7-49D3-885D-F654C5CDBAA6}" type="datetime1">
              <a:rPr lang="en-US" smtClean="0"/>
              <a:pPr/>
              <a:t>5/23/2025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á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á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á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á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á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c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E2D2B3B-882E-40F3-A32F-6DD51691504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lang="es-ES_tradnl" smtClean="0"/>
              <a:t>Segundo nivel</a:t>
            </a:r>
          </a:p>
          <a:p>
            <a:pPr lvl="2" eaLnBrk="1" latinLnBrk="0" hangingPunct="1"/>
            <a:r>
              <a:rPr lang="es-ES_tradnl" smtClean="0"/>
              <a:t>Tercer nivel</a:t>
            </a:r>
          </a:p>
          <a:p>
            <a:pPr lvl="3" eaLnBrk="1" latinLnBrk="0" hangingPunct="1"/>
            <a:r>
              <a:rPr lang="es-ES_tradnl" smtClean="0"/>
              <a:t>Cuarto nivel</a:t>
            </a:r>
          </a:p>
          <a:p>
            <a:pPr lvl="4" eaLnBrk="1" latinLnBrk="0" hangingPunct="1"/>
            <a:r>
              <a:rPr lang="es-ES_tradnl" smtClean="0"/>
              <a:t>Quinto nivel</a:t>
            </a:r>
            <a:endParaRPr kumimoji="0"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á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á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á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á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Marcador de fech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5/23/2025</a:t>
            </a:fld>
            <a:endParaRPr lang="en-U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á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c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Marcador de número de diapositiva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2" name="Marcador de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_tradnl" smtClean="0"/>
              <a:t>Clic para editar título</a:t>
            </a:r>
            <a:endParaRPr kumimoji="0" lang="en-US"/>
          </a:p>
        </p:txBody>
      </p:sp>
      <p:sp>
        <p:nvSpPr>
          <p:cNvPr id="13" name="Marcador de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_tradnl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_tradnl" smtClean="0"/>
              <a:t>Segundo nivel</a:t>
            </a:r>
          </a:p>
          <a:p>
            <a:pPr lvl="2" eaLnBrk="1" latinLnBrk="0" hangingPunct="1"/>
            <a:r>
              <a:rPr kumimoji="0" lang="es-ES_tradnl" smtClean="0"/>
              <a:t>Tercer nivel</a:t>
            </a:r>
          </a:p>
          <a:p>
            <a:pPr lvl="3" eaLnBrk="1" latinLnBrk="0" hangingPunct="1"/>
            <a:r>
              <a:rPr kumimoji="0" lang="es-ES_tradnl" smtClean="0"/>
              <a:t>Cuarto nivel</a:t>
            </a:r>
          </a:p>
          <a:p>
            <a:pPr lvl="4" eaLnBrk="1" latinLnBrk="0" hangingPunct="1"/>
            <a:r>
              <a:rPr kumimoji="0" lang="es-ES_tradnl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60338"/>
            <a:ext cx="6596063" cy="2133600"/>
          </a:xfrm>
        </p:spPr>
        <p:txBody>
          <a:bodyPr>
            <a:noAutofit/>
          </a:bodyPr>
          <a:lstStyle/>
          <a:p>
            <a:r>
              <a:rPr lang="es-MX" altLang="es-AR" dirty="0"/>
              <a:t>Introducción a la </a:t>
            </a:r>
            <a:r>
              <a:rPr lang="es-MX" altLang="es-AR" dirty="0" smtClean="0"/>
              <a:t>Comercialización y a la Planificación Estratégica</a:t>
            </a:r>
            <a:endParaRPr lang="es-MX" altLang="es-AR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s-ES" altLang="es-AR" smtClean="0"/>
          </a:p>
          <a:p>
            <a:pPr algn="ctr" eaLnBrk="1" hangingPunct="1"/>
            <a:r>
              <a:rPr lang="es-ES" altLang="es-AR" smtClean="0"/>
              <a:t>MSc. Federico Walas Mateo 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757363" y="4147371"/>
            <a:ext cx="6210300" cy="122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85000"/>
              <a:buNone/>
            </a:pPr>
            <a:r>
              <a:rPr lang="es-AR" altLang="es-AR" sz="1600" b="1" cap="all" spc="250" dirty="0" err="1">
                <a:solidFill>
                  <a:schemeClr val="tx2"/>
                </a:solidFill>
                <a:latin typeface="+mn-lt"/>
                <a:cs typeface="+mn-cs"/>
              </a:rPr>
              <a:t>Economia</a:t>
            </a:r>
            <a:r>
              <a:rPr lang="es-AR" altLang="es-AR" sz="1600" b="1" cap="all" spc="250" dirty="0">
                <a:solidFill>
                  <a:schemeClr val="tx2"/>
                </a:solidFill>
                <a:latin typeface="+mn-lt"/>
                <a:cs typeface="+mn-cs"/>
              </a:rPr>
              <a:t> y </a:t>
            </a:r>
            <a:r>
              <a:rPr lang="es-AR" altLang="es-AR" sz="1600" b="1" cap="all" spc="250" dirty="0" err="1">
                <a:solidFill>
                  <a:schemeClr val="tx2"/>
                </a:solidFill>
                <a:latin typeface="+mn-lt"/>
                <a:cs typeface="+mn-cs"/>
              </a:rPr>
              <a:t>Emprendedorismo</a:t>
            </a:r>
            <a:r>
              <a:rPr lang="es-AR" altLang="es-AR" sz="1600" b="1" cap="all" spc="250" dirty="0">
                <a:solidFill>
                  <a:schemeClr val="tx2"/>
                </a:solidFill>
                <a:latin typeface="+mn-lt"/>
                <a:cs typeface="+mn-cs"/>
              </a:rPr>
              <a:t>  </a:t>
            </a:r>
            <a:endParaRPr lang="es-AR" altLang="es-AR" sz="1600" b="1" cap="all" spc="250" dirty="0" smtClean="0">
              <a:solidFill>
                <a:schemeClr val="tx2"/>
              </a:solidFill>
              <a:latin typeface="+mn-lt"/>
              <a:cs typeface="+mn-cs"/>
            </a:endParaRPr>
          </a:p>
          <a:p>
            <a:pPr algn="ctr">
              <a:buClr>
                <a:schemeClr val="accent1"/>
              </a:buClr>
              <a:buSzPct val="85000"/>
              <a:buNone/>
            </a:pPr>
            <a:endParaRPr lang="es-AR" altLang="es-AR" sz="1600" b="1" cap="all" spc="250" dirty="0">
              <a:solidFill>
                <a:schemeClr val="tx2"/>
              </a:solidFill>
              <a:latin typeface="+mn-lt"/>
              <a:cs typeface="+mn-cs"/>
            </a:endParaRPr>
          </a:p>
          <a:p>
            <a:pPr algn="ctr">
              <a:buClr>
                <a:schemeClr val="accent1"/>
              </a:buClr>
              <a:buSzPct val="85000"/>
              <a:buNone/>
            </a:pPr>
            <a:r>
              <a:rPr lang="es-AR" altLang="es-AR" sz="1600" b="1" cap="all" spc="250" dirty="0" smtClean="0">
                <a:solidFill>
                  <a:schemeClr val="tx2"/>
                </a:solidFill>
                <a:latin typeface="+mn-lt"/>
                <a:cs typeface="+mn-cs"/>
              </a:rPr>
              <a:t>Ing</a:t>
            </a:r>
            <a:r>
              <a:rPr lang="es-AR" altLang="es-AR" sz="1600" b="1" cap="all" spc="250" dirty="0">
                <a:solidFill>
                  <a:schemeClr val="tx2"/>
                </a:solidFill>
                <a:latin typeface="+mn-lt"/>
                <a:cs typeface="+mn-cs"/>
              </a:rPr>
              <a:t>. en Computación </a:t>
            </a:r>
          </a:p>
          <a:p>
            <a:pPr algn="ctr">
              <a:buClr>
                <a:schemeClr val="accent1"/>
              </a:buClr>
              <a:buSzPct val="85000"/>
              <a:buNone/>
            </a:pPr>
            <a:r>
              <a:rPr lang="es-AR" altLang="es-AR" sz="1600" b="1" cap="all" spc="250" dirty="0">
                <a:solidFill>
                  <a:schemeClr val="tx2"/>
                </a:solidFill>
                <a:latin typeface="+mn-lt"/>
                <a:cs typeface="+mn-cs"/>
              </a:rPr>
              <a:t>       UNLP</a:t>
            </a:r>
          </a:p>
        </p:txBody>
      </p:sp>
    </p:spTree>
    <p:extLst>
      <p:ext uri="{BB962C8B-B14F-4D97-AF65-F5344CB8AC3E}">
        <p14:creationId xmlns:p14="http://schemas.microsoft.com/office/powerpoint/2010/main" val="313056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smtClean="0"/>
              <a:t>Lectura Recomendada</a:t>
            </a:r>
          </a:p>
        </p:txBody>
      </p:sp>
      <p:sp>
        <p:nvSpPr>
          <p:cNvPr id="512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/>
              <a:t>Capitulo 11 De Cero A UNO. “Si la construyes vendrán</a:t>
            </a:r>
            <a:r>
              <a:rPr lang="es-AR" dirty="0" smtClean="0"/>
              <a:t>”</a:t>
            </a:r>
          </a:p>
          <a:p>
            <a:r>
              <a:rPr lang="es-AR" altLang="es-AR" smtClean="0"/>
              <a:t>(obligatoria)</a:t>
            </a:r>
            <a:endParaRPr lang="es-AR" altLang="es-AR" smtClean="0"/>
          </a:p>
          <a:p>
            <a:r>
              <a:rPr lang="es-AR" altLang="es-AR" dirty="0" err="1" smtClean="0"/>
              <a:t>Tecnologia</a:t>
            </a:r>
            <a:r>
              <a:rPr lang="es-AR" altLang="es-AR" dirty="0" smtClean="0"/>
              <a:t> </a:t>
            </a:r>
            <a:r>
              <a:rPr lang="es-AR" altLang="es-AR" dirty="0" smtClean="0"/>
              <a:t>e Innovación en la Empresa Dirección y Gestión - Ediciones UPC - 1998 – Capitulo 2 y 8.</a:t>
            </a:r>
          </a:p>
          <a:p>
            <a:r>
              <a:rPr lang="en-US" altLang="es-AR" dirty="0"/>
              <a:t>Marketing </a:t>
            </a:r>
            <a:r>
              <a:rPr lang="en-US" altLang="es-AR" dirty="0" smtClean="0"/>
              <a:t>Insights from </a:t>
            </a:r>
            <a:r>
              <a:rPr lang="en-US" altLang="es-AR" dirty="0"/>
              <a:t>A to Z</a:t>
            </a:r>
            <a:r>
              <a:rPr lang="es-AR" altLang="es-AR" dirty="0" smtClean="0"/>
              <a:t>. </a:t>
            </a:r>
            <a:r>
              <a:rPr lang="es-AR" altLang="es-AR" dirty="0" err="1" smtClean="0"/>
              <a:t>Kotler</a:t>
            </a:r>
            <a:r>
              <a:rPr lang="es-AR" altLang="es-AR" dirty="0" smtClean="0"/>
              <a:t>, Philip</a:t>
            </a:r>
            <a:endParaRPr lang="es-AR" dirty="0"/>
          </a:p>
          <a:p>
            <a:r>
              <a:rPr lang="es-AR" dirty="0"/>
              <a:t> Generación de Modelos de Negocios </a:t>
            </a:r>
            <a:r>
              <a:rPr lang="es-AR" dirty="0" smtClean="0"/>
              <a:t>- Alexander </a:t>
            </a:r>
            <a:r>
              <a:rPr lang="es-AR" dirty="0" err="1"/>
              <a:t>Osterwalder</a:t>
            </a:r>
            <a:r>
              <a:rPr lang="es-AR" dirty="0"/>
              <a:t> &amp; Yves </a:t>
            </a:r>
            <a:r>
              <a:rPr lang="es-AR" dirty="0" err="1"/>
              <a:t>Pigneur</a:t>
            </a:r>
            <a:r>
              <a:rPr lang="es-AR" dirty="0"/>
              <a:t> </a:t>
            </a:r>
            <a:r>
              <a:rPr lang="es-AR" dirty="0" smtClean="0"/>
              <a:t>.</a:t>
            </a:r>
          </a:p>
          <a:p>
            <a:r>
              <a:rPr lang="en-US" dirty="0"/>
              <a:t>How Smart, Connected Products </a:t>
            </a:r>
            <a:r>
              <a:rPr lang="en-US" dirty="0" smtClean="0"/>
              <a:t>Are </a:t>
            </a:r>
            <a:r>
              <a:rPr lang="es-AR" dirty="0" err="1" smtClean="0"/>
              <a:t>Transforming</a:t>
            </a:r>
            <a:r>
              <a:rPr lang="es-AR" dirty="0" smtClean="0"/>
              <a:t> </a:t>
            </a:r>
            <a:r>
              <a:rPr lang="es-AR" dirty="0" err="1" smtClean="0"/>
              <a:t>Competition</a:t>
            </a:r>
            <a:r>
              <a:rPr lang="es-AR" dirty="0" smtClean="0"/>
              <a:t>- </a:t>
            </a:r>
            <a:r>
              <a:rPr lang="es-AR" dirty="0"/>
              <a:t>Michael E. </a:t>
            </a:r>
            <a:r>
              <a:rPr lang="es-AR" dirty="0" err="1"/>
              <a:t>Porter</a:t>
            </a:r>
            <a:r>
              <a:rPr lang="es-AR" dirty="0"/>
              <a:t> and James E. </a:t>
            </a:r>
            <a:r>
              <a:rPr lang="es-AR" dirty="0" err="1" smtClean="0"/>
              <a:t>Heppelmann</a:t>
            </a:r>
            <a:r>
              <a:rPr lang="es-AR" dirty="0" smtClean="0"/>
              <a:t>. </a:t>
            </a:r>
            <a:endParaRPr lang="es-AR" dirty="0" smtClean="0"/>
          </a:p>
          <a:p>
            <a:r>
              <a:rPr lang="es-AR" altLang="es-AR" dirty="0" smtClean="0"/>
              <a:t>Por </a:t>
            </a:r>
            <a:r>
              <a:rPr lang="es-AR" altLang="es-AR" dirty="0" smtClean="0"/>
              <a:t>favor lean !!!!</a:t>
            </a:r>
          </a:p>
          <a:p>
            <a:endParaRPr lang="es-AR" altLang="es-AR" dirty="0" smtClean="0"/>
          </a:p>
        </p:txBody>
      </p:sp>
    </p:spTree>
    <p:extLst>
      <p:ext uri="{BB962C8B-B14F-4D97-AF65-F5344CB8AC3E}">
        <p14:creationId xmlns:p14="http://schemas.microsoft.com/office/powerpoint/2010/main" val="334688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Go</a:t>
            </a:r>
            <a:r>
              <a:rPr lang="es-AR" dirty="0" smtClean="0"/>
              <a:t> To </a:t>
            </a:r>
            <a:r>
              <a:rPr lang="es-AR" dirty="0" err="1" smtClean="0"/>
              <a:t>Market</a:t>
            </a:r>
            <a:r>
              <a:rPr lang="es-AR" dirty="0" smtClean="0"/>
              <a:t> (Salir al Mercado)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Como vendemos el producto o servicio?</a:t>
            </a:r>
          </a:p>
          <a:p>
            <a:r>
              <a:rPr lang="es-AR" dirty="0" smtClean="0"/>
              <a:t>Después que validamos la idea</a:t>
            </a:r>
          </a:p>
          <a:p>
            <a:r>
              <a:rPr lang="es-AR" dirty="0" smtClean="0"/>
              <a:t>Panificación para comercializar. </a:t>
            </a:r>
            <a:endParaRPr lang="es-AR" dirty="0"/>
          </a:p>
          <a:p>
            <a:r>
              <a:rPr lang="es-AR" dirty="0" smtClean="0"/>
              <a:t>Como hacemos conocer el producto</a:t>
            </a:r>
          </a:p>
          <a:p>
            <a:r>
              <a:rPr lang="es-AR" dirty="0" smtClean="0"/>
              <a:t>Como hacemos para </a:t>
            </a:r>
            <a:r>
              <a:rPr lang="es-AR" smtClean="0"/>
              <a:t>generar Leads/prospectos?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3768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Conocer el mercado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Fundamental explorar y estudiar el mercado objetivo de mi producto o servicio.</a:t>
            </a:r>
            <a:endParaRPr lang="es-AR" dirty="0"/>
          </a:p>
          <a:p>
            <a:r>
              <a:rPr lang="es-AR" dirty="0" smtClean="0"/>
              <a:t>En el foco deben estar aquellos que Absolutamente Necesitan Tu Producto/Servicio</a:t>
            </a:r>
            <a:endParaRPr lang="es-AR" dirty="0"/>
          </a:p>
          <a:p>
            <a:r>
              <a:rPr lang="en-US" dirty="0" err="1" smtClean="0"/>
              <a:t>Cuantos</a:t>
            </a:r>
            <a:r>
              <a:rPr lang="en-US" dirty="0" smtClean="0"/>
              <a:t>? A que </a:t>
            </a:r>
            <a:r>
              <a:rPr lang="en-US" dirty="0" err="1" smtClean="0"/>
              <a:t>precio</a:t>
            </a:r>
            <a:r>
              <a:rPr lang="en-US" dirty="0" smtClean="0"/>
              <a:t>? A </a:t>
            </a:r>
            <a:r>
              <a:rPr lang="es-AR" dirty="0"/>
              <a:t>través</a:t>
            </a:r>
            <a:r>
              <a:rPr lang="en-US" dirty="0" smtClean="0"/>
              <a:t> de que canal?</a:t>
            </a:r>
            <a:endParaRPr lang="en-US" dirty="0"/>
          </a:p>
          <a:p>
            <a:r>
              <a:rPr lang="en-US" dirty="0" err="1" smtClean="0"/>
              <a:t>Ponerse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el </a:t>
            </a:r>
            <a:r>
              <a:rPr lang="en-US" dirty="0" err="1" smtClean="0"/>
              <a:t>lugar</a:t>
            </a:r>
            <a:r>
              <a:rPr lang="en-US" dirty="0" smtClean="0"/>
              <a:t> del </a:t>
            </a:r>
            <a:r>
              <a:rPr lang="en-US" dirty="0" err="1" smtClean="0"/>
              <a:t>cliente</a:t>
            </a:r>
            <a:r>
              <a:rPr lang="en-US" dirty="0" smtClean="0"/>
              <a:t>, </a:t>
            </a:r>
            <a:r>
              <a:rPr lang="en-US" dirty="0" err="1" smtClean="0"/>
              <a:t>entender</a:t>
            </a:r>
            <a:r>
              <a:rPr lang="en-US" dirty="0" smtClean="0"/>
              <a:t> la </a:t>
            </a:r>
            <a:r>
              <a:rPr lang="en-US" dirty="0" err="1" smtClean="0"/>
              <a:t>necesidad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Ej</a:t>
            </a:r>
            <a:r>
              <a:rPr lang="en-US" dirty="0" smtClean="0"/>
              <a:t> de </a:t>
            </a:r>
            <a:r>
              <a:rPr lang="en-US" dirty="0" err="1" smtClean="0"/>
              <a:t>los</a:t>
            </a:r>
            <a:r>
              <a:rPr lang="en-US" dirty="0" smtClean="0"/>
              <a:t> TPI. </a:t>
            </a:r>
            <a:r>
              <a:rPr lang="en-US" dirty="0" smtClean="0"/>
              <a:t>Para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proyectos</a:t>
            </a:r>
            <a:r>
              <a:rPr lang="en-US" dirty="0" smtClean="0"/>
              <a:t> </a:t>
            </a:r>
            <a:r>
              <a:rPr lang="en-US" dirty="0" err="1" smtClean="0"/>
              <a:t>debería</a:t>
            </a:r>
            <a:r>
              <a:rPr lang="en-US" dirty="0" smtClean="0"/>
              <a:t> </a:t>
            </a:r>
            <a:r>
              <a:rPr lang="en-US" dirty="0" err="1" smtClean="0"/>
              <a:t>trabajar</a:t>
            </a:r>
            <a:r>
              <a:rPr lang="en-US" dirty="0" smtClean="0"/>
              <a:t> </a:t>
            </a:r>
            <a:r>
              <a:rPr lang="en-US" dirty="0" smtClean="0"/>
              <a:t>con </a:t>
            </a:r>
            <a:r>
              <a:rPr lang="en-US" dirty="0" err="1" smtClean="0"/>
              <a:t>expertos</a:t>
            </a:r>
            <a:r>
              <a:rPr lang="en-US" dirty="0" smtClean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distintos</a:t>
            </a:r>
            <a:r>
              <a:rPr lang="en-US" dirty="0" smtClean="0"/>
              <a:t> </a:t>
            </a:r>
            <a:r>
              <a:rPr lang="en-US" dirty="0" err="1" smtClean="0"/>
              <a:t>sectores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2518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Segmentación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Los Segmentos </a:t>
            </a:r>
            <a:r>
              <a:rPr lang="es-AR" dirty="0"/>
              <a:t>de Mercado </a:t>
            </a:r>
            <a:r>
              <a:rPr lang="es-AR" dirty="0" smtClean="0"/>
              <a:t>definen </a:t>
            </a:r>
            <a:r>
              <a:rPr lang="es-AR" dirty="0"/>
              <a:t>los diferentes grupos de personas, organizaciones, o regiones que a la cual una empresa apunta a alcanzar y servir. </a:t>
            </a:r>
          </a:p>
          <a:p>
            <a:r>
              <a:rPr lang="es-AR" dirty="0"/>
              <a:t>Identificar cada segmento y adaptar la propuesta de venta a cada uno de </a:t>
            </a:r>
            <a:r>
              <a:rPr lang="es-AR" dirty="0" smtClean="0"/>
              <a:t>ellos.</a:t>
            </a:r>
          </a:p>
          <a:p>
            <a:r>
              <a:rPr lang="es-AR" dirty="0" smtClean="0"/>
              <a:t>Caracterizar cada tipo de cliente, según poder de compra, necesidad, genero, edad, alcance, </a:t>
            </a:r>
            <a:r>
              <a:rPr lang="es-AR" dirty="0" err="1" smtClean="0"/>
              <a:t>ect</a:t>
            </a:r>
            <a:endParaRPr lang="es-AR" dirty="0" smtClean="0"/>
          </a:p>
          <a:p>
            <a:r>
              <a:rPr lang="es-AR" dirty="0" smtClean="0"/>
              <a:t>Establecer una metodología de abordaje y de venta </a:t>
            </a:r>
            <a:r>
              <a:rPr lang="es-AR" dirty="0"/>
              <a:t>del producto. </a:t>
            </a:r>
            <a:r>
              <a:rPr lang="es-AR" dirty="0" smtClean="0"/>
              <a:t>Mensaje a transmitir, proceso, </a:t>
            </a:r>
          </a:p>
          <a:p>
            <a:r>
              <a:rPr lang="es-AR" dirty="0" err="1" smtClean="0"/>
              <a:t>Ej</a:t>
            </a:r>
            <a:r>
              <a:rPr lang="es-AR" dirty="0" smtClean="0"/>
              <a:t>: </a:t>
            </a:r>
            <a:r>
              <a:rPr lang="es-AR" dirty="0" err="1" smtClean="0"/>
              <a:t>Storytelling</a:t>
            </a:r>
            <a:r>
              <a:rPr lang="es-AR" dirty="0" smtClean="0"/>
              <a:t>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394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Donde apunto para lograr la “cabeza de playa”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AR" dirty="0" smtClean="0"/>
              <a:t>Es importante empezar pequeño, experimentar  y hacerse fuerte en un espacio del mercado para luego crecer. </a:t>
            </a:r>
          </a:p>
          <a:p>
            <a:r>
              <a:rPr lang="es-AR" dirty="0" smtClean="0"/>
              <a:t>Un ejemplo de eso podría ser Amazon que comenzó vendiendo libros por internet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694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Algunas preguntas para chequear el modelo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/>
              <a:t>¿El cliente objetivo </a:t>
            </a:r>
            <a:r>
              <a:rPr lang="es-AR" dirty="0" smtClean="0"/>
              <a:t>tiene recursos, es </a:t>
            </a:r>
            <a:r>
              <a:rPr lang="es-AR" dirty="0"/>
              <a:t>fácilmente </a:t>
            </a:r>
            <a:r>
              <a:rPr lang="es-AR" dirty="0" smtClean="0"/>
              <a:t>accesible </a:t>
            </a:r>
            <a:r>
              <a:rPr lang="es-AR" dirty="0"/>
              <a:t>para nuestra fuerza de ventas?</a:t>
            </a:r>
          </a:p>
          <a:p>
            <a:r>
              <a:rPr lang="es-AR" dirty="0"/>
              <a:t>¿Tienen una razón convincente para comprar?</a:t>
            </a:r>
          </a:p>
          <a:p>
            <a:r>
              <a:rPr lang="es-AR" dirty="0" smtClean="0"/>
              <a:t>¿</a:t>
            </a:r>
            <a:r>
              <a:rPr lang="es-AR" dirty="0"/>
              <a:t>Podemos hoy, con la ayuda de socios, entregar un producto completo para cumplir con </a:t>
            </a:r>
            <a:r>
              <a:rPr lang="es-AR" dirty="0" smtClean="0"/>
              <a:t>la necesidad para </a:t>
            </a:r>
            <a:r>
              <a:rPr lang="es-AR" dirty="0"/>
              <a:t>comprar?</a:t>
            </a:r>
          </a:p>
          <a:p>
            <a:r>
              <a:rPr lang="es-AR" dirty="0" smtClean="0"/>
              <a:t>¿No </a:t>
            </a:r>
            <a:r>
              <a:rPr lang="es-AR" dirty="0"/>
              <a:t>hay una competencia arraigada que pueda evitar que tengamos una oportunidad justa en este negocio?</a:t>
            </a:r>
          </a:p>
          <a:p>
            <a:r>
              <a:rPr lang="es-AR" dirty="0" smtClean="0"/>
              <a:t>Si </a:t>
            </a:r>
            <a:r>
              <a:rPr lang="es-AR" dirty="0"/>
              <a:t>ganamos este segmento, ¿podemos aprovecharlo para ingresar segmentos adicionales?</a:t>
            </a:r>
          </a:p>
          <a:p>
            <a:r>
              <a:rPr lang="es-AR" dirty="0" smtClean="0"/>
              <a:t>¿Podemos </a:t>
            </a:r>
            <a:r>
              <a:rPr lang="es-AR" dirty="0"/>
              <a:t>mostrar resultados en un </a:t>
            </a:r>
            <a:r>
              <a:rPr lang="es-AR" dirty="0" smtClean="0"/>
              <a:t>lapso </a:t>
            </a:r>
            <a:r>
              <a:rPr lang="es-AR" dirty="0"/>
              <a:t>de tiempo consistente con las agendas personales de los </a:t>
            </a:r>
            <a:r>
              <a:rPr lang="es-AR" dirty="0" smtClean="0"/>
              <a:t>socios?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528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Distribución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AR" dirty="0" smtClean="0"/>
              <a:t>La distribución no se refiere solo a una </a:t>
            </a:r>
            <a:r>
              <a:rPr lang="es-AR" dirty="0" smtClean="0"/>
              <a:t>cuestión logística. </a:t>
            </a:r>
            <a:endParaRPr lang="es-AR" dirty="0" smtClean="0"/>
          </a:p>
          <a:p>
            <a:r>
              <a:rPr lang="es-AR" dirty="0" smtClean="0"/>
              <a:t>Actualmente la distribución alcanza al producto </a:t>
            </a:r>
            <a:r>
              <a:rPr lang="es-AR" dirty="0" err="1" smtClean="0"/>
              <a:t>fisico</a:t>
            </a:r>
            <a:r>
              <a:rPr lang="es-AR" dirty="0" smtClean="0"/>
              <a:t>, pero </a:t>
            </a:r>
            <a:r>
              <a:rPr lang="es-AR" dirty="0" err="1" smtClean="0"/>
              <a:t>tambien</a:t>
            </a:r>
            <a:r>
              <a:rPr lang="es-AR" dirty="0" smtClean="0"/>
              <a:t> el servicio alrededor del producto (trazabilidad, servicio post venta, facilitar la usabilidad, </a:t>
            </a:r>
            <a:r>
              <a:rPr lang="es-AR" dirty="0" err="1" smtClean="0"/>
              <a:t>ect</a:t>
            </a:r>
            <a:r>
              <a:rPr lang="es-AR" dirty="0" smtClean="0"/>
              <a:t>)</a:t>
            </a:r>
          </a:p>
          <a:p>
            <a:r>
              <a:rPr lang="es-AR" dirty="0" smtClean="0"/>
              <a:t>Servitización</a:t>
            </a:r>
            <a:r>
              <a:rPr lang="es-AR" dirty="0" smtClean="0"/>
              <a:t>, el producto como servicio aprovechando la posibilidad de conectar cualquier producto (Michael </a:t>
            </a:r>
            <a:r>
              <a:rPr lang="es-AR" dirty="0"/>
              <a:t>E. </a:t>
            </a:r>
            <a:r>
              <a:rPr lang="es-AR" dirty="0" err="1"/>
              <a:t>Porter</a:t>
            </a:r>
            <a:r>
              <a:rPr lang="es-AR" dirty="0"/>
              <a:t> and James E. </a:t>
            </a:r>
            <a:r>
              <a:rPr lang="es-AR" dirty="0" err="1" smtClean="0"/>
              <a:t>Heppelmann</a:t>
            </a:r>
            <a:r>
              <a:rPr lang="es-AR" dirty="0" smtClean="0"/>
              <a:t>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6120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ESTRATEGIA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70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1845"/>
            <a:ext cx="7124700" cy="10366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kern="1200" dirty="0" smtClean="0"/>
              <a:t>Que entendemos por planificación </a:t>
            </a:r>
            <a:r>
              <a:rPr lang="es-ES_tradnl" kern="1200" dirty="0" err="1" smtClean="0"/>
              <a:t>estrategica</a:t>
            </a:r>
            <a:r>
              <a:rPr lang="es-ES_tradnl" kern="1200" dirty="0" smtClean="0"/>
              <a:t>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62" y="2417625"/>
            <a:ext cx="6905676" cy="20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6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1845"/>
            <a:ext cx="7124700" cy="1036638"/>
          </a:xfrm>
        </p:spPr>
        <p:txBody>
          <a:bodyPr/>
          <a:lstStyle/>
          <a:p>
            <a:pPr eaLnBrk="1" hangingPunct="1">
              <a:defRPr/>
            </a:pPr>
            <a:r>
              <a:rPr lang="es-ES_tradnl" kern="1200" dirty="0" smtClean="0"/>
              <a:t>Estrategia. Análisis de la industria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04800" y="1524000"/>
            <a:ext cx="8839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Michael Porter desarrollo el modelo de las Cinco Fuerzas.</a:t>
            </a:r>
            <a:endParaRPr lang="es-ES" altLang="es-AR" sz="2800">
              <a:solidFill>
                <a:schemeClr val="tx2"/>
              </a:solidFill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04800" y="2543175"/>
            <a:ext cx="8610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Modelo para identificar la posición de una empresa dentro de su segmento  industrial a través de las fuerzas que impactan sobre la rentabilidad de una compañía. 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04800" y="4403725"/>
            <a:ext cx="88392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Necesario para analizar y entender la posición en la industria antes de desarrollar una estrategia que resulte efectiva.</a:t>
            </a:r>
            <a:endParaRPr lang="es-ES" altLang="es-AR" sz="2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58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  <p:bldP spid="14340" grpId="0" autoUpdateAnimBg="0"/>
      <p:bldP spid="1434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457200" y="457200"/>
            <a:ext cx="7315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s-ES_tradnl" sz="39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Modelo de las cinco fuerzas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6477000" y="3276600"/>
            <a:ext cx="19812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-990600" y="3352800"/>
          <a:ext cx="560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Documento" r:id="rId3" imgW="5611368" imgH="234696" progId="Word.Document.8">
                  <p:embed/>
                </p:oleObj>
              </mc:Choice>
              <mc:Fallback>
                <p:oleObj name="Documento" r:id="rId3" imgW="5611368" imgH="234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990600" y="3352800"/>
                        <a:ext cx="5600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4267200" y="3352800"/>
          <a:ext cx="560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Documento" r:id="rId5" imgW="5602224" imgH="234696" progId="Word.Document.8">
                  <p:embed/>
                </p:oleObj>
              </mc:Choice>
              <mc:Fallback>
                <p:oleObj name="Documento" r:id="rId5" imgW="5602224" imgH="234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52800"/>
                        <a:ext cx="5600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657600" y="2743200"/>
            <a:ext cx="1905000" cy="1828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838200" y="3276600"/>
            <a:ext cx="1828800" cy="457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581400" y="5257800"/>
            <a:ext cx="19812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3581400" y="1600200"/>
            <a:ext cx="21336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AR" altLang="es-AR" sz="1800"/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3352800" y="1676400"/>
          <a:ext cx="2590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Documento" r:id="rId7" imgW="2593848" imgH="438912" progId="Word.Document.8">
                  <p:embed/>
                </p:oleObj>
              </mc:Choice>
              <mc:Fallback>
                <p:oleObj name="Documento" r:id="rId7" imgW="2593848" imgH="4389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76400"/>
                        <a:ext cx="2590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1752600" y="2819400"/>
          <a:ext cx="56007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Documento" r:id="rId9" imgW="5602224" imgH="1636776" progId="Word.Document.8">
                  <p:embed/>
                </p:oleObj>
              </mc:Choice>
              <mc:Fallback>
                <p:oleObj name="Documento" r:id="rId9" imgW="5602224" imgH="16367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5600700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1524000" y="5334000"/>
          <a:ext cx="560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Documento" r:id="rId11" imgW="5611368" imgH="234696" progId="Word.Document.8">
                  <p:embed/>
                </p:oleObj>
              </mc:Choice>
              <mc:Fallback>
                <p:oleObj name="Documento" r:id="rId11" imgW="5611368" imgH="234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0"/>
                        <a:ext cx="56007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2667000" y="3429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AR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flipV="1">
            <a:off x="4572000" y="45720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AR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4572000" y="19812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AR"/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 flipH="1">
            <a:off x="5562600" y="3505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223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-762000" y="1295400"/>
            <a:ext cx="9906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2">
              <a:buClrTx/>
              <a:buSzTx/>
              <a:buFont typeface="Symbol" panose="05050102010706020507" pitchFamily="18" charset="2"/>
              <a:buNone/>
            </a:pPr>
            <a:r>
              <a:rPr lang="es-ES_tradnl" altLang="es-AR" sz="2400" b="1">
                <a:solidFill>
                  <a:schemeClr val="tx2"/>
                </a:solidFill>
              </a:rPr>
              <a:t>Competencia dentro de la industria:</a:t>
            </a:r>
            <a:r>
              <a:rPr lang="es-ES_tradnl" altLang="es-AR" sz="2400">
                <a:solidFill>
                  <a:schemeClr val="tx2"/>
                </a:solidFill>
              </a:rPr>
              <a:t> grado de competencia dentro de un segmento industrial.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-762000" y="2393950"/>
            <a:ext cx="9906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2">
              <a:buClrTx/>
              <a:buSzTx/>
              <a:buFont typeface="Symbol" panose="05050102010706020507" pitchFamily="18" charset="2"/>
              <a:buNone/>
            </a:pPr>
            <a:r>
              <a:rPr lang="es-ES_tradnl" altLang="es-AR" sz="2400" b="1">
                <a:solidFill>
                  <a:schemeClr val="tx2"/>
                </a:solidFill>
              </a:rPr>
              <a:t>Amenaza de sustitutos:</a:t>
            </a:r>
            <a:r>
              <a:rPr lang="es-ES_tradnl" altLang="es-AR" sz="2400">
                <a:solidFill>
                  <a:schemeClr val="tx2"/>
                </a:solidFill>
              </a:rPr>
              <a:t> es posible cuando clientes potenciales pueden obtener iguales beneficios comparando productos o servicios similares sin relación.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52400" y="3810000"/>
            <a:ext cx="88392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 typeface="Symbol" panose="05050102010706020507" pitchFamily="18" charset="2"/>
              <a:buNone/>
            </a:pPr>
            <a:r>
              <a:rPr lang="es-ES_tradnl" altLang="es-AR" sz="2400" b="1">
                <a:solidFill>
                  <a:schemeClr val="tx2"/>
                </a:solidFill>
              </a:rPr>
              <a:t>Amenaza de nuevos participantes</a:t>
            </a:r>
            <a:r>
              <a:rPr lang="es-ES_tradnl" altLang="es-AR" sz="2400">
                <a:solidFill>
                  <a:schemeClr val="tx2"/>
                </a:solidFill>
              </a:rPr>
              <a:t>: esta fuerza es más fuerte cuando firmas dentro de una industria explotan alguno de los siguientes recursos: economías de escala, identidad de marca, costos cambiantes, requerimientos de capital, acceso a distribución, ventajas de costos , políticas de gobierno, y respuesta esperada.</a:t>
            </a:r>
            <a:endParaRPr lang="es-ES" altLang="es-AR" sz="2400">
              <a:solidFill>
                <a:schemeClr val="tx2"/>
              </a:solidFill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50825" y="404813"/>
            <a:ext cx="830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s-ES_tradnl" sz="39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Modelo de las 5 fuerzas</a:t>
            </a:r>
          </a:p>
        </p:txBody>
      </p:sp>
    </p:spTree>
    <p:extLst>
      <p:ext uri="{BB962C8B-B14F-4D97-AF65-F5344CB8AC3E}">
        <p14:creationId xmlns:p14="http://schemas.microsoft.com/office/powerpoint/2010/main" val="176378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  <p:bldP spid="1638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752600"/>
            <a:ext cx="9144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2">
              <a:buClrTx/>
              <a:buSzTx/>
              <a:buFont typeface="Symbol" panose="05050102010706020507" pitchFamily="18" charset="2"/>
              <a:buNone/>
            </a:pPr>
            <a:r>
              <a:rPr lang="es-ES_tradnl" altLang="es-AR" sz="2400" b="1">
                <a:solidFill>
                  <a:schemeClr val="tx2"/>
                </a:solidFill>
              </a:rPr>
              <a:t>Fuerza de regateo de los proveedores:</a:t>
            </a:r>
            <a:r>
              <a:rPr lang="es-ES_tradnl" altLang="es-AR" sz="2400">
                <a:solidFill>
                  <a:schemeClr val="tx2"/>
                </a:solidFill>
              </a:rPr>
              <a:t> se determina por: variación de costos entre proveedores y firmas en la industria, presencia de insumos substitutos de proveedores, concentración de proveedores, importancia del volumen a proveer, entre otros.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4038600"/>
            <a:ext cx="9144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2">
              <a:buClrTx/>
              <a:buSzTx/>
              <a:buFont typeface="Symbol" panose="05050102010706020507" pitchFamily="18" charset="2"/>
              <a:buNone/>
            </a:pPr>
            <a:r>
              <a:rPr lang="es-ES_tradnl" altLang="es-AR" sz="2400" b="1">
                <a:solidFill>
                  <a:schemeClr val="tx2"/>
                </a:solidFill>
              </a:rPr>
              <a:t>Fuerza de regateo del mercado:</a:t>
            </a:r>
            <a:r>
              <a:rPr lang="es-ES_tradnl" altLang="es-AR" sz="1800">
                <a:solidFill>
                  <a:schemeClr val="tx2"/>
                </a:solidFill>
              </a:rPr>
              <a:t> </a:t>
            </a:r>
            <a:r>
              <a:rPr lang="es-ES_tradnl" altLang="es-AR" sz="2400">
                <a:solidFill>
                  <a:schemeClr val="tx2"/>
                </a:solidFill>
              </a:rPr>
              <a:t>es el poder de los clientes. Algunos factores son en alguna manera parecidos a los citados en el párrafo anterior para describir la fuerza de los proveedores.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692150"/>
            <a:ext cx="830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3600" b="1">
                <a:solidFill>
                  <a:schemeClr val="tx2"/>
                </a:solidFill>
                <a:latin typeface="Verdana" panose="020B0604030504040204" pitchFamily="34" charset="0"/>
              </a:rPr>
              <a:t>Modelo de las cinco fuerzas</a:t>
            </a:r>
          </a:p>
        </p:txBody>
      </p:sp>
    </p:spTree>
    <p:extLst>
      <p:ext uri="{BB962C8B-B14F-4D97-AF65-F5344CB8AC3E}">
        <p14:creationId xmlns:p14="http://schemas.microsoft.com/office/powerpoint/2010/main" val="15759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772400" cy="1371600"/>
          </a:xfrm>
        </p:spPr>
        <p:txBody>
          <a:bodyPr/>
          <a:lstStyle/>
          <a:p>
            <a:pPr>
              <a:defRPr/>
            </a:pPr>
            <a:r>
              <a:rPr lang="es-ES_tradnl" kern="1200" dirty="0" smtClean="0"/>
              <a:t>Estrategias genéricas (</a:t>
            </a:r>
            <a:r>
              <a:rPr lang="es-ES_tradnl" kern="1200" dirty="0" err="1" smtClean="0"/>
              <a:t>Porter</a:t>
            </a:r>
            <a:r>
              <a:rPr lang="es-ES_tradnl" kern="1200" dirty="0" smtClean="0"/>
              <a:t>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-76200" y="1752600"/>
            <a:ext cx="9220200" cy="1371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  <a:defRPr/>
            </a:pPr>
            <a:r>
              <a:rPr lang="es-ES_tradnl" dirty="0" smtClean="0"/>
              <a:t>   </a:t>
            </a:r>
            <a:r>
              <a:rPr lang="es-ES_tradnl" sz="2800" kern="1200" dirty="0" smtClean="0"/>
              <a:t>Liderazgo por costo. Significa ganar una ventaja competitiva siendo el productor con  los menores precios en el mercado. </a:t>
            </a:r>
          </a:p>
        </p:txBody>
      </p:sp>
      <p:sp>
        <p:nvSpPr>
          <p:cNvPr id="11268" name="3 Marcador de fecha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B5543E-B550-4F25-B951-3358600E4176}" type="datetime1">
              <a:rPr lang="en-US" altLang="es-AR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5/23/2025</a:t>
            </a:fld>
            <a:endParaRPr lang="es-ES" altLang="en-US" sz="1000" smtClean="0"/>
          </a:p>
        </p:txBody>
      </p:sp>
      <p:sp>
        <p:nvSpPr>
          <p:cNvPr id="11269" name="4 Marcador de pie de página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1000" smtClean="0"/>
              <a:t>Ing. Federico Walas-Mateo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28600" y="3505200"/>
            <a:ext cx="8915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Liderazgo por diferenciación. Significa ganar participación en el mercado con un producto o servicio único. Vamos a focalizarnos en diferenciación por calidad e innovación.</a:t>
            </a:r>
          </a:p>
        </p:txBody>
      </p:sp>
    </p:spTree>
    <p:extLst>
      <p:ext uri="{BB962C8B-B14F-4D97-AF65-F5344CB8AC3E}">
        <p14:creationId xmlns:p14="http://schemas.microsoft.com/office/powerpoint/2010/main" val="202124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 advAuto="0"/>
      <p:bldP spid="1946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fecha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67E64C-25B8-4B70-B666-3D74E72A2B70}" type="datetime1">
              <a:rPr lang="en-US" altLang="es-AR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5/23/2025</a:t>
            </a:fld>
            <a:endParaRPr lang="es-ES" altLang="en-US" sz="1000" smtClean="0"/>
          </a:p>
        </p:txBody>
      </p:sp>
      <p:sp>
        <p:nvSpPr>
          <p:cNvPr id="12291" name="4 Marcador de pie de página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1000" smtClean="0"/>
              <a:t>Ing. Federico Walas-Mateo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/>
          <a:p>
            <a:pPr>
              <a:defRPr/>
            </a:pPr>
            <a:r>
              <a:rPr lang="es-ES_tradnl" kern="1200" dirty="0" smtClean="0"/>
              <a:t>Elección de una estrategia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8839200" cy="1905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  <a:defRPr/>
            </a:pPr>
            <a:r>
              <a:rPr lang="es-ES_tradnl" dirty="0" smtClean="0"/>
              <a:t>   </a:t>
            </a:r>
            <a:r>
              <a:rPr lang="es-ES_tradnl" sz="2800" kern="1200" dirty="0" smtClean="0"/>
              <a:t>En general la estrategia corporativa se determina por los requerimientos del mercado (criterios para ganar ordenes de compra) y las posibilidades de la empresa para adaptarse mejor a ellas.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8600" y="4006850"/>
            <a:ext cx="8915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Se debe considerar que las inversiones en manufactura son a largo plazo. Cambios en la demanda comercial puede resultar en una desproporción entre las áreas comercial y fabricación.</a:t>
            </a:r>
          </a:p>
        </p:txBody>
      </p:sp>
    </p:spTree>
    <p:extLst>
      <p:ext uri="{BB962C8B-B14F-4D97-AF65-F5344CB8AC3E}">
        <p14:creationId xmlns:p14="http://schemas.microsoft.com/office/powerpoint/2010/main" val="223212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 advAuto="0"/>
      <p:bldP spid="2253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3 Marcador de fecha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90E691-A69C-419C-99C3-59E57F21BB57}" type="datetime1">
              <a:rPr lang="en-US" altLang="es-AR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5/23/2025</a:t>
            </a:fld>
            <a:endParaRPr lang="es-ES" altLang="en-US" sz="1000" smtClean="0"/>
          </a:p>
        </p:txBody>
      </p:sp>
      <p:sp>
        <p:nvSpPr>
          <p:cNvPr id="13315" name="4 Marcador de pie de página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1000" smtClean="0"/>
              <a:t>Ing. Federico Walas-Mateo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219200"/>
          </a:xfrm>
        </p:spPr>
        <p:txBody>
          <a:bodyPr/>
          <a:lstStyle/>
          <a:p>
            <a:pPr>
              <a:defRPr/>
            </a:pPr>
            <a:r>
              <a:rPr lang="es-ES_tradnl" kern="1200" dirty="0" smtClean="0"/>
              <a:t>Liderazgo por costo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76200" y="1676400"/>
            <a:ext cx="9220200" cy="1600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s-ES_tradnl" sz="2600" dirty="0" smtClean="0"/>
              <a:t>    </a:t>
            </a:r>
            <a:r>
              <a:rPr lang="es-ES_tradnl" sz="2800" kern="1200" dirty="0" smtClean="0"/>
              <a:t>El objetivo debe ser alcanzar una alta eficiencia, alta productividad y economías de escala. Esto sugiere alto nivel de automatización, grandes lotes de producción, y una cartera de productos limitada.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04800" y="3702050"/>
            <a:ext cx="88392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La teoría económica predice que la “empresa optima” será aquella que opere en la escala en que la estructura de la organización y su tecnología generan el menor costo. </a:t>
            </a:r>
          </a:p>
        </p:txBody>
      </p:sp>
    </p:spTree>
    <p:extLst>
      <p:ext uri="{BB962C8B-B14F-4D97-AF65-F5344CB8AC3E}">
        <p14:creationId xmlns:p14="http://schemas.microsoft.com/office/powerpoint/2010/main" val="17603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 advAuto="0"/>
      <p:bldP spid="2048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3 Marcador de fecha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06FC85-6F20-47D8-A5AF-6A7EAB3B2CE5}" type="datetime1">
              <a:rPr lang="en-US" altLang="es-AR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5/23/2025</a:t>
            </a:fld>
            <a:endParaRPr lang="es-ES" altLang="en-US" sz="1000" smtClean="0"/>
          </a:p>
        </p:txBody>
      </p:sp>
      <p:sp>
        <p:nvSpPr>
          <p:cNvPr id="14339" name="4 Marcador de pie de página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1000" smtClean="0"/>
              <a:t>Ing. Federico Walas-Mateo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05000"/>
            <a:ext cx="8915400" cy="1143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s-ES_tradnl" sz="2100" dirty="0" smtClean="0"/>
              <a:t>    </a:t>
            </a:r>
            <a:r>
              <a:rPr lang="es-ES_tradnl" sz="2800" kern="1200" dirty="0" smtClean="0"/>
              <a:t>Históricamente economías de escala son el resultado de la especialización de la tecnología de fabricación y la organización.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04800" y="4038600"/>
            <a:ext cx="8839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AR" sz="2800">
                <a:solidFill>
                  <a:schemeClr val="tx2"/>
                </a:solidFill>
              </a:rPr>
              <a:t>La producción del Ford T,  fue el arquetipo de la fabricación en gran volumen y estándar.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219200"/>
          </a:xfrm>
        </p:spPr>
        <p:txBody>
          <a:bodyPr anchor="ctr"/>
          <a:lstStyle/>
          <a:p>
            <a:pPr>
              <a:defRPr/>
            </a:pPr>
            <a:r>
              <a:rPr lang="es-ES_tradnl" kern="1200" dirty="0" smtClean="0"/>
              <a:t>Liderazgo por costo</a:t>
            </a:r>
          </a:p>
        </p:txBody>
      </p:sp>
    </p:spTree>
    <p:extLst>
      <p:ext uri="{BB962C8B-B14F-4D97-AF65-F5344CB8AC3E}">
        <p14:creationId xmlns:p14="http://schemas.microsoft.com/office/powerpoint/2010/main" val="186047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 advAuto="0"/>
      <p:bldP spid="2150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3 Marcador de fecha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14C2E8-35E1-4214-8787-7A76FC73C05F}" type="datetime1">
              <a:rPr lang="en-US" altLang="es-AR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5/23/2025</a:t>
            </a:fld>
            <a:endParaRPr lang="es-ES" altLang="en-US" sz="1000" smtClean="0"/>
          </a:p>
        </p:txBody>
      </p:sp>
      <p:sp>
        <p:nvSpPr>
          <p:cNvPr id="15363" name="4 Marcador de pie de página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1000" smtClean="0"/>
              <a:t>Ing. Federico Walas-Mateo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pPr>
              <a:defRPr/>
            </a:pPr>
            <a:r>
              <a:rPr lang="es-ES_tradnl" kern="1200" dirty="0" smtClean="0"/>
              <a:t>Diferenciación por innovación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76200" y="1905000"/>
            <a:ext cx="9220200" cy="13716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s-ES_tradnl" sz="2600" dirty="0" smtClean="0"/>
              <a:t>   </a:t>
            </a:r>
            <a:r>
              <a:rPr lang="es-ES_tradnl" sz="2400" kern="1200" dirty="0" smtClean="0"/>
              <a:t>La innovación de producto se hace más difícil y menos frecuente a medida que la eficiencia de la producción mejora. 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28600" y="3213100"/>
            <a:ext cx="8686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 sz="2400">
                <a:solidFill>
                  <a:schemeClr val="tx2"/>
                </a:solidFill>
              </a:rPr>
              <a:t>Los sistemas flexibles de tecnología de fabricación y organización prometen superar  “el dilema de la productividad”, permitiendo la producción económicamente viable de variedad, modificaciones frecuentes en el diseño y respuesta rápida a cambios en la demanda del mercado. </a:t>
            </a:r>
          </a:p>
        </p:txBody>
      </p:sp>
    </p:spTree>
    <p:extLst>
      <p:ext uri="{BB962C8B-B14F-4D97-AF65-F5344CB8AC3E}">
        <p14:creationId xmlns:p14="http://schemas.microsoft.com/office/powerpoint/2010/main" val="221528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 advAuto="0"/>
      <p:bldP spid="307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 eaLnBrk="1" hangingPunct="1"/>
            <a:r>
              <a:rPr lang="es-AR" altLang="es-AR" sz="3200" smtClean="0">
                <a:solidFill>
                  <a:srgbClr val="000066"/>
                </a:solidFill>
              </a:rPr>
              <a:t>Matriz BCG</a:t>
            </a:r>
          </a:p>
        </p:txBody>
      </p:sp>
      <p:sp>
        <p:nvSpPr>
          <p:cNvPr id="16387" name="2 CuadroTexto"/>
          <p:cNvSpPr txBox="1">
            <a:spLocks noChangeArrowheads="1"/>
          </p:cNvSpPr>
          <p:nvPr/>
        </p:nvSpPr>
        <p:spPr bwMode="auto">
          <a:xfrm>
            <a:off x="293688" y="1412875"/>
            <a:ext cx="8497887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 b="1"/>
              <a:t>Productos Incognita</a:t>
            </a:r>
            <a:endParaRPr lang="es-AR" altLang="es-AR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Estos negocios tienen una baja participación en el mercado y el mercado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a su vez tiene una alta tasa de crecimiento. Son negocios que no 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conoce exactamente qué pasará con ellos. Requieren de constantes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inversiones, las cuales se desconoce si serán rentables o no.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Caso de innovación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AR" altLang="es-AR" sz="20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 b="1"/>
              <a:t>Negocios Perros</a:t>
            </a:r>
            <a:endParaRPr lang="es-AR" altLang="es-AR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Se combina una baja participación del mercado por parte de la empresa,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con un mercado estancado. Son productos en la última etapa del ciclo de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vida. En algunos casos puede ser rentable participar en este estado.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Debido a su posición débil, interna y externa, estos negocios con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frecuencia son liquidados, descartados o recortados por medio del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atrincheramiento. </a:t>
            </a:r>
            <a:endParaRPr lang="es-AR" altLang="es-AR" sz="2000"/>
          </a:p>
        </p:txBody>
      </p:sp>
    </p:spTree>
    <p:extLst>
      <p:ext uri="{BB962C8B-B14F-4D97-AF65-F5344CB8AC3E}">
        <p14:creationId xmlns:p14="http://schemas.microsoft.com/office/powerpoint/2010/main" val="131232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 eaLnBrk="1" hangingPunct="1"/>
            <a:r>
              <a:rPr lang="es-AR" altLang="es-AR" sz="3200" smtClean="0">
                <a:solidFill>
                  <a:srgbClr val="000066"/>
                </a:solidFill>
              </a:rPr>
              <a:t>Matriz BCG</a:t>
            </a:r>
          </a:p>
        </p:txBody>
      </p:sp>
      <p:sp>
        <p:nvSpPr>
          <p:cNvPr id="17411" name="2 CuadroTexto"/>
          <p:cNvSpPr txBox="1">
            <a:spLocks noChangeArrowheads="1"/>
          </p:cNvSpPr>
          <p:nvPr/>
        </p:nvSpPr>
        <p:spPr bwMode="auto">
          <a:xfrm>
            <a:off x="395288" y="1581150"/>
            <a:ext cx="8497887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AR" altLang="es-AR" sz="2400">
                <a:solidFill>
                  <a:schemeClr val="accent2"/>
                </a:solidFill>
              </a:rPr>
              <a:t>La matriz BCG o matriz Boston Consulting Group o también conocida como la matriz de crecimiento o participación. </a:t>
            </a:r>
          </a:p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AR" altLang="es-AR" sz="2400">
                <a:solidFill>
                  <a:schemeClr val="accent2"/>
                </a:solidFill>
              </a:rPr>
              <a:t>Es un método gráfico desarrollado en la década de 1970 por The Boston Consulting Group, y que se utiliza para llevar a cabo un análisis de la cartera de negocios, así como la posición de un negocio o un producto dentro del mercado.</a:t>
            </a:r>
          </a:p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AR" altLang="es-AR" sz="2400">
                <a:solidFill>
                  <a:schemeClr val="accent2"/>
                </a:solidFill>
              </a:rPr>
              <a:t>Su finalidad es ayudar a decidir enfoques para distintos negocios o Unidades Estratégicas de Negocio (UEN), es decir, entre empresas o áreas sobre todo en  aquellas donde debemos: invertir, retirar la inversión o incluso abandonar.</a:t>
            </a:r>
          </a:p>
        </p:txBody>
      </p:sp>
    </p:spTree>
    <p:extLst>
      <p:ext uri="{BB962C8B-B14F-4D97-AF65-F5344CB8AC3E}">
        <p14:creationId xmlns:p14="http://schemas.microsoft.com/office/powerpoint/2010/main" val="240751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 eaLnBrk="1" hangingPunct="1"/>
            <a:r>
              <a:rPr lang="es-AR" altLang="es-AR" sz="3200" smtClean="0">
                <a:solidFill>
                  <a:srgbClr val="000066"/>
                </a:solidFill>
              </a:rPr>
              <a:t>Matriz BCG</a:t>
            </a:r>
          </a:p>
        </p:txBody>
      </p:sp>
      <p:sp>
        <p:nvSpPr>
          <p:cNvPr id="18435" name="2 CuadroTexto"/>
          <p:cNvSpPr txBox="1">
            <a:spLocks noChangeArrowheads="1"/>
          </p:cNvSpPr>
          <p:nvPr/>
        </p:nvSpPr>
        <p:spPr bwMode="auto">
          <a:xfrm>
            <a:off x="395288" y="1581150"/>
            <a:ext cx="8497887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ES_tradnl" altLang="es-AR" sz="2400">
                <a:solidFill>
                  <a:schemeClr val="accent2"/>
                </a:solidFill>
              </a:rPr>
              <a:t>Determina la asignación más adecuada de recursos entre los distintos negocios de la empresa, distinguiendo entre los generadores de recurso y los que absorben recursos.</a:t>
            </a:r>
          </a:p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ES_tradnl" altLang="es-AR" sz="2400">
                <a:solidFill>
                  <a:schemeClr val="accent2"/>
                </a:solidFill>
              </a:rPr>
              <a:t>DIMENSIONES</a:t>
            </a:r>
          </a:p>
          <a:p>
            <a:pPr lvl="1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ES_tradnl" altLang="es-AR" sz="2400">
                <a:solidFill>
                  <a:schemeClr val="accent2"/>
                </a:solidFill>
              </a:rPr>
              <a:t> Tasa de crecimiento del mercado (representa atractivo actual y futuro del sector, y necesidad de fondos para financiar inversiones)</a:t>
            </a:r>
          </a:p>
          <a:p>
            <a:pPr lvl="1"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s-ES_tradnl" altLang="es-AR" sz="2400">
                <a:solidFill>
                  <a:schemeClr val="accent2"/>
                </a:solidFill>
              </a:rPr>
              <a:t> Cuota relativa de mercado (indica la posición competitiva de la empresa y la capacidad de un negocio para generar recursos)</a:t>
            </a:r>
            <a:endParaRPr lang="es-ES_tradnl" altLang="es-AR" sz="2400" b="1"/>
          </a:p>
          <a:p>
            <a:pPr algn="just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s-ES_tradnl" altLang="es-AR" sz="24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04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3 CuadroTexto"/>
          <p:cNvSpPr txBox="1">
            <a:spLocks noChangeArrowheads="1"/>
          </p:cNvSpPr>
          <p:nvPr/>
        </p:nvSpPr>
        <p:spPr bwMode="auto">
          <a:xfrm>
            <a:off x="503238" y="541338"/>
            <a:ext cx="792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400" b="1">
                <a:solidFill>
                  <a:srgbClr val="000066"/>
                </a:solidFill>
                <a:latin typeface="Arial Black" panose="020B0A04020102020204" pitchFamily="34" charset="0"/>
              </a:rPr>
              <a:t>Matriz BCG (Boston Consulting Group)</a:t>
            </a:r>
            <a:endParaRPr lang="es-AR" altLang="es-AR" sz="2400">
              <a:solidFill>
                <a:srgbClr val="000066"/>
              </a:solidFill>
              <a:latin typeface="Arial Black" panose="020B0A04020102020204" pitchFamily="34" charset="0"/>
            </a:endParaRPr>
          </a:p>
        </p:txBody>
      </p:sp>
      <p:pic>
        <p:nvPicPr>
          <p:cNvPr id="194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271588"/>
            <a:ext cx="4953000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 eaLnBrk="1" hangingPunct="1"/>
            <a:r>
              <a:rPr lang="es-AR" altLang="es-AR" sz="3200" smtClean="0">
                <a:solidFill>
                  <a:srgbClr val="000066"/>
                </a:solidFill>
              </a:rPr>
              <a:t>Matriz BCG</a:t>
            </a:r>
          </a:p>
        </p:txBody>
      </p:sp>
      <p:sp>
        <p:nvSpPr>
          <p:cNvPr id="9219" name="2 CuadroTexto"/>
          <p:cNvSpPr txBox="1">
            <a:spLocks noChangeArrowheads="1"/>
          </p:cNvSpPr>
          <p:nvPr/>
        </p:nvSpPr>
        <p:spPr bwMode="auto">
          <a:xfrm>
            <a:off x="395288" y="1581150"/>
            <a:ext cx="8497887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>
              <a:defRPr/>
            </a:pPr>
            <a:r>
              <a:rPr lang="es-AR" sz="2000" b="1" dirty="0" smtClean="0"/>
              <a:t>Productos Estrellas</a:t>
            </a:r>
            <a:r>
              <a:rPr lang="es-AR" sz="2000" dirty="0" smtClean="0"/>
              <a:t/>
            </a:r>
            <a:br>
              <a:rPr lang="es-AR" sz="2000" dirty="0" smtClean="0"/>
            </a:br>
            <a:r>
              <a:rPr lang="es-AR" sz="2000" dirty="0" smtClean="0"/>
              <a:t>Son aquellos negocios que tienen una alta participación en el mercado con una alta tasa de crecimiento del mismo. Son negocios generadores de rentabilidad pero que requieren constantes inversiones.</a:t>
            </a:r>
          </a:p>
          <a:p>
            <a:pPr marL="0" indent="0">
              <a:defRPr/>
            </a:pPr>
            <a:endParaRPr lang="es-AR" sz="2000" dirty="0" smtClean="0"/>
          </a:p>
          <a:p>
            <a:pPr>
              <a:defRPr/>
            </a:pPr>
            <a:r>
              <a:rPr lang="es-AR" sz="2000" b="1" dirty="0" smtClean="0"/>
              <a:t>Productos Vaca Lechera</a:t>
            </a:r>
            <a:endParaRPr lang="es-AR" sz="2000" dirty="0" smtClean="0"/>
          </a:p>
          <a:p>
            <a:pPr>
              <a:defRPr/>
            </a:pPr>
            <a:r>
              <a:rPr lang="es-AR" sz="2000" dirty="0" smtClean="0"/>
              <a:t>Son aquellos negocios que tienen una alta participación en el mercado,</a:t>
            </a:r>
          </a:p>
          <a:p>
            <a:pPr>
              <a:defRPr/>
            </a:pPr>
            <a:r>
              <a:rPr lang="es-AR" sz="2000" dirty="0" smtClean="0"/>
              <a:t>pero el mercado tiene una baja tasa de crecimiento. Es este estado, los</a:t>
            </a:r>
          </a:p>
          <a:p>
            <a:pPr>
              <a:defRPr/>
            </a:pPr>
            <a:r>
              <a:rPr lang="es-AR" sz="2000" dirty="0" smtClean="0"/>
              <a:t>negocios son generadores de ingresos, lo que implica una importante</a:t>
            </a:r>
          </a:p>
          <a:p>
            <a:pPr>
              <a:defRPr/>
            </a:pPr>
            <a:r>
              <a:rPr lang="es-AR" sz="2000" dirty="0" smtClean="0"/>
              <a:t>rentabilidad y con bajas inversiones.</a:t>
            </a:r>
          </a:p>
          <a:p>
            <a:pPr marL="0" indent="0">
              <a:defRPr/>
            </a:pPr>
            <a:endParaRPr lang="es-AR" sz="2000" dirty="0" smtClean="0"/>
          </a:p>
        </p:txBody>
      </p:sp>
    </p:spTree>
    <p:extLst>
      <p:ext uri="{BB962C8B-B14F-4D97-AF65-F5344CB8AC3E}">
        <p14:creationId xmlns:p14="http://schemas.microsoft.com/office/powerpoint/2010/main" val="298127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 eaLnBrk="1" hangingPunct="1"/>
            <a:r>
              <a:rPr lang="es-AR" altLang="es-AR" sz="3200" smtClean="0">
                <a:solidFill>
                  <a:srgbClr val="000066"/>
                </a:solidFill>
              </a:rPr>
              <a:t>Matriz BCG</a:t>
            </a:r>
          </a:p>
        </p:txBody>
      </p:sp>
      <p:sp>
        <p:nvSpPr>
          <p:cNvPr id="21507" name="2 CuadroTexto"/>
          <p:cNvSpPr txBox="1">
            <a:spLocks noChangeArrowheads="1"/>
          </p:cNvSpPr>
          <p:nvPr/>
        </p:nvSpPr>
        <p:spPr bwMode="auto">
          <a:xfrm>
            <a:off x="293688" y="1412875"/>
            <a:ext cx="8497887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 b="1"/>
              <a:t>Productos Incognita</a:t>
            </a:r>
            <a:endParaRPr lang="es-AR" altLang="es-AR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Estos negocios tienen una baja participación en el mercado y el mercado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a su vez tiene una alta tasa de crecimiento. Son negocios que no 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conoce exactamente qué pasará con ellos. Requieren de constantes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inversiones, las cuales se desconoce si serán rentables o no.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Caso de innovación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AR" altLang="es-AR" sz="20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 b="1"/>
              <a:t>Negocios Perros</a:t>
            </a:r>
            <a:endParaRPr lang="es-AR" altLang="es-AR" sz="20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Se combina una baja participación del mercado por parte de la empresa,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con un mercado estancado. Son productos en la última etapa del ciclo de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AR" altLang="es-AR" sz="2000"/>
              <a:t>vida. En algunos casos puede ser rentable participar en este estado.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Debido a su posición débil, interna y externa, estos negocios con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frecuencia son liquidados, descartados o recortados por medio del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AR" sz="2000"/>
              <a:t>atrincheramiento. </a:t>
            </a:r>
            <a:endParaRPr lang="es-AR" altLang="es-AR" sz="2000"/>
          </a:p>
        </p:txBody>
      </p:sp>
    </p:spTree>
    <p:extLst>
      <p:ext uri="{BB962C8B-B14F-4D97-AF65-F5344CB8AC3E}">
        <p14:creationId xmlns:p14="http://schemas.microsoft.com/office/powerpoint/2010/main" val="32619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华文新魏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Cívico.thmx</Template>
  <TotalTime>1571</TotalTime>
  <Words>1345</Words>
  <Application>Microsoft Office PowerPoint</Application>
  <PresentationFormat>Presentación en pantalla (4:3)</PresentationFormat>
  <Paragraphs>135</Paragraphs>
  <Slides>25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Georgia</vt:lpstr>
      <vt:lpstr>Symbol</vt:lpstr>
      <vt:lpstr>Verdana</vt:lpstr>
      <vt:lpstr>Wingdings</vt:lpstr>
      <vt:lpstr>Wingdings 2</vt:lpstr>
      <vt:lpstr>Cívico</vt:lpstr>
      <vt:lpstr>Documento</vt:lpstr>
      <vt:lpstr>Introducción a la Comercialización y a la Planificación Estratégica</vt:lpstr>
      <vt:lpstr>Lectura Recomendada</vt:lpstr>
      <vt:lpstr>Go To Market (Salir al Mercado)</vt:lpstr>
      <vt:lpstr>Conocer el mercado</vt:lpstr>
      <vt:lpstr>Segmentación</vt:lpstr>
      <vt:lpstr>Donde apunto para lograr la “cabeza de playa”</vt:lpstr>
      <vt:lpstr>Algunas preguntas para chequear el modelo</vt:lpstr>
      <vt:lpstr>Distribución</vt:lpstr>
      <vt:lpstr>ESTRATEGIA</vt:lpstr>
      <vt:lpstr>Que entendemos por planificación estrategica?</vt:lpstr>
      <vt:lpstr>Estrategia. Análisis de la industria</vt:lpstr>
      <vt:lpstr>Presentación de PowerPoint</vt:lpstr>
      <vt:lpstr>Presentación de PowerPoint</vt:lpstr>
      <vt:lpstr>Presentación de PowerPoint</vt:lpstr>
      <vt:lpstr>Estrategias genéricas (Porter)</vt:lpstr>
      <vt:lpstr>Elección de una estrategia</vt:lpstr>
      <vt:lpstr>Liderazgo por costo</vt:lpstr>
      <vt:lpstr>Liderazgo por costo</vt:lpstr>
      <vt:lpstr>Diferenciación por innovación</vt:lpstr>
      <vt:lpstr>Matriz BCG</vt:lpstr>
      <vt:lpstr>Matriz BCG</vt:lpstr>
      <vt:lpstr>Matriz BCG</vt:lpstr>
      <vt:lpstr>Presentación de PowerPoint</vt:lpstr>
      <vt:lpstr>Matriz BCG</vt:lpstr>
      <vt:lpstr>Matriz BCG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y TIR</dc:title>
  <dc:creator>MIGUEL CATUCCI</dc:creator>
  <cp:lastModifiedBy>Fede Walas</cp:lastModifiedBy>
  <cp:revision>47</cp:revision>
  <dcterms:created xsi:type="dcterms:W3CDTF">2017-06-14T16:25:09Z</dcterms:created>
  <dcterms:modified xsi:type="dcterms:W3CDTF">2025-05-23T15:48:40Z</dcterms:modified>
</cp:coreProperties>
</file>