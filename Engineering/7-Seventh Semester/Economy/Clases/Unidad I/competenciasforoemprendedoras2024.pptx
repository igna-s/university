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22"/>
  </p:notesMasterIdLst>
  <p:sldIdLst>
    <p:sldId id="256" r:id="rId2"/>
    <p:sldId id="274" r:id="rId3"/>
    <p:sldId id="276" r:id="rId4"/>
    <p:sldId id="272" r:id="rId5"/>
    <p:sldId id="273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46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BD666E-A430-49F2-81DB-08310E160E21}" type="datetimeFigureOut">
              <a:rPr lang="es-ES" smtClean="0"/>
              <a:t>04/04/2025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73D388-B6DD-4E38-BA4D-8D3401C5E6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2480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73D388-B6DD-4E38-BA4D-8D3401C5E67D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4227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73D388-B6DD-4E38-BA4D-8D3401C5E67D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8229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73D388-B6DD-4E38-BA4D-8D3401C5E67D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2608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73D388-B6DD-4E38-BA4D-8D3401C5E67D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74241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73D388-B6DD-4E38-BA4D-8D3401C5E67D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56545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73D388-B6DD-4E38-BA4D-8D3401C5E67D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50562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73D388-B6DD-4E38-BA4D-8D3401C5E67D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92938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73D388-B6DD-4E38-BA4D-8D3401C5E67D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05229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73D388-B6DD-4E38-BA4D-8D3401C5E67D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90442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73D388-B6DD-4E38-BA4D-8D3401C5E67D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99568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73D388-B6DD-4E38-BA4D-8D3401C5E67D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77513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73D388-B6DD-4E38-BA4D-8D3401C5E67D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00963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73D388-B6DD-4E38-BA4D-8D3401C5E67D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36969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73D388-B6DD-4E38-BA4D-8D3401C5E67D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5429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73D388-B6DD-4E38-BA4D-8D3401C5E67D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30279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73D388-B6DD-4E38-BA4D-8D3401C5E67D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780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4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2C85-12BC-4F6D-87CB-9722EFFC0C9C}" type="datetimeFigureOut">
              <a:rPr lang="es-ES" smtClean="0"/>
              <a:pPr/>
              <a:t>04/04/2025</a:t>
            </a:fld>
            <a:endParaRPr lang="es-ES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Rectángulo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12 Elipse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ABA64DF6-464D-4A18-AE7B-B2C8D5932565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2C85-12BC-4F6D-87CB-9722EFFC0C9C}" type="datetimeFigureOut">
              <a:rPr lang="es-ES" smtClean="0"/>
              <a:pPr/>
              <a:t>04/04/2025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ABA64DF6-464D-4A18-AE7B-B2C8D5932565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14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Rectángulo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3" name="12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13 Rectángulo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2C85-12BC-4F6D-87CB-9722EFFC0C9C}" type="datetimeFigureOut">
              <a:rPr lang="es-ES" smtClean="0"/>
              <a:pPr/>
              <a:t>04/04/2025</a:t>
            </a:fld>
            <a:endParaRPr lang="es-E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Elipse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Elipse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ABA64DF6-464D-4A18-AE7B-B2C8D5932565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A5142C85-12BC-4F6D-87CB-9722EFFC0C9C}" type="datetimeFigureOut">
              <a:rPr lang="es-ES" smtClean="0"/>
              <a:pPr/>
              <a:t>04/04/2025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64DF6-464D-4A18-AE7B-B2C8D5932565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Marcador de contenido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2" name="11 Marcador de contenido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onector recto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19 Rectángulo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20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21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10 Rectángulo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Rectángulo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2C85-12BC-4F6D-87CB-9722EFFC0C9C}" type="datetimeFigureOut">
              <a:rPr lang="es-ES" smtClean="0"/>
              <a:pPr/>
              <a:t>04/04/2025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s-E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23 Marcador de contenido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6" name="25 Marcador de contenido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5" name="24 Elipse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26 Elipse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ABA64DF6-464D-4A18-AE7B-B2C8D5932565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23" name="22 Título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2C85-12BC-4F6D-87CB-9722EFFC0C9C}" type="datetimeFigureOut">
              <a:rPr lang="es-ES" smtClean="0"/>
              <a:pPr/>
              <a:t>04/04/2025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ABA64DF6-464D-4A18-AE7B-B2C8D5932565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4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5 Rectángulo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2C85-12BC-4F6D-87CB-9722EFFC0C9C}" type="datetimeFigureOut">
              <a:rPr lang="es-ES" smtClean="0"/>
              <a:pPr/>
              <a:t>04/04/2025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BA64DF6-464D-4A18-AE7B-B2C8D5932565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18 Rectángulo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14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12 Rectángulo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19 Marcador de contenido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0" name="9 Elipse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Elipse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ABA64DF6-464D-4A18-AE7B-B2C8D5932565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21" name="20 Rectángulo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2C85-12BC-4F6D-87CB-9722EFFC0C9C}" type="datetimeFigureOut">
              <a:rPr lang="es-ES" smtClean="0"/>
              <a:pPr/>
              <a:t>04/04/2025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20 Conector recto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19 Rectángulo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14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11 Elipse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Elipse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ABA64DF6-464D-4A18-AE7B-B2C8D5932565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22" name="21 Rectángulo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A5142C85-12BC-4F6D-87CB-9722EFFC0C9C}" type="datetimeFigureOut">
              <a:rPr lang="es-ES" smtClean="0"/>
              <a:pPr/>
              <a:t>04/04/2025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2C85-12BC-4F6D-87CB-9722EFFC0C9C}" type="datetimeFigureOut">
              <a:rPr lang="es-ES" smtClean="0"/>
              <a:pPr/>
              <a:t>04/04/2025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64DF6-464D-4A18-AE7B-B2C8D5932565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Rectángulo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10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14 Elipse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ABA64DF6-464D-4A18-AE7B-B2C8D5932565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2C85-12BC-4F6D-87CB-9722EFFC0C9C}" type="datetimeFigureOut">
              <a:rPr lang="es-ES" smtClean="0"/>
              <a:pPr/>
              <a:t>04/04/2025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Rectángulo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A5142C85-12BC-4F6D-87CB-9722EFFC0C9C}" type="datetimeFigureOut">
              <a:rPr lang="es-ES" smtClean="0"/>
              <a:pPr/>
              <a:t>04/04/2025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Elipse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14 Elipse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ABA64DF6-464D-4A18-AE7B-B2C8D5932565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763688" y="3284984"/>
            <a:ext cx="6192688" cy="2304256"/>
          </a:xfrm>
        </p:spPr>
        <p:txBody>
          <a:bodyPr>
            <a:normAutofit/>
          </a:bodyPr>
          <a:lstStyle/>
          <a:p>
            <a:r>
              <a:rPr lang="es-AR" sz="2000" dirty="0" err="1"/>
              <a:t>Economia</a:t>
            </a:r>
            <a:r>
              <a:rPr lang="es-AR" sz="2000" dirty="0"/>
              <a:t> y </a:t>
            </a:r>
            <a:r>
              <a:rPr lang="es-AR" sz="2000" dirty="0" err="1"/>
              <a:t>emprendedorismo</a:t>
            </a:r>
            <a:endParaRPr lang="es-AR" sz="2000" dirty="0"/>
          </a:p>
          <a:p>
            <a:endParaRPr lang="es-AR" sz="2000" dirty="0"/>
          </a:p>
          <a:p>
            <a:endParaRPr lang="es-AR" sz="2000" dirty="0"/>
          </a:p>
          <a:p>
            <a:r>
              <a:rPr lang="es-AR" sz="2000" dirty="0" smtClean="0"/>
              <a:t>Dr. Ing. Federico </a:t>
            </a:r>
            <a:r>
              <a:rPr lang="es-AR" sz="2000" dirty="0"/>
              <a:t>Walas mateo</a:t>
            </a:r>
          </a:p>
          <a:p>
            <a:endParaRPr lang="es-AR" sz="2000" dirty="0"/>
          </a:p>
        </p:txBody>
      </p:sp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AR" sz="4400" dirty="0" smtClean="0"/>
              <a:t>Competencias Emprendedoras</a:t>
            </a:r>
            <a:endParaRPr lang="es-ES" sz="4400" dirty="0"/>
          </a:p>
        </p:txBody>
      </p:sp>
    </p:spTree>
    <p:extLst>
      <p:ext uri="{BB962C8B-B14F-4D97-AF65-F5344CB8AC3E}">
        <p14:creationId xmlns:p14="http://schemas.microsoft.com/office/powerpoint/2010/main" val="23802397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476671"/>
            <a:ext cx="8856984" cy="538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565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37064" y="405412"/>
            <a:ext cx="8368608" cy="758952"/>
          </a:xfrm>
        </p:spPr>
        <p:txBody>
          <a:bodyPr>
            <a:normAutofit fontScale="90000"/>
          </a:bodyPr>
          <a:lstStyle/>
          <a:p>
            <a:pPr algn="just"/>
            <a:r>
              <a:rPr lang="es-AR" dirty="0" smtClean="0"/>
              <a:t>Capacidades</a:t>
            </a:r>
            <a:r>
              <a:rPr lang="es-AR" dirty="0"/>
              <a:t> </a:t>
            </a:r>
            <a:r>
              <a:rPr lang="es-AR" dirty="0" smtClean="0"/>
              <a:t>necesarias </a:t>
            </a:r>
            <a:r>
              <a:rPr lang="es-AR" dirty="0"/>
              <a:t>para el profesional</a:t>
            </a:r>
            <a:br>
              <a:rPr lang="es-AR" dirty="0"/>
            </a:br>
            <a:r>
              <a:rPr lang="es-AR" dirty="0"/>
              <a:t>de la era digital</a:t>
            </a:r>
            <a:r>
              <a:rPr lang="es-AR" dirty="0" smtClean="0"/>
              <a:t>(Ferras 2020)</a:t>
            </a:r>
            <a:endParaRPr lang="es-AR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63" y="1340768"/>
            <a:ext cx="8066809" cy="531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620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Concepto de Competencia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01752" y="1593304"/>
            <a:ext cx="8503920" cy="4572000"/>
          </a:xfrm>
        </p:spPr>
        <p:txBody>
          <a:bodyPr/>
          <a:lstStyle/>
          <a:p>
            <a:r>
              <a:rPr lang="es-AR" dirty="0" smtClean="0"/>
              <a:t>Competencias son el conjunto de cualidades, capacidades y actitudes para resolver una determinada cuestión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04322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Porque las competencias?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AR" dirty="0" smtClean="0"/>
              <a:t>Emprender es un proceso que requiere atravesar distintas instancias y resolver cuestiones que tienen que ver con las relaciones humanas, la puesta en el mercado del producto, asociatividad, riesgo, aprendizaje </a:t>
            </a:r>
            <a:r>
              <a:rPr lang="es-AR" smtClean="0"/>
              <a:t>de errores, incertidumbre</a:t>
            </a:r>
            <a:r>
              <a:rPr lang="es-AR" dirty="0" smtClean="0"/>
              <a:t>, entre otras.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748505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47664" y="1556792"/>
            <a:ext cx="5904656" cy="1008112"/>
          </a:xfrm>
        </p:spPr>
        <p:txBody>
          <a:bodyPr>
            <a:normAutofit/>
          </a:bodyPr>
          <a:lstStyle/>
          <a:p>
            <a:pPr algn="l"/>
            <a:r>
              <a:rPr lang="es-ES" sz="3600" b="1" dirty="0" smtClean="0">
                <a:solidFill>
                  <a:srgbClr val="5B463B"/>
                </a:solidFill>
                <a:effectLst/>
                <a:latin typeface="+mj-lt"/>
              </a:rPr>
              <a:t>RESPONSABILIDAD</a:t>
            </a:r>
            <a:endParaRPr lang="es-ES" sz="3600" b="1" dirty="0">
              <a:solidFill>
                <a:srgbClr val="5B463B"/>
              </a:solidFill>
              <a:latin typeface="+mj-lt"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2267744" y="2708920"/>
            <a:ext cx="590465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 smtClean="0">
                <a:solidFill>
                  <a:srgbClr val="5B463B"/>
                </a:solidFill>
                <a:effectLst/>
                <a:latin typeface="+mj-lt"/>
              </a:rPr>
              <a:t>“Manifestar una voluntad decidida ante nuevas situaciones y proyectos, tomar conciencia de las consecuencias y actuar en consonancia.”</a:t>
            </a:r>
            <a:endParaRPr lang="es-ES" sz="2800" dirty="0">
              <a:solidFill>
                <a:srgbClr val="5B463B"/>
              </a:solidFill>
              <a:latin typeface="+mj-lt"/>
              <a:ea typeface="Calibri"/>
              <a:cs typeface="Times New Roman"/>
            </a:endParaRPr>
          </a:p>
          <a:p>
            <a:endParaRPr lang="es-ES" sz="2800" dirty="0">
              <a:solidFill>
                <a:srgbClr val="5B463B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57955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699592" y="1484784"/>
            <a:ext cx="3808512" cy="1008112"/>
          </a:xfrm>
        </p:spPr>
        <p:txBody>
          <a:bodyPr>
            <a:normAutofit/>
          </a:bodyPr>
          <a:lstStyle/>
          <a:p>
            <a:pPr algn="l"/>
            <a:r>
              <a:rPr lang="es-ES" sz="3600" b="1" dirty="0" smtClean="0">
                <a:solidFill>
                  <a:srgbClr val="5B463B"/>
                </a:solidFill>
                <a:effectLst/>
                <a:latin typeface="+mj-lt"/>
              </a:rPr>
              <a:t>CONFIANZA</a:t>
            </a:r>
            <a:endParaRPr lang="es-ES" sz="3600" b="1" dirty="0">
              <a:solidFill>
                <a:srgbClr val="5B463B"/>
              </a:solidFill>
              <a:latin typeface="+mj-lt"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1547664" y="2708920"/>
            <a:ext cx="6624736" cy="207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2800" dirty="0" smtClean="0">
                <a:solidFill>
                  <a:srgbClr val="5B463B"/>
                </a:solidFill>
                <a:effectLst/>
                <a:latin typeface="+mj-lt"/>
              </a:rPr>
              <a:t>“Aportar garantías que permitan generar un clima de respeto, comunicación abierta y tolerancia hacia errores, y faciliten el cumplimiento de lo acordado”</a:t>
            </a:r>
            <a:endParaRPr lang="es-ES" sz="2800" dirty="0">
              <a:solidFill>
                <a:srgbClr val="5B463B"/>
              </a:solidFill>
              <a:latin typeface="+mj-lt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7955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/>
          <p:cNvSpPr txBox="1">
            <a:spLocks/>
          </p:cNvSpPr>
          <p:nvPr/>
        </p:nvSpPr>
        <p:spPr>
          <a:xfrm>
            <a:off x="1259632" y="692696"/>
            <a:ext cx="6400800" cy="100811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3600" b="1" dirty="0" smtClean="0">
                <a:solidFill>
                  <a:srgbClr val="5B463B"/>
                </a:solidFill>
                <a:effectLst/>
              </a:rPr>
              <a:t>ORIENTACIÓN A RESULTADOS</a:t>
            </a:r>
            <a:endParaRPr lang="es-ES" sz="3600" b="1" dirty="0">
              <a:solidFill>
                <a:srgbClr val="5B463B"/>
              </a:solidFill>
              <a:ea typeface="Calibri"/>
              <a:cs typeface="Times New Roman"/>
            </a:endParaRPr>
          </a:p>
          <a:p>
            <a:pPr algn="l"/>
            <a:endParaRPr lang="es-ES" sz="3600" b="1" dirty="0">
              <a:solidFill>
                <a:srgbClr val="5B463B"/>
              </a:solidFill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763688" y="2659266"/>
            <a:ext cx="6408712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s-ES" sz="2800" dirty="0" smtClean="0">
                <a:solidFill>
                  <a:srgbClr val="5B463B"/>
                </a:solidFill>
                <a:effectLst/>
              </a:rPr>
              <a:t>“Hacer rentable para la organización el propio trabajo; implica fijar prioridades, asumir retos y gestionar recursos para alcanzar y superar los objetivos establecidos”.</a:t>
            </a:r>
            <a:endParaRPr lang="es-ES" sz="2800" dirty="0">
              <a:solidFill>
                <a:srgbClr val="5B463B"/>
              </a:solidFill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7955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/>
          <p:cNvSpPr txBox="1">
            <a:spLocks/>
          </p:cNvSpPr>
          <p:nvPr/>
        </p:nvSpPr>
        <p:spPr>
          <a:xfrm>
            <a:off x="1619672" y="1484784"/>
            <a:ext cx="6400800" cy="1008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3600" b="1" dirty="0" smtClean="0">
                <a:solidFill>
                  <a:srgbClr val="5B463B"/>
                </a:solidFill>
                <a:effectLst/>
                <a:latin typeface="+mj-lt"/>
              </a:rPr>
              <a:t>GENERADOR DE VALOR</a:t>
            </a:r>
            <a:endParaRPr lang="es-ES" sz="3600" b="1" dirty="0">
              <a:solidFill>
                <a:srgbClr val="5B463B"/>
              </a:solidFill>
              <a:latin typeface="+mj-lt"/>
              <a:ea typeface="Calibri"/>
              <a:cs typeface="Times New Roman"/>
            </a:endParaRPr>
          </a:p>
          <a:p>
            <a:pPr algn="l"/>
            <a:endParaRPr lang="es-ES" sz="3600" b="1" dirty="0">
              <a:solidFill>
                <a:srgbClr val="5B463B"/>
              </a:solidFill>
              <a:latin typeface="+mj-lt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830066" y="2924944"/>
            <a:ext cx="6408712" cy="2540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2800" dirty="0" smtClean="0">
                <a:solidFill>
                  <a:srgbClr val="5B463B"/>
                </a:solidFill>
                <a:effectLst/>
                <a:latin typeface="+mj-lt"/>
              </a:rPr>
              <a:t>“Considerar, en el conjunto de decisiones encaminadas a la generación de valor, dos criterios interrelacionados: el criterio inmediato de coste/ beneficio, y el criterio expectativa de retorno de inversión”</a:t>
            </a:r>
            <a:endParaRPr lang="es-ES" sz="2800" dirty="0">
              <a:solidFill>
                <a:srgbClr val="5B463B"/>
              </a:solidFill>
              <a:latin typeface="+mj-lt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7955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/>
          <p:cNvSpPr txBox="1">
            <a:spLocks/>
          </p:cNvSpPr>
          <p:nvPr/>
        </p:nvSpPr>
        <p:spPr>
          <a:xfrm>
            <a:off x="1555576" y="1124744"/>
            <a:ext cx="6400800" cy="1008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3600" b="1" dirty="0" smtClean="0">
                <a:solidFill>
                  <a:srgbClr val="5B463B"/>
                </a:solidFill>
                <a:effectLst/>
                <a:latin typeface="+mj-lt"/>
              </a:rPr>
              <a:t>INICIATIVA</a:t>
            </a:r>
            <a:endParaRPr lang="es-ES" sz="3600" b="1" dirty="0">
              <a:solidFill>
                <a:srgbClr val="5B463B"/>
              </a:solidFill>
              <a:latin typeface="+mj-lt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007604" y="2708920"/>
            <a:ext cx="7496744" cy="356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2800" dirty="0" smtClean="0">
                <a:solidFill>
                  <a:srgbClr val="5B463B"/>
                </a:solidFill>
                <a:effectLst/>
                <a:latin typeface="+mj-lt"/>
              </a:rPr>
              <a:t>“Actuar anticipándose a los acontecimientos y mejorar lo que hay, asumiendo riesgos para alcanzar objetivos, mejorando su propia capacidad de aportación de valor a la organización, y generando ideas viables de manera creativa en relación con clientes y procesos internos”.</a:t>
            </a:r>
            <a:endParaRPr lang="es-ES" sz="2800" dirty="0">
              <a:solidFill>
                <a:srgbClr val="5B463B"/>
              </a:solidFill>
              <a:latin typeface="+mj-lt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7955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/>
          <p:cNvSpPr txBox="1">
            <a:spLocks/>
          </p:cNvSpPr>
          <p:nvPr/>
        </p:nvSpPr>
        <p:spPr>
          <a:xfrm>
            <a:off x="1547664" y="1484784"/>
            <a:ext cx="6400800" cy="100811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3600" b="1" dirty="0" smtClean="0">
                <a:solidFill>
                  <a:srgbClr val="5B463B"/>
                </a:solidFill>
                <a:effectLst/>
                <a:latin typeface="+mj-lt"/>
              </a:rPr>
              <a:t>ORIENTACIÓN AL CLIENTE</a:t>
            </a:r>
            <a:endParaRPr lang="es-ES" sz="3600" b="1" dirty="0">
              <a:solidFill>
                <a:srgbClr val="5B463B"/>
              </a:solidFill>
              <a:latin typeface="+mj-lt"/>
              <a:ea typeface="Calibri"/>
              <a:cs typeface="Times New Roman"/>
            </a:endParaRPr>
          </a:p>
          <a:p>
            <a:pPr algn="l"/>
            <a:endParaRPr lang="es-ES" sz="3600" b="1" dirty="0">
              <a:solidFill>
                <a:srgbClr val="5B463B"/>
              </a:solidFill>
              <a:latin typeface="+mj-lt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763688" y="2708920"/>
            <a:ext cx="6192688" cy="207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2800" dirty="0" smtClean="0">
                <a:solidFill>
                  <a:srgbClr val="5B463B"/>
                </a:solidFill>
                <a:effectLst/>
                <a:latin typeface="+mj-lt"/>
              </a:rPr>
              <a:t>“Detectar y satisfacer las necesidades actuales y futuras de los socios o clientes internos y externos y externos aportándoles valor de forma estable”.</a:t>
            </a:r>
            <a:endParaRPr lang="es-ES" sz="2800" dirty="0">
              <a:solidFill>
                <a:srgbClr val="5B463B"/>
              </a:solidFill>
              <a:latin typeface="+mj-lt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7955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/>
          <p:cNvSpPr txBox="1">
            <a:spLocks/>
          </p:cNvSpPr>
          <p:nvPr/>
        </p:nvSpPr>
        <p:spPr>
          <a:xfrm>
            <a:off x="1555576" y="1268760"/>
            <a:ext cx="6400800" cy="1008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3600" b="1" dirty="0" smtClean="0">
                <a:solidFill>
                  <a:srgbClr val="5B463B"/>
                </a:solidFill>
                <a:effectLst/>
                <a:latin typeface="+mj-lt"/>
              </a:rPr>
              <a:t>GESTIÓN DEL CAMBIO</a:t>
            </a:r>
            <a:endParaRPr lang="es-ES" sz="3600" b="1" dirty="0">
              <a:solidFill>
                <a:srgbClr val="5B463B"/>
              </a:solidFill>
              <a:latin typeface="+mj-lt"/>
              <a:ea typeface="Calibri"/>
              <a:cs typeface="Times New Roman"/>
            </a:endParaRPr>
          </a:p>
          <a:p>
            <a:pPr algn="l"/>
            <a:endParaRPr lang="es-ES" sz="3600" b="1" dirty="0">
              <a:solidFill>
                <a:srgbClr val="5B463B"/>
              </a:solidFill>
              <a:latin typeface="+mj-lt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335596" y="2780928"/>
            <a:ext cx="6840760" cy="3036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2800" dirty="0" smtClean="0">
                <a:solidFill>
                  <a:srgbClr val="5B463B"/>
                </a:solidFill>
                <a:effectLst/>
                <a:latin typeface="+mj-lt"/>
              </a:rPr>
              <a:t>“Estar en contacto e intercambio permanente con el mercado y el entorno de referencia, desarrollando relaciones en beneficio de la compañía, así como integrarse en nuevas situaciones o formas de hacer, manteniendo siempre una actitud de mejora continua”</a:t>
            </a:r>
            <a:endParaRPr lang="es-ES" sz="2800" dirty="0">
              <a:solidFill>
                <a:srgbClr val="5B463B"/>
              </a:solidFill>
              <a:latin typeface="+mj-lt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7955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/>
          <p:cNvSpPr txBox="1">
            <a:spLocks/>
          </p:cNvSpPr>
          <p:nvPr/>
        </p:nvSpPr>
        <p:spPr>
          <a:xfrm>
            <a:off x="1547664" y="1124744"/>
            <a:ext cx="6400800" cy="1008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3600" b="1" dirty="0" smtClean="0">
                <a:solidFill>
                  <a:srgbClr val="5B463B"/>
                </a:solidFill>
                <a:effectLst/>
                <a:latin typeface="+mj-lt"/>
              </a:rPr>
              <a:t>TRABAJO EN EQUIPO</a:t>
            </a:r>
            <a:endParaRPr lang="es-ES" sz="3600" b="1" dirty="0">
              <a:solidFill>
                <a:srgbClr val="5B463B"/>
              </a:solidFill>
              <a:latin typeface="+mj-lt"/>
              <a:ea typeface="Calibri"/>
              <a:cs typeface="Times New Roman"/>
            </a:endParaRPr>
          </a:p>
          <a:p>
            <a:pPr algn="l"/>
            <a:endParaRPr lang="es-ES" sz="3600" b="1" dirty="0">
              <a:solidFill>
                <a:srgbClr val="5B463B"/>
              </a:solidFill>
              <a:latin typeface="+mj-lt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542101" y="2780928"/>
            <a:ext cx="6840760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2800" dirty="0" smtClean="0">
                <a:solidFill>
                  <a:srgbClr val="5B463B"/>
                </a:solidFill>
                <a:effectLst/>
                <a:latin typeface="+mj-lt"/>
              </a:rPr>
              <a:t>“Cooperar con otras personas y unidades de la organización, así como posibles socios, aportando e influyendo, así como compartiendo información, para alcanzar objetivos comunes”.</a:t>
            </a:r>
            <a:endParaRPr lang="es-ES" sz="2800" dirty="0">
              <a:solidFill>
                <a:srgbClr val="5B463B"/>
              </a:solidFill>
              <a:latin typeface="+mj-lt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7955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/>
          <p:cNvSpPr txBox="1">
            <a:spLocks/>
          </p:cNvSpPr>
          <p:nvPr/>
        </p:nvSpPr>
        <p:spPr>
          <a:xfrm>
            <a:off x="1619672" y="1412776"/>
            <a:ext cx="7344816" cy="1008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lang="es-ES" sz="3600" b="1" dirty="0" smtClean="0">
                <a:solidFill>
                  <a:srgbClr val="5B463B"/>
                </a:solidFill>
                <a:effectLst/>
                <a:latin typeface="+mj-lt"/>
              </a:rPr>
              <a:t>DESARROLLO DE PERSONAS</a:t>
            </a:r>
            <a:endParaRPr lang="es-ES" sz="3600" b="1" dirty="0">
              <a:solidFill>
                <a:srgbClr val="5B463B"/>
              </a:solidFill>
              <a:latin typeface="+mj-lt"/>
              <a:ea typeface="Calibri"/>
              <a:cs typeface="Times New Roman"/>
            </a:endParaRPr>
          </a:p>
          <a:p>
            <a:pPr algn="l"/>
            <a:endParaRPr lang="es-ES" sz="3600" b="1" dirty="0">
              <a:solidFill>
                <a:srgbClr val="5B463B"/>
              </a:solidFill>
              <a:latin typeface="+mj-lt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547664" y="2535825"/>
            <a:ext cx="6840760" cy="2045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2800" dirty="0" smtClean="0">
                <a:solidFill>
                  <a:srgbClr val="5B463B"/>
                </a:solidFill>
                <a:effectLst/>
                <a:latin typeface="Calibri" pitchFamily="34" charset="0"/>
                <a:cs typeface="Calibri" pitchFamily="34" charset="0"/>
              </a:rPr>
              <a:t>“Transmitir su conocimiento y experiencia a otros en su entorno, y ofrecerles oportunidades de mejora y desarrollo según sus necesidades y las de la organización”.</a:t>
            </a:r>
            <a:endParaRPr lang="es-ES" sz="2800" dirty="0">
              <a:solidFill>
                <a:srgbClr val="5B463B"/>
              </a:solidFill>
              <a:latin typeface="Calibri" pitchFamily="34" charset="0"/>
              <a:ea typeface="Calibri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5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/>
          <p:cNvSpPr txBox="1">
            <a:spLocks/>
          </p:cNvSpPr>
          <p:nvPr/>
        </p:nvSpPr>
        <p:spPr>
          <a:xfrm>
            <a:off x="1088149" y="548680"/>
            <a:ext cx="7344816" cy="1008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lang="es-ES" sz="3600" b="1" dirty="0" smtClean="0">
                <a:solidFill>
                  <a:srgbClr val="5B463B"/>
                </a:solidFill>
                <a:effectLst/>
                <a:latin typeface="+mj-lt"/>
              </a:rPr>
              <a:t>INTELIGENCIA EMOCIONAL</a:t>
            </a:r>
            <a:endParaRPr lang="es-ES" sz="3600" b="1" dirty="0">
              <a:solidFill>
                <a:srgbClr val="5B463B"/>
              </a:solidFill>
              <a:latin typeface="+mj-lt"/>
              <a:ea typeface="Calibri"/>
              <a:cs typeface="Times New Roman"/>
            </a:endParaRPr>
          </a:p>
          <a:p>
            <a:pPr algn="l"/>
            <a:endParaRPr lang="es-ES" sz="3600" b="1" dirty="0">
              <a:solidFill>
                <a:srgbClr val="5B463B"/>
              </a:solidFill>
              <a:latin typeface="+mj-lt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547664" y="2599297"/>
            <a:ext cx="6840760" cy="207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2800" dirty="0" smtClean="0">
                <a:solidFill>
                  <a:srgbClr val="5B463B"/>
                </a:solidFill>
                <a:effectLst/>
                <a:latin typeface="+mj-lt"/>
              </a:rPr>
              <a:t>“Capacidad humana de sentir, entender, controlar y modificar estados emocionales en uno mismo y en los demás.” </a:t>
            </a:r>
            <a:r>
              <a:rPr lang="es-ES" sz="2800" dirty="0" err="1" smtClean="0">
                <a:solidFill>
                  <a:srgbClr val="5B463B"/>
                </a:solidFill>
                <a:effectLst/>
                <a:latin typeface="+mj-lt"/>
              </a:rPr>
              <a:t>Empatia</a:t>
            </a:r>
            <a:r>
              <a:rPr lang="es-ES" sz="2800" dirty="0" smtClean="0">
                <a:solidFill>
                  <a:srgbClr val="5B463B"/>
                </a:solidFill>
                <a:effectLst/>
                <a:latin typeface="+mj-lt"/>
              </a:rPr>
              <a:t>, capacidad de negociación</a:t>
            </a:r>
            <a:endParaRPr lang="es-ES" sz="2800" dirty="0">
              <a:solidFill>
                <a:srgbClr val="5B463B"/>
              </a:solidFill>
              <a:latin typeface="+mj-lt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535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/>
          <p:cNvSpPr txBox="1">
            <a:spLocks/>
          </p:cNvSpPr>
          <p:nvPr/>
        </p:nvSpPr>
        <p:spPr>
          <a:xfrm>
            <a:off x="1402715" y="987441"/>
            <a:ext cx="6400800" cy="100811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s-ES" sz="3600" b="1" dirty="0" smtClean="0">
                <a:solidFill>
                  <a:srgbClr val="5B463B"/>
                </a:solidFill>
                <a:effectLst/>
                <a:latin typeface="+mj-lt"/>
              </a:rPr>
              <a:t>PLANIFICACIÓN Y ORGANIZACIÓN</a:t>
            </a:r>
            <a:endParaRPr lang="es-ES" sz="3600" b="1" dirty="0">
              <a:solidFill>
                <a:srgbClr val="5B463B"/>
              </a:solidFill>
              <a:latin typeface="+mj-lt"/>
              <a:ea typeface="Calibri"/>
              <a:cs typeface="Times New Roman"/>
            </a:endParaRPr>
          </a:p>
          <a:p>
            <a:pPr algn="l"/>
            <a:endParaRPr lang="es-ES" sz="3600" b="1" dirty="0">
              <a:solidFill>
                <a:srgbClr val="5B463B"/>
              </a:solidFill>
              <a:latin typeface="+mj-lt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619672" y="2794746"/>
            <a:ext cx="6840760" cy="207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2800" dirty="0" smtClean="0">
                <a:solidFill>
                  <a:srgbClr val="5B463B"/>
                </a:solidFill>
                <a:effectLst/>
                <a:latin typeface="+mj-lt"/>
              </a:rPr>
              <a:t>“Prevenir, anticipadamente, lo que debe hacerse, de forma a conciliar los recursos disponibles con los objetivos y oportunidades de que se disponga.”</a:t>
            </a:r>
            <a:endParaRPr lang="es-ES" sz="2800" dirty="0">
              <a:solidFill>
                <a:srgbClr val="5B463B"/>
              </a:solidFill>
              <a:latin typeface="+mj-lt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535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/>
          <p:cNvSpPr txBox="1">
            <a:spLocks/>
          </p:cNvSpPr>
          <p:nvPr/>
        </p:nvSpPr>
        <p:spPr>
          <a:xfrm>
            <a:off x="1477671" y="980728"/>
            <a:ext cx="6400800" cy="100811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s-ES" sz="3600" b="1" dirty="0" smtClean="0">
                <a:solidFill>
                  <a:srgbClr val="5B463B"/>
                </a:solidFill>
                <a:effectLst/>
                <a:latin typeface="+mj-lt"/>
              </a:rPr>
              <a:t>MOTIVACIÓN Y AUTOMOTIVACIÓN</a:t>
            </a:r>
            <a:endParaRPr lang="es-ES" sz="3600" b="1" dirty="0">
              <a:solidFill>
                <a:srgbClr val="5B463B"/>
              </a:solidFill>
              <a:latin typeface="+mj-lt"/>
              <a:ea typeface="Calibri"/>
              <a:cs typeface="Times New Roman"/>
            </a:endParaRPr>
          </a:p>
          <a:p>
            <a:pPr algn="l"/>
            <a:endParaRPr lang="es-ES" sz="3600" b="1" dirty="0">
              <a:solidFill>
                <a:srgbClr val="5B463B"/>
              </a:solidFill>
              <a:latin typeface="+mj-lt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835696" y="2731274"/>
            <a:ext cx="6840760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2800" dirty="0" smtClean="0">
                <a:solidFill>
                  <a:srgbClr val="5B463B"/>
                </a:solidFill>
                <a:effectLst/>
                <a:latin typeface="+mj-lt"/>
              </a:rPr>
              <a:t>“Ejercer un nivel persistente y alto de esfuerzo hacia las metas organizacionales, condicionada por la habilidad del esfuerzo de satisfacer una necesidad individual y/o grupal. “</a:t>
            </a:r>
            <a:endParaRPr lang="es-ES" sz="2800" dirty="0">
              <a:solidFill>
                <a:srgbClr val="5B463B"/>
              </a:solidFill>
              <a:latin typeface="+mj-lt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535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/>
          <p:cNvSpPr txBox="1">
            <a:spLocks/>
          </p:cNvSpPr>
          <p:nvPr/>
        </p:nvSpPr>
        <p:spPr>
          <a:xfrm>
            <a:off x="1547664" y="1484784"/>
            <a:ext cx="6400800" cy="1008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3600" b="1" dirty="0" smtClean="0">
                <a:solidFill>
                  <a:srgbClr val="5B463B"/>
                </a:solidFill>
                <a:effectLst/>
                <a:latin typeface="+mj-lt"/>
              </a:rPr>
              <a:t>LIDERAZGO</a:t>
            </a:r>
            <a:endParaRPr lang="es-ES" sz="3600" b="1" dirty="0">
              <a:solidFill>
                <a:srgbClr val="5B463B"/>
              </a:solidFill>
              <a:latin typeface="+mj-lt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547664" y="2780928"/>
            <a:ext cx="6840760" cy="3036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2800" dirty="0" smtClean="0">
                <a:solidFill>
                  <a:srgbClr val="5B463B"/>
                </a:solidFill>
                <a:effectLst/>
                <a:latin typeface="+mj-lt"/>
              </a:rPr>
              <a:t>“Influir en otros y apoyarlos para que trabajen con entusiasmo en el logro de objetivos comunes. Se entiende como la capacidad de tomar la iniciativa, gestionar, convocar, promover, incentivar, motivar y evaluar a un grupo o equipo.”</a:t>
            </a:r>
            <a:endParaRPr lang="es-ES" sz="2800" dirty="0">
              <a:solidFill>
                <a:srgbClr val="5B463B"/>
              </a:solidFill>
              <a:latin typeface="+mj-lt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535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/>
          <p:cNvSpPr txBox="1">
            <a:spLocks/>
          </p:cNvSpPr>
          <p:nvPr/>
        </p:nvSpPr>
        <p:spPr>
          <a:xfrm>
            <a:off x="1555576" y="1484784"/>
            <a:ext cx="6400800" cy="1008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3600" b="1" dirty="0" smtClean="0">
                <a:solidFill>
                  <a:srgbClr val="5B463B"/>
                </a:solidFill>
                <a:effectLst/>
                <a:latin typeface="+mj-lt"/>
              </a:rPr>
              <a:t>COMUNICACIÓN</a:t>
            </a:r>
            <a:endParaRPr lang="es-ES" sz="3600" b="1" dirty="0">
              <a:solidFill>
                <a:srgbClr val="5B463B"/>
              </a:solidFill>
              <a:latin typeface="+mj-lt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299592" y="2780928"/>
            <a:ext cx="6912768" cy="3531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2800" dirty="0" smtClean="0">
                <a:solidFill>
                  <a:srgbClr val="5B463B"/>
                </a:solidFill>
                <a:effectLst/>
                <a:latin typeface="+mj-lt"/>
              </a:rPr>
              <a:t>“Hacer uso de un conjunto de técnicas y actividades encaminadas a facilitar y agilizar el flujo de mensajes que se dan entre los miembros de la organización; o bien, influir en las opiniones, aptitudes y conductas de con el fin de que se cumplan mejor y más rápidamente los objetivos.”</a:t>
            </a:r>
            <a:endParaRPr lang="es-ES" sz="2800" dirty="0">
              <a:solidFill>
                <a:srgbClr val="5B463B"/>
              </a:solidFill>
              <a:latin typeface="+mj-lt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535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/>
          <p:cNvSpPr txBox="1">
            <a:spLocks/>
          </p:cNvSpPr>
          <p:nvPr/>
        </p:nvSpPr>
        <p:spPr>
          <a:xfrm>
            <a:off x="1619672" y="1484784"/>
            <a:ext cx="7272808" cy="1008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3600" b="1" dirty="0" smtClean="0">
                <a:solidFill>
                  <a:srgbClr val="5B463B"/>
                </a:solidFill>
                <a:effectLst/>
                <a:latin typeface="+mj-lt"/>
              </a:rPr>
              <a:t>HABILIDAD  COMERCIAL</a:t>
            </a:r>
            <a:endParaRPr lang="es-ES" sz="3600" b="1" dirty="0">
              <a:solidFill>
                <a:srgbClr val="5B463B"/>
              </a:solidFill>
              <a:latin typeface="+mj-lt"/>
              <a:ea typeface="Calibri"/>
              <a:cs typeface="Times New Roman"/>
            </a:endParaRPr>
          </a:p>
          <a:p>
            <a:pPr algn="l"/>
            <a:endParaRPr lang="es-ES" sz="3600" b="1" dirty="0">
              <a:solidFill>
                <a:srgbClr val="5B463B"/>
              </a:solidFill>
              <a:latin typeface="+mj-lt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619672" y="2743313"/>
            <a:ext cx="6912768" cy="1578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2800" dirty="0" smtClean="0">
                <a:solidFill>
                  <a:srgbClr val="5B463B"/>
                </a:solidFill>
                <a:effectLst/>
                <a:latin typeface="+mj-lt"/>
              </a:rPr>
              <a:t>“Adecuar </a:t>
            </a:r>
            <a:r>
              <a:rPr lang="es-ES" sz="2800" smtClean="0">
                <a:solidFill>
                  <a:srgbClr val="5B463B"/>
                </a:solidFill>
                <a:effectLst/>
                <a:latin typeface="+mj-lt"/>
              </a:rPr>
              <a:t>el </a:t>
            </a:r>
            <a:r>
              <a:rPr lang="es-ES" sz="2800" smtClean="0">
                <a:solidFill>
                  <a:srgbClr val="5B463B"/>
                </a:solidFill>
                <a:effectLst/>
                <a:latin typeface="+mj-lt"/>
              </a:rPr>
              <a:t>argumento </a:t>
            </a:r>
            <a:r>
              <a:rPr lang="es-ES" sz="2800" dirty="0" smtClean="0">
                <a:solidFill>
                  <a:srgbClr val="5B463B"/>
                </a:solidFill>
                <a:effectLst/>
                <a:latin typeface="+mj-lt"/>
              </a:rPr>
              <a:t>de ventas del proyecto, producto o servicio al target del cliente a quien se enfoca su venta.”</a:t>
            </a:r>
            <a:endParaRPr lang="es-ES" sz="2800" dirty="0">
              <a:solidFill>
                <a:srgbClr val="5B463B"/>
              </a:solidFill>
              <a:latin typeface="+mj-lt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63799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Civil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225</TotalTime>
  <Words>616</Words>
  <Application>Microsoft Office PowerPoint</Application>
  <PresentationFormat>Presentación en pantalla (4:3)</PresentationFormat>
  <Paragraphs>56</Paragraphs>
  <Slides>20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7" baseType="lpstr">
      <vt:lpstr>Arial</vt:lpstr>
      <vt:lpstr>Calibri</vt:lpstr>
      <vt:lpstr>Georgia</vt:lpstr>
      <vt:lpstr>Times New Roman</vt:lpstr>
      <vt:lpstr>Wingdings</vt:lpstr>
      <vt:lpstr>Wingdings 2</vt:lpstr>
      <vt:lpstr>Civil</vt:lpstr>
      <vt:lpstr>Competencias Emprendedoras</vt:lpstr>
      <vt:lpstr>Presentación de PowerPoint</vt:lpstr>
      <vt:lpstr>Capacidades necesarias para el profesional de la era digital(Ferras 2020)</vt:lpstr>
      <vt:lpstr>Concepto de Competencia</vt:lpstr>
      <vt:lpstr>Porque las competencias?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admin</dc:creator>
  <cp:lastModifiedBy>Fede Walas</cp:lastModifiedBy>
  <cp:revision>23</cp:revision>
  <dcterms:created xsi:type="dcterms:W3CDTF">2012-04-24T11:00:10Z</dcterms:created>
  <dcterms:modified xsi:type="dcterms:W3CDTF">2025-04-04T18:54:47Z</dcterms:modified>
</cp:coreProperties>
</file>