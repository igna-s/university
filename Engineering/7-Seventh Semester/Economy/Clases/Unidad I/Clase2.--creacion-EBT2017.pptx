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84" r:id="rId2"/>
    <p:sldId id="304" r:id="rId3"/>
    <p:sldId id="305" r:id="rId4"/>
    <p:sldId id="306" r:id="rId5"/>
    <p:sldId id="307" r:id="rId6"/>
    <p:sldId id="308" r:id="rId7"/>
    <p:sldId id="309" r:id="rId8"/>
    <p:sldId id="300" r:id="rId9"/>
    <p:sldId id="302" r:id="rId10"/>
    <p:sldId id="286" r:id="rId11"/>
    <p:sldId id="288" r:id="rId12"/>
    <p:sldId id="289" r:id="rId13"/>
    <p:sldId id="290" r:id="rId14"/>
    <p:sldId id="303" r:id="rId15"/>
    <p:sldId id="294" r:id="rId16"/>
    <p:sldId id="295" r:id="rId17"/>
    <p:sldId id="301" r:id="rId18"/>
    <p:sldId id="296" r:id="rId19"/>
    <p:sldId id="297" r:id="rId20"/>
    <p:sldId id="298" r:id="rId21"/>
    <p:sldId id="299" r:id="rId22"/>
  </p:sldIdLst>
  <p:sldSz cx="9144000" cy="6858000" type="screen4x3"/>
  <p:notesSz cx="7315200" cy="96012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>
      <p:cViewPr varScale="1">
        <p:scale>
          <a:sx n="68" d="100"/>
          <a:sy n="68" d="100"/>
        </p:scale>
        <p:origin x="145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A9177-5797-40DA-B8B1-1B1A842AB666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974B4-2E09-472D-8854-42A465CBB79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3773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s-A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EDE44105-ED29-4AEF-8B87-64E1F366D6DF}" type="datetimeFigureOut">
              <a:rPr lang="es-AR" smtClean="0"/>
              <a:t>28/3/2025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s-AR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0B2C063D-FA2F-4D51-9530-107B371AA0AE}" type="slidenum">
              <a:rPr lang="es-AR" smtClean="0"/>
              <a:t>‹Nº›</a:t>
            </a:fld>
            <a:endParaRPr lang="es-AR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473696"/>
          </a:xfrm>
        </p:spPr>
        <p:txBody>
          <a:bodyPr>
            <a:normAutofit/>
          </a:bodyPr>
          <a:lstStyle/>
          <a:p>
            <a:r>
              <a:rPr lang="es-AR" dirty="0" err="1" smtClean="0"/>
              <a:t>Economia</a:t>
            </a:r>
            <a:r>
              <a:rPr lang="es-AR" dirty="0" smtClean="0"/>
              <a:t> y </a:t>
            </a:r>
            <a:r>
              <a:rPr lang="es-AR" dirty="0" err="1" smtClean="0"/>
              <a:t>emprendedorismo</a:t>
            </a:r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r>
              <a:rPr lang="es-AR" dirty="0" smtClean="0"/>
              <a:t>Federico </a:t>
            </a:r>
            <a:r>
              <a:rPr lang="es-AR" dirty="0" err="1" smtClean="0"/>
              <a:t>Walas</a:t>
            </a:r>
            <a:r>
              <a:rPr lang="es-AR" dirty="0" smtClean="0"/>
              <a:t> mateo</a:t>
            </a:r>
          </a:p>
          <a:p>
            <a:endParaRPr lang="es-AR" dirty="0" smtClean="0"/>
          </a:p>
          <a:p>
            <a:endParaRPr lang="es-AR" dirty="0"/>
          </a:p>
          <a:p>
            <a:endParaRPr lang="es-AR" dirty="0" smtClean="0"/>
          </a:p>
          <a:p>
            <a:endParaRPr lang="es-AR" dirty="0" smtClean="0"/>
          </a:p>
          <a:p>
            <a:endParaRPr lang="es-AR" dirty="0"/>
          </a:p>
        </p:txBody>
      </p:sp>
      <p:sp>
        <p:nvSpPr>
          <p:cNvPr id="3" name="2 Título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Economía del </a:t>
            </a:r>
            <a:r>
              <a:rPr lang="es-AR" dirty="0" smtClean="0"/>
              <a:t>Conocimiento, innovación, </a:t>
            </a:r>
            <a:r>
              <a:rPr lang="es-AR" dirty="0" smtClean="0"/>
              <a:t>y Creación de empresas de Base Tecnológica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06676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smtClean="0"/>
              <a:t>Bibliografia Recomendada</a:t>
            </a:r>
          </a:p>
        </p:txBody>
      </p:sp>
      <p:sp>
        <p:nvSpPr>
          <p:cNvPr id="512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altLang="es-AR" dirty="0" smtClean="0"/>
              <a:t>Tecnología e Innovación en la Empresa (cap. 1)</a:t>
            </a:r>
          </a:p>
          <a:p>
            <a:r>
              <a:rPr lang="es-AR" altLang="es-AR" dirty="0" smtClean="0"/>
              <a:t>Manual EDI, Univ. Complutense de Madrid (cap. 1, 2, y 3)</a:t>
            </a:r>
          </a:p>
          <a:p>
            <a:r>
              <a:rPr lang="en-US" altLang="es-AR" dirty="0" smtClean="0"/>
              <a:t>Emerging </a:t>
            </a:r>
            <a:r>
              <a:rPr lang="en-US" altLang="es-AR" dirty="0" smtClean="0"/>
              <a:t>Business Models for Open Source Hardware</a:t>
            </a:r>
            <a:endParaRPr lang="es-AR" altLang="es-AR" dirty="0" smtClean="0"/>
          </a:p>
        </p:txBody>
      </p:sp>
    </p:spTree>
    <p:extLst>
      <p:ext uri="{BB962C8B-B14F-4D97-AF65-F5344CB8AC3E}">
        <p14:creationId xmlns:p14="http://schemas.microsoft.com/office/powerpoint/2010/main" val="264246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eaLnBrk="1" hangingPunct="1"/>
            <a:r>
              <a:rPr lang="es-ES_tradnl" altLang="es-AR" sz="3600" u="sng" smtClean="0">
                <a:latin typeface="Verdana" panose="020B0604030504040204" pitchFamily="34" charset="0"/>
              </a:rPr>
              <a:t>Ciclo de vida del producto</a:t>
            </a:r>
            <a:endParaRPr lang="es-ES_tradnl" altLang="es-AR" sz="3600" u="sng" smtClean="0"/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2438400" y="1905000"/>
            <a:ext cx="0" cy="2622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s-AR"/>
          </a:p>
        </p:txBody>
      </p:sp>
      <p:grpSp>
        <p:nvGrpSpPr>
          <p:cNvPr id="6148" name="Group 4"/>
          <p:cNvGrpSpPr>
            <a:grpSpLocks/>
          </p:cNvGrpSpPr>
          <p:nvPr/>
        </p:nvGrpSpPr>
        <p:grpSpPr bwMode="auto">
          <a:xfrm>
            <a:off x="2438400" y="2057400"/>
            <a:ext cx="5818188" cy="2959100"/>
            <a:chOff x="1440" y="1680"/>
            <a:chExt cx="3665" cy="1864"/>
          </a:xfrm>
        </p:grpSpPr>
        <p:sp>
          <p:nvSpPr>
            <p:cNvPr id="6151" name="Line 5"/>
            <p:cNvSpPr>
              <a:spLocks noChangeShapeType="1"/>
            </p:cNvSpPr>
            <p:nvPr/>
          </p:nvSpPr>
          <p:spPr bwMode="auto">
            <a:xfrm>
              <a:off x="1440" y="3230"/>
              <a:ext cx="27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52" name="Freeform 6"/>
            <p:cNvSpPr>
              <a:spLocks/>
            </p:cNvSpPr>
            <p:nvPr/>
          </p:nvSpPr>
          <p:spPr bwMode="auto">
            <a:xfrm>
              <a:off x="1440" y="1920"/>
              <a:ext cx="2788" cy="1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w 20000"/>
                <a:gd name="T97" fmla="*/ 0 h 20000"/>
                <a:gd name="T98" fmla="*/ 0 w 20000"/>
                <a:gd name="T99" fmla="*/ 0 h 20000"/>
                <a:gd name="T100" fmla="*/ 0 w 20000"/>
                <a:gd name="T101" fmla="*/ 0 h 20000"/>
                <a:gd name="T102" fmla="*/ 0 w 20000"/>
                <a:gd name="T103" fmla="*/ 0 h 20000"/>
                <a:gd name="T104" fmla="*/ 0 w 20000"/>
                <a:gd name="T105" fmla="*/ 0 h 20000"/>
                <a:gd name="T106" fmla="*/ 0 w 20000"/>
                <a:gd name="T107" fmla="*/ 0 h 20000"/>
                <a:gd name="T108" fmla="*/ 0 w 20000"/>
                <a:gd name="T109" fmla="*/ 0 h 20000"/>
                <a:gd name="T110" fmla="*/ 0 w 20000"/>
                <a:gd name="T111" fmla="*/ 0 h 20000"/>
                <a:gd name="T112" fmla="*/ 0 w 20000"/>
                <a:gd name="T113" fmla="*/ 0 h 2000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20000"/>
                <a:gd name="T172" fmla="*/ 0 h 20000"/>
                <a:gd name="T173" fmla="*/ 20000 w 20000"/>
                <a:gd name="T174" fmla="*/ 20000 h 20000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20000" h="20000">
                  <a:moveTo>
                    <a:pt x="0" y="20000"/>
                  </a:moveTo>
                  <a:lnTo>
                    <a:pt x="67" y="19976"/>
                  </a:lnTo>
                  <a:lnTo>
                    <a:pt x="133" y="19951"/>
                  </a:lnTo>
                  <a:lnTo>
                    <a:pt x="200" y="19919"/>
                  </a:lnTo>
                  <a:lnTo>
                    <a:pt x="266" y="19894"/>
                  </a:lnTo>
                  <a:lnTo>
                    <a:pt x="333" y="19870"/>
                  </a:lnTo>
                  <a:lnTo>
                    <a:pt x="399" y="19845"/>
                  </a:lnTo>
                  <a:lnTo>
                    <a:pt x="466" y="19821"/>
                  </a:lnTo>
                  <a:lnTo>
                    <a:pt x="532" y="19788"/>
                  </a:lnTo>
                  <a:lnTo>
                    <a:pt x="599" y="19756"/>
                  </a:lnTo>
                  <a:lnTo>
                    <a:pt x="665" y="19731"/>
                  </a:lnTo>
                  <a:lnTo>
                    <a:pt x="732" y="19707"/>
                  </a:lnTo>
                  <a:lnTo>
                    <a:pt x="798" y="19683"/>
                  </a:lnTo>
                  <a:lnTo>
                    <a:pt x="865" y="19650"/>
                  </a:lnTo>
                  <a:lnTo>
                    <a:pt x="931" y="19618"/>
                  </a:lnTo>
                  <a:lnTo>
                    <a:pt x="998" y="19585"/>
                  </a:lnTo>
                  <a:lnTo>
                    <a:pt x="1064" y="19552"/>
                  </a:lnTo>
                  <a:lnTo>
                    <a:pt x="1131" y="19520"/>
                  </a:lnTo>
                  <a:lnTo>
                    <a:pt x="1201" y="19487"/>
                  </a:lnTo>
                  <a:lnTo>
                    <a:pt x="1268" y="19455"/>
                  </a:lnTo>
                  <a:lnTo>
                    <a:pt x="1334" y="19414"/>
                  </a:lnTo>
                  <a:lnTo>
                    <a:pt x="1401" y="19373"/>
                  </a:lnTo>
                  <a:lnTo>
                    <a:pt x="1471" y="19341"/>
                  </a:lnTo>
                  <a:lnTo>
                    <a:pt x="1541" y="19308"/>
                  </a:lnTo>
                  <a:lnTo>
                    <a:pt x="1612" y="19268"/>
                  </a:lnTo>
                  <a:lnTo>
                    <a:pt x="1678" y="19219"/>
                  </a:lnTo>
                  <a:lnTo>
                    <a:pt x="1745" y="19170"/>
                  </a:lnTo>
                  <a:lnTo>
                    <a:pt x="1811" y="19121"/>
                  </a:lnTo>
                  <a:lnTo>
                    <a:pt x="1882" y="19072"/>
                  </a:lnTo>
                  <a:lnTo>
                    <a:pt x="1952" y="19024"/>
                  </a:lnTo>
                  <a:lnTo>
                    <a:pt x="2023" y="18975"/>
                  </a:lnTo>
                  <a:lnTo>
                    <a:pt x="2093" y="18926"/>
                  </a:lnTo>
                  <a:lnTo>
                    <a:pt x="2164" y="18869"/>
                  </a:lnTo>
                  <a:lnTo>
                    <a:pt x="2234" y="18812"/>
                  </a:lnTo>
                  <a:lnTo>
                    <a:pt x="2304" y="18755"/>
                  </a:lnTo>
                  <a:lnTo>
                    <a:pt x="2375" y="18698"/>
                  </a:lnTo>
                  <a:lnTo>
                    <a:pt x="2449" y="18633"/>
                  </a:lnTo>
                  <a:lnTo>
                    <a:pt x="2520" y="18568"/>
                  </a:lnTo>
                  <a:lnTo>
                    <a:pt x="2590" y="18495"/>
                  </a:lnTo>
                  <a:lnTo>
                    <a:pt x="2660" y="18421"/>
                  </a:lnTo>
                  <a:lnTo>
                    <a:pt x="2735" y="18356"/>
                  </a:lnTo>
                  <a:lnTo>
                    <a:pt x="2809" y="18283"/>
                  </a:lnTo>
                  <a:lnTo>
                    <a:pt x="2883" y="18202"/>
                  </a:lnTo>
                  <a:lnTo>
                    <a:pt x="2958" y="18120"/>
                  </a:lnTo>
                  <a:lnTo>
                    <a:pt x="3032" y="18039"/>
                  </a:lnTo>
                  <a:lnTo>
                    <a:pt x="3106" y="17950"/>
                  </a:lnTo>
                  <a:lnTo>
                    <a:pt x="3181" y="17868"/>
                  </a:lnTo>
                  <a:lnTo>
                    <a:pt x="3255" y="17779"/>
                  </a:lnTo>
                  <a:lnTo>
                    <a:pt x="3333" y="17689"/>
                  </a:lnTo>
                  <a:lnTo>
                    <a:pt x="3408" y="17592"/>
                  </a:lnTo>
                  <a:lnTo>
                    <a:pt x="3482" y="17486"/>
                  </a:lnTo>
                  <a:lnTo>
                    <a:pt x="3556" y="17380"/>
                  </a:lnTo>
                  <a:lnTo>
                    <a:pt x="3631" y="17274"/>
                  </a:lnTo>
                  <a:lnTo>
                    <a:pt x="3709" y="17168"/>
                  </a:lnTo>
                  <a:lnTo>
                    <a:pt x="3787" y="17055"/>
                  </a:lnTo>
                  <a:lnTo>
                    <a:pt x="3865" y="16941"/>
                  </a:lnTo>
                  <a:lnTo>
                    <a:pt x="3944" y="16819"/>
                  </a:lnTo>
                  <a:lnTo>
                    <a:pt x="4022" y="16697"/>
                  </a:lnTo>
                  <a:lnTo>
                    <a:pt x="4100" y="16574"/>
                  </a:lnTo>
                  <a:lnTo>
                    <a:pt x="4178" y="16452"/>
                  </a:lnTo>
                  <a:lnTo>
                    <a:pt x="4261" y="16330"/>
                  </a:lnTo>
                  <a:lnTo>
                    <a:pt x="4339" y="16200"/>
                  </a:lnTo>
                  <a:lnTo>
                    <a:pt x="4417" y="16062"/>
                  </a:lnTo>
                  <a:lnTo>
                    <a:pt x="4499" y="15924"/>
                  </a:lnTo>
                  <a:lnTo>
                    <a:pt x="4581" y="15793"/>
                  </a:lnTo>
                  <a:lnTo>
                    <a:pt x="4664" y="15655"/>
                  </a:lnTo>
                  <a:lnTo>
                    <a:pt x="4746" y="15517"/>
                  </a:lnTo>
                  <a:lnTo>
                    <a:pt x="4828" y="15378"/>
                  </a:lnTo>
                  <a:lnTo>
                    <a:pt x="4910" y="15232"/>
                  </a:lnTo>
                  <a:lnTo>
                    <a:pt x="4992" y="15085"/>
                  </a:lnTo>
                  <a:lnTo>
                    <a:pt x="5074" y="14947"/>
                  </a:lnTo>
                  <a:lnTo>
                    <a:pt x="5156" y="14801"/>
                  </a:lnTo>
                  <a:lnTo>
                    <a:pt x="5239" y="14654"/>
                  </a:lnTo>
                  <a:lnTo>
                    <a:pt x="5321" y="14500"/>
                  </a:lnTo>
                  <a:lnTo>
                    <a:pt x="5403" y="14345"/>
                  </a:lnTo>
                  <a:lnTo>
                    <a:pt x="5485" y="14182"/>
                  </a:lnTo>
                  <a:lnTo>
                    <a:pt x="5567" y="14028"/>
                  </a:lnTo>
                  <a:lnTo>
                    <a:pt x="5649" y="13873"/>
                  </a:lnTo>
                  <a:lnTo>
                    <a:pt x="5732" y="13718"/>
                  </a:lnTo>
                  <a:lnTo>
                    <a:pt x="5814" y="13556"/>
                  </a:lnTo>
                  <a:lnTo>
                    <a:pt x="5896" y="13393"/>
                  </a:lnTo>
                  <a:lnTo>
                    <a:pt x="5978" y="13230"/>
                  </a:lnTo>
                  <a:lnTo>
                    <a:pt x="6060" y="13076"/>
                  </a:lnTo>
                  <a:lnTo>
                    <a:pt x="6146" y="12913"/>
                  </a:lnTo>
                  <a:lnTo>
                    <a:pt x="6232" y="12750"/>
                  </a:lnTo>
                  <a:lnTo>
                    <a:pt x="6315" y="12587"/>
                  </a:lnTo>
                  <a:lnTo>
                    <a:pt x="6397" y="12417"/>
                  </a:lnTo>
                  <a:lnTo>
                    <a:pt x="6479" y="12246"/>
                  </a:lnTo>
                  <a:lnTo>
                    <a:pt x="6561" y="12083"/>
                  </a:lnTo>
                  <a:lnTo>
                    <a:pt x="6643" y="11920"/>
                  </a:lnTo>
                  <a:lnTo>
                    <a:pt x="6725" y="11758"/>
                  </a:lnTo>
                  <a:lnTo>
                    <a:pt x="6808" y="11587"/>
                  </a:lnTo>
                  <a:lnTo>
                    <a:pt x="6890" y="11416"/>
                  </a:lnTo>
                  <a:lnTo>
                    <a:pt x="6972" y="11245"/>
                  </a:lnTo>
                  <a:lnTo>
                    <a:pt x="7058" y="11082"/>
                  </a:lnTo>
                  <a:lnTo>
                    <a:pt x="7140" y="10919"/>
                  </a:lnTo>
                  <a:lnTo>
                    <a:pt x="7222" y="10757"/>
                  </a:lnTo>
                  <a:lnTo>
                    <a:pt x="7300" y="10586"/>
                  </a:lnTo>
                  <a:lnTo>
                    <a:pt x="7379" y="10407"/>
                  </a:lnTo>
                  <a:lnTo>
                    <a:pt x="7461" y="10220"/>
                  </a:lnTo>
                  <a:lnTo>
                    <a:pt x="7543" y="10033"/>
                  </a:lnTo>
                  <a:lnTo>
                    <a:pt x="7625" y="9837"/>
                  </a:lnTo>
                  <a:lnTo>
                    <a:pt x="7707" y="9642"/>
                  </a:lnTo>
                  <a:lnTo>
                    <a:pt x="7790" y="9447"/>
                  </a:lnTo>
                  <a:lnTo>
                    <a:pt x="7872" y="9243"/>
                  </a:lnTo>
                  <a:lnTo>
                    <a:pt x="7954" y="9032"/>
                  </a:lnTo>
                  <a:lnTo>
                    <a:pt x="8036" y="8828"/>
                  </a:lnTo>
                  <a:lnTo>
                    <a:pt x="8118" y="8617"/>
                  </a:lnTo>
                  <a:lnTo>
                    <a:pt x="8200" y="8405"/>
                  </a:lnTo>
                  <a:lnTo>
                    <a:pt x="8282" y="8186"/>
                  </a:lnTo>
                  <a:lnTo>
                    <a:pt x="8365" y="7966"/>
                  </a:lnTo>
                  <a:lnTo>
                    <a:pt x="8447" y="7746"/>
                  </a:lnTo>
                  <a:lnTo>
                    <a:pt x="8529" y="7526"/>
                  </a:lnTo>
                  <a:lnTo>
                    <a:pt x="8611" y="7307"/>
                  </a:lnTo>
                  <a:lnTo>
                    <a:pt x="8693" y="7087"/>
                  </a:lnTo>
                  <a:lnTo>
                    <a:pt x="8775" y="6867"/>
                  </a:lnTo>
                  <a:lnTo>
                    <a:pt x="8858" y="6648"/>
                  </a:lnTo>
                  <a:lnTo>
                    <a:pt x="8940" y="6428"/>
                  </a:lnTo>
                  <a:lnTo>
                    <a:pt x="9026" y="6208"/>
                  </a:lnTo>
                  <a:lnTo>
                    <a:pt x="9112" y="5989"/>
                  </a:lnTo>
                  <a:lnTo>
                    <a:pt x="9198" y="5769"/>
                  </a:lnTo>
                  <a:lnTo>
                    <a:pt x="9280" y="5549"/>
                  </a:lnTo>
                  <a:lnTo>
                    <a:pt x="9362" y="5330"/>
                  </a:lnTo>
                  <a:lnTo>
                    <a:pt x="9441" y="5110"/>
                  </a:lnTo>
                  <a:lnTo>
                    <a:pt x="9523" y="4890"/>
                  </a:lnTo>
                  <a:lnTo>
                    <a:pt x="9605" y="4679"/>
                  </a:lnTo>
                  <a:lnTo>
                    <a:pt x="9687" y="4475"/>
                  </a:lnTo>
                  <a:lnTo>
                    <a:pt x="9769" y="4264"/>
                  </a:lnTo>
                  <a:lnTo>
                    <a:pt x="9851" y="4060"/>
                  </a:lnTo>
                  <a:lnTo>
                    <a:pt x="9930" y="3857"/>
                  </a:lnTo>
                  <a:lnTo>
                    <a:pt x="10012" y="3662"/>
                  </a:lnTo>
                  <a:lnTo>
                    <a:pt x="10094" y="3474"/>
                  </a:lnTo>
                  <a:lnTo>
                    <a:pt x="10176" y="3295"/>
                  </a:lnTo>
                  <a:lnTo>
                    <a:pt x="10254" y="3108"/>
                  </a:lnTo>
                  <a:lnTo>
                    <a:pt x="10333" y="2929"/>
                  </a:lnTo>
                  <a:lnTo>
                    <a:pt x="10411" y="2758"/>
                  </a:lnTo>
                  <a:lnTo>
                    <a:pt x="10493" y="2596"/>
                  </a:lnTo>
                  <a:lnTo>
                    <a:pt x="10571" y="2433"/>
                  </a:lnTo>
                  <a:lnTo>
                    <a:pt x="10649" y="2286"/>
                  </a:lnTo>
                  <a:lnTo>
                    <a:pt x="10728" y="2132"/>
                  </a:lnTo>
                  <a:lnTo>
                    <a:pt x="10802" y="1993"/>
                  </a:lnTo>
                  <a:lnTo>
                    <a:pt x="10876" y="1863"/>
                  </a:lnTo>
                  <a:lnTo>
                    <a:pt x="10955" y="1733"/>
                  </a:lnTo>
                  <a:lnTo>
                    <a:pt x="11033" y="1619"/>
                  </a:lnTo>
                  <a:lnTo>
                    <a:pt x="11111" y="1513"/>
                  </a:lnTo>
                  <a:lnTo>
                    <a:pt x="11185" y="1400"/>
                  </a:lnTo>
                  <a:lnTo>
                    <a:pt x="11260" y="1294"/>
                  </a:lnTo>
                  <a:lnTo>
                    <a:pt x="11330" y="1196"/>
                  </a:lnTo>
                  <a:lnTo>
                    <a:pt x="11405" y="1098"/>
                  </a:lnTo>
                  <a:lnTo>
                    <a:pt x="11479" y="1009"/>
                  </a:lnTo>
                  <a:lnTo>
                    <a:pt x="11553" y="928"/>
                  </a:lnTo>
                  <a:lnTo>
                    <a:pt x="11624" y="846"/>
                  </a:lnTo>
                  <a:lnTo>
                    <a:pt x="11694" y="765"/>
                  </a:lnTo>
                  <a:lnTo>
                    <a:pt x="11764" y="692"/>
                  </a:lnTo>
                  <a:lnTo>
                    <a:pt x="11839" y="627"/>
                  </a:lnTo>
                  <a:lnTo>
                    <a:pt x="11913" y="570"/>
                  </a:lnTo>
                  <a:lnTo>
                    <a:pt x="11984" y="513"/>
                  </a:lnTo>
                  <a:lnTo>
                    <a:pt x="12054" y="448"/>
                  </a:lnTo>
                  <a:lnTo>
                    <a:pt x="12121" y="391"/>
                  </a:lnTo>
                  <a:lnTo>
                    <a:pt x="12187" y="342"/>
                  </a:lnTo>
                  <a:lnTo>
                    <a:pt x="12257" y="293"/>
                  </a:lnTo>
                  <a:lnTo>
                    <a:pt x="12328" y="252"/>
                  </a:lnTo>
                  <a:lnTo>
                    <a:pt x="12398" y="220"/>
                  </a:lnTo>
                  <a:lnTo>
                    <a:pt x="12469" y="179"/>
                  </a:lnTo>
                  <a:lnTo>
                    <a:pt x="12535" y="146"/>
                  </a:lnTo>
                  <a:lnTo>
                    <a:pt x="12602" y="122"/>
                  </a:lnTo>
                  <a:lnTo>
                    <a:pt x="12672" y="98"/>
                  </a:lnTo>
                  <a:lnTo>
                    <a:pt x="12743" y="81"/>
                  </a:lnTo>
                  <a:lnTo>
                    <a:pt x="12813" y="65"/>
                  </a:lnTo>
                  <a:lnTo>
                    <a:pt x="12879" y="41"/>
                  </a:lnTo>
                  <a:lnTo>
                    <a:pt x="12946" y="24"/>
                  </a:lnTo>
                  <a:lnTo>
                    <a:pt x="13013" y="16"/>
                  </a:lnTo>
                  <a:lnTo>
                    <a:pt x="13079" y="8"/>
                  </a:lnTo>
                  <a:lnTo>
                    <a:pt x="13146" y="0"/>
                  </a:lnTo>
                  <a:lnTo>
                    <a:pt x="13212" y="0"/>
                  </a:lnTo>
                  <a:lnTo>
                    <a:pt x="13279" y="0"/>
                  </a:lnTo>
                  <a:lnTo>
                    <a:pt x="13345" y="0"/>
                  </a:lnTo>
                  <a:lnTo>
                    <a:pt x="13412" y="8"/>
                  </a:lnTo>
                  <a:lnTo>
                    <a:pt x="13482" y="16"/>
                  </a:lnTo>
                  <a:lnTo>
                    <a:pt x="13552" y="24"/>
                  </a:lnTo>
                  <a:lnTo>
                    <a:pt x="13623" y="41"/>
                  </a:lnTo>
                  <a:lnTo>
                    <a:pt x="13689" y="49"/>
                  </a:lnTo>
                  <a:lnTo>
                    <a:pt x="13756" y="65"/>
                  </a:lnTo>
                  <a:lnTo>
                    <a:pt x="13822" y="81"/>
                  </a:lnTo>
                  <a:lnTo>
                    <a:pt x="13889" y="106"/>
                  </a:lnTo>
                  <a:lnTo>
                    <a:pt x="13959" y="130"/>
                  </a:lnTo>
                  <a:lnTo>
                    <a:pt x="14030" y="163"/>
                  </a:lnTo>
                  <a:lnTo>
                    <a:pt x="14096" y="187"/>
                  </a:lnTo>
                  <a:lnTo>
                    <a:pt x="14163" y="220"/>
                  </a:lnTo>
                  <a:lnTo>
                    <a:pt x="14233" y="252"/>
                  </a:lnTo>
                  <a:lnTo>
                    <a:pt x="14304" y="285"/>
                  </a:lnTo>
                  <a:lnTo>
                    <a:pt x="14374" y="317"/>
                  </a:lnTo>
                  <a:lnTo>
                    <a:pt x="14444" y="358"/>
                  </a:lnTo>
                  <a:lnTo>
                    <a:pt x="14511" y="391"/>
                  </a:lnTo>
                  <a:lnTo>
                    <a:pt x="14581" y="431"/>
                  </a:lnTo>
                  <a:lnTo>
                    <a:pt x="14652" y="472"/>
                  </a:lnTo>
                  <a:lnTo>
                    <a:pt x="14722" y="521"/>
                  </a:lnTo>
                  <a:lnTo>
                    <a:pt x="14793" y="578"/>
                  </a:lnTo>
                  <a:lnTo>
                    <a:pt x="14863" y="643"/>
                  </a:lnTo>
                  <a:lnTo>
                    <a:pt x="14933" y="708"/>
                  </a:lnTo>
                  <a:lnTo>
                    <a:pt x="15004" y="773"/>
                  </a:lnTo>
                  <a:lnTo>
                    <a:pt x="15074" y="846"/>
                  </a:lnTo>
                  <a:lnTo>
                    <a:pt x="15149" y="928"/>
                  </a:lnTo>
                  <a:lnTo>
                    <a:pt x="15223" y="1009"/>
                  </a:lnTo>
                  <a:lnTo>
                    <a:pt x="15297" y="1098"/>
                  </a:lnTo>
                  <a:lnTo>
                    <a:pt x="15368" y="1180"/>
                  </a:lnTo>
                  <a:lnTo>
                    <a:pt x="15442" y="1269"/>
                  </a:lnTo>
                  <a:lnTo>
                    <a:pt x="15513" y="1359"/>
                  </a:lnTo>
                  <a:lnTo>
                    <a:pt x="15587" y="1456"/>
                  </a:lnTo>
                  <a:lnTo>
                    <a:pt x="15661" y="1554"/>
                  </a:lnTo>
                  <a:lnTo>
                    <a:pt x="15736" y="1652"/>
                  </a:lnTo>
                  <a:lnTo>
                    <a:pt x="15810" y="1749"/>
                  </a:lnTo>
                  <a:lnTo>
                    <a:pt x="15884" y="1855"/>
                  </a:lnTo>
                  <a:lnTo>
                    <a:pt x="15955" y="1961"/>
                  </a:lnTo>
                  <a:lnTo>
                    <a:pt x="16029" y="2075"/>
                  </a:lnTo>
                  <a:lnTo>
                    <a:pt x="16103" y="2189"/>
                  </a:lnTo>
                  <a:lnTo>
                    <a:pt x="16178" y="2303"/>
                  </a:lnTo>
                  <a:lnTo>
                    <a:pt x="16248" y="2408"/>
                  </a:lnTo>
                  <a:lnTo>
                    <a:pt x="16318" y="2522"/>
                  </a:lnTo>
                  <a:lnTo>
                    <a:pt x="16389" y="2636"/>
                  </a:lnTo>
                  <a:lnTo>
                    <a:pt x="16463" y="2750"/>
                  </a:lnTo>
                  <a:lnTo>
                    <a:pt x="16534" y="2864"/>
                  </a:lnTo>
                  <a:lnTo>
                    <a:pt x="16604" y="2978"/>
                  </a:lnTo>
                  <a:lnTo>
                    <a:pt x="16674" y="3092"/>
                  </a:lnTo>
                  <a:lnTo>
                    <a:pt x="16741" y="3206"/>
                  </a:lnTo>
                  <a:lnTo>
                    <a:pt x="16808" y="3320"/>
                  </a:lnTo>
                  <a:lnTo>
                    <a:pt x="16878" y="3442"/>
                  </a:lnTo>
                  <a:lnTo>
                    <a:pt x="16948" y="3564"/>
                  </a:lnTo>
                  <a:lnTo>
                    <a:pt x="17019" y="3678"/>
                  </a:lnTo>
                  <a:lnTo>
                    <a:pt x="17085" y="3792"/>
                  </a:lnTo>
                  <a:lnTo>
                    <a:pt x="17148" y="3906"/>
                  </a:lnTo>
                  <a:lnTo>
                    <a:pt x="17210" y="4011"/>
                  </a:lnTo>
                  <a:lnTo>
                    <a:pt x="17277" y="4125"/>
                  </a:lnTo>
                  <a:lnTo>
                    <a:pt x="17344" y="4239"/>
                  </a:lnTo>
                  <a:lnTo>
                    <a:pt x="17406" y="4353"/>
                  </a:lnTo>
                  <a:lnTo>
                    <a:pt x="17469" y="4459"/>
                  </a:lnTo>
                  <a:lnTo>
                    <a:pt x="17531" y="4565"/>
                  </a:lnTo>
                  <a:lnTo>
                    <a:pt x="17594" y="4670"/>
                  </a:lnTo>
                  <a:lnTo>
                    <a:pt x="17656" y="4776"/>
                  </a:lnTo>
                  <a:lnTo>
                    <a:pt x="17719" y="4882"/>
                  </a:lnTo>
                  <a:lnTo>
                    <a:pt x="17778" y="4980"/>
                  </a:lnTo>
                  <a:lnTo>
                    <a:pt x="17833" y="5069"/>
                  </a:lnTo>
                  <a:lnTo>
                    <a:pt x="17887" y="5167"/>
                  </a:lnTo>
                  <a:lnTo>
                    <a:pt x="17942" y="5264"/>
                  </a:lnTo>
                  <a:lnTo>
                    <a:pt x="18001" y="5370"/>
                  </a:lnTo>
                  <a:lnTo>
                    <a:pt x="18059" y="5476"/>
                  </a:lnTo>
                  <a:lnTo>
                    <a:pt x="18118" y="5582"/>
                  </a:lnTo>
                  <a:lnTo>
                    <a:pt x="18177" y="5688"/>
                  </a:lnTo>
                  <a:lnTo>
                    <a:pt x="18232" y="5793"/>
                  </a:lnTo>
                  <a:lnTo>
                    <a:pt x="18286" y="5899"/>
                  </a:lnTo>
                  <a:lnTo>
                    <a:pt x="18345" y="6005"/>
                  </a:lnTo>
                  <a:lnTo>
                    <a:pt x="18404" y="6119"/>
                  </a:lnTo>
                  <a:lnTo>
                    <a:pt x="18459" y="6233"/>
                  </a:lnTo>
                  <a:lnTo>
                    <a:pt x="18513" y="6338"/>
                  </a:lnTo>
                  <a:lnTo>
                    <a:pt x="18568" y="6452"/>
                  </a:lnTo>
                  <a:lnTo>
                    <a:pt x="18619" y="6558"/>
                  </a:lnTo>
                  <a:lnTo>
                    <a:pt x="18674" y="6672"/>
                  </a:lnTo>
                  <a:lnTo>
                    <a:pt x="18728" y="6786"/>
                  </a:lnTo>
                  <a:lnTo>
                    <a:pt x="18783" y="6900"/>
                  </a:lnTo>
                  <a:lnTo>
                    <a:pt x="18834" y="7014"/>
                  </a:lnTo>
                  <a:lnTo>
                    <a:pt x="18885" y="7120"/>
                  </a:lnTo>
                  <a:lnTo>
                    <a:pt x="18936" y="7225"/>
                  </a:lnTo>
                  <a:lnTo>
                    <a:pt x="18991" y="7339"/>
                  </a:lnTo>
                  <a:lnTo>
                    <a:pt x="19041" y="7453"/>
                  </a:lnTo>
                  <a:lnTo>
                    <a:pt x="19092" y="7567"/>
                  </a:lnTo>
                  <a:lnTo>
                    <a:pt x="19139" y="7673"/>
                  </a:lnTo>
                  <a:lnTo>
                    <a:pt x="19186" y="7779"/>
                  </a:lnTo>
                  <a:lnTo>
                    <a:pt x="19233" y="7876"/>
                  </a:lnTo>
                  <a:lnTo>
                    <a:pt x="19280" y="7982"/>
                  </a:lnTo>
                  <a:lnTo>
                    <a:pt x="19327" y="8088"/>
                  </a:lnTo>
                  <a:lnTo>
                    <a:pt x="19370" y="8186"/>
                  </a:lnTo>
                  <a:lnTo>
                    <a:pt x="19413" y="8283"/>
                  </a:lnTo>
                  <a:lnTo>
                    <a:pt x="19456" y="8381"/>
                  </a:lnTo>
                  <a:lnTo>
                    <a:pt x="19495" y="8470"/>
                  </a:lnTo>
                  <a:lnTo>
                    <a:pt x="19538" y="8568"/>
                  </a:lnTo>
                  <a:lnTo>
                    <a:pt x="19581" y="8666"/>
                  </a:lnTo>
                  <a:lnTo>
                    <a:pt x="19621" y="8755"/>
                  </a:lnTo>
                  <a:lnTo>
                    <a:pt x="19660" y="8845"/>
                  </a:lnTo>
                  <a:lnTo>
                    <a:pt x="19695" y="8926"/>
                  </a:lnTo>
                  <a:lnTo>
                    <a:pt x="19730" y="9007"/>
                  </a:lnTo>
                  <a:lnTo>
                    <a:pt x="19765" y="9089"/>
                  </a:lnTo>
                  <a:lnTo>
                    <a:pt x="19800" y="9162"/>
                  </a:lnTo>
                  <a:lnTo>
                    <a:pt x="19832" y="9235"/>
                  </a:lnTo>
                  <a:lnTo>
                    <a:pt x="19863" y="9308"/>
                  </a:lnTo>
                  <a:lnTo>
                    <a:pt x="19890" y="9373"/>
                  </a:lnTo>
                  <a:lnTo>
                    <a:pt x="19918" y="9430"/>
                  </a:lnTo>
                  <a:lnTo>
                    <a:pt x="19949" y="9496"/>
                  </a:lnTo>
                  <a:lnTo>
                    <a:pt x="19977" y="9552"/>
                  </a:lnTo>
                  <a:lnTo>
                    <a:pt x="20000" y="9601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53" name="Freeform 7"/>
            <p:cNvSpPr>
              <a:spLocks/>
            </p:cNvSpPr>
            <p:nvPr/>
          </p:nvSpPr>
          <p:spPr bwMode="auto">
            <a:xfrm>
              <a:off x="1440" y="2592"/>
              <a:ext cx="929" cy="2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20000"/>
                  </a:lnTo>
                  <a:lnTo>
                    <a:pt x="20000" y="20000"/>
                  </a:lnTo>
                  <a:lnTo>
                    <a:pt x="20000" y="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54" name="Rectangle 8"/>
            <p:cNvSpPr>
              <a:spLocks noChangeArrowheads="1"/>
            </p:cNvSpPr>
            <p:nvPr/>
          </p:nvSpPr>
          <p:spPr bwMode="auto">
            <a:xfrm>
              <a:off x="1440" y="2640"/>
              <a:ext cx="96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AR" sz="1600"/>
                <a:t>Introducción</a:t>
              </a:r>
            </a:p>
          </p:txBody>
        </p:sp>
        <p:sp>
          <p:nvSpPr>
            <p:cNvPr id="6155" name="Freeform 9"/>
            <p:cNvSpPr>
              <a:spLocks/>
            </p:cNvSpPr>
            <p:nvPr/>
          </p:nvSpPr>
          <p:spPr bwMode="auto">
            <a:xfrm>
              <a:off x="1728" y="2256"/>
              <a:ext cx="929" cy="2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20000"/>
                  </a:lnTo>
                  <a:lnTo>
                    <a:pt x="20000" y="20000"/>
                  </a:lnTo>
                  <a:lnTo>
                    <a:pt x="20000" y="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56" name="Rectangle 10"/>
            <p:cNvSpPr>
              <a:spLocks noChangeArrowheads="1"/>
            </p:cNvSpPr>
            <p:nvPr/>
          </p:nvSpPr>
          <p:spPr bwMode="auto">
            <a:xfrm>
              <a:off x="1728" y="2256"/>
              <a:ext cx="92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AR" sz="1600"/>
                <a:t>Crecimiento</a:t>
              </a:r>
              <a:endParaRPr lang="es-ES" altLang="es-AR" sz="1000">
                <a:latin typeface="Times New Roman" panose="02020603050405020304" pitchFamily="18" charset="0"/>
              </a:endParaRPr>
            </a:p>
          </p:txBody>
        </p:sp>
        <p:sp>
          <p:nvSpPr>
            <p:cNvPr id="6157" name="Freeform 11"/>
            <p:cNvSpPr>
              <a:spLocks/>
            </p:cNvSpPr>
            <p:nvPr/>
          </p:nvSpPr>
          <p:spPr bwMode="auto">
            <a:xfrm>
              <a:off x="2784" y="1680"/>
              <a:ext cx="929" cy="2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20000"/>
                  </a:lnTo>
                  <a:lnTo>
                    <a:pt x="20000" y="20000"/>
                  </a:lnTo>
                  <a:lnTo>
                    <a:pt x="20000" y="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58" name="Rectangle 12"/>
            <p:cNvSpPr>
              <a:spLocks noChangeArrowheads="1"/>
            </p:cNvSpPr>
            <p:nvPr/>
          </p:nvSpPr>
          <p:spPr bwMode="auto">
            <a:xfrm>
              <a:off x="2736" y="1680"/>
              <a:ext cx="929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AR" sz="1600"/>
                <a:t>Madurez</a:t>
              </a:r>
              <a:endParaRPr lang="es-ES" altLang="es-AR" sz="1000">
                <a:latin typeface="Times New Roman" panose="02020603050405020304" pitchFamily="18" charset="0"/>
              </a:endParaRPr>
            </a:p>
          </p:txBody>
        </p:sp>
        <p:sp>
          <p:nvSpPr>
            <p:cNvPr id="6159" name="Freeform 13"/>
            <p:cNvSpPr>
              <a:spLocks/>
            </p:cNvSpPr>
            <p:nvPr/>
          </p:nvSpPr>
          <p:spPr bwMode="auto">
            <a:xfrm>
              <a:off x="4080" y="2016"/>
              <a:ext cx="930" cy="2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20000"/>
                  </a:lnTo>
                  <a:lnTo>
                    <a:pt x="20000" y="20000"/>
                  </a:lnTo>
                  <a:lnTo>
                    <a:pt x="20000" y="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60" name="Rectangle 14"/>
            <p:cNvSpPr>
              <a:spLocks noChangeArrowheads="1"/>
            </p:cNvSpPr>
            <p:nvPr/>
          </p:nvSpPr>
          <p:spPr bwMode="auto">
            <a:xfrm>
              <a:off x="4080" y="2016"/>
              <a:ext cx="930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AR" sz="1600"/>
                <a:t>obsolescencia</a:t>
              </a:r>
            </a:p>
          </p:txBody>
        </p:sp>
        <p:sp>
          <p:nvSpPr>
            <p:cNvPr id="6161" name="Freeform 15"/>
            <p:cNvSpPr>
              <a:spLocks/>
            </p:cNvSpPr>
            <p:nvPr/>
          </p:nvSpPr>
          <p:spPr bwMode="auto">
            <a:xfrm>
              <a:off x="4176" y="2496"/>
              <a:ext cx="929" cy="22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20000"/>
                  </a:lnTo>
                  <a:lnTo>
                    <a:pt x="20000" y="20000"/>
                  </a:lnTo>
                  <a:lnTo>
                    <a:pt x="20000" y="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62" name="Rectangle 16"/>
            <p:cNvSpPr>
              <a:spLocks noChangeArrowheads="1"/>
            </p:cNvSpPr>
            <p:nvPr/>
          </p:nvSpPr>
          <p:spPr bwMode="auto">
            <a:xfrm>
              <a:off x="4128" y="2496"/>
              <a:ext cx="92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AR" sz="1600" b="1">
                  <a:latin typeface="Verdana" panose="020B0604030504040204" pitchFamily="34" charset="0"/>
                </a:rPr>
                <a:t>VENTAS</a:t>
              </a:r>
              <a:endParaRPr lang="es-ES" altLang="es-AR" sz="1000" b="1">
                <a:latin typeface="Verdana" panose="020B0604030504040204" pitchFamily="34" charset="0"/>
              </a:endParaRPr>
            </a:p>
          </p:txBody>
        </p:sp>
        <p:sp>
          <p:nvSpPr>
            <p:cNvPr id="6163" name="Freeform 17"/>
            <p:cNvSpPr>
              <a:spLocks/>
            </p:cNvSpPr>
            <p:nvPr/>
          </p:nvSpPr>
          <p:spPr bwMode="auto">
            <a:xfrm>
              <a:off x="1440" y="2628"/>
              <a:ext cx="2479" cy="91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711"/>
                  </a:moveTo>
                  <a:lnTo>
                    <a:pt x="123" y="19734"/>
                  </a:lnTo>
                  <a:lnTo>
                    <a:pt x="246" y="19758"/>
                  </a:lnTo>
                  <a:lnTo>
                    <a:pt x="370" y="19769"/>
                  </a:lnTo>
                  <a:lnTo>
                    <a:pt x="493" y="19792"/>
                  </a:lnTo>
                  <a:lnTo>
                    <a:pt x="616" y="19815"/>
                  </a:lnTo>
                  <a:lnTo>
                    <a:pt x="739" y="19838"/>
                  </a:lnTo>
                  <a:lnTo>
                    <a:pt x="863" y="19861"/>
                  </a:lnTo>
                  <a:lnTo>
                    <a:pt x="986" y="19885"/>
                  </a:lnTo>
                  <a:lnTo>
                    <a:pt x="1109" y="19896"/>
                  </a:lnTo>
                  <a:lnTo>
                    <a:pt x="1232" y="19919"/>
                  </a:lnTo>
                  <a:lnTo>
                    <a:pt x="1356" y="19942"/>
                  </a:lnTo>
                  <a:lnTo>
                    <a:pt x="1483" y="19965"/>
                  </a:lnTo>
                  <a:lnTo>
                    <a:pt x="1607" y="19977"/>
                  </a:lnTo>
                  <a:lnTo>
                    <a:pt x="1730" y="19977"/>
                  </a:lnTo>
                  <a:lnTo>
                    <a:pt x="1853" y="19977"/>
                  </a:lnTo>
                  <a:lnTo>
                    <a:pt x="1976" y="19988"/>
                  </a:lnTo>
                  <a:lnTo>
                    <a:pt x="2104" y="20000"/>
                  </a:lnTo>
                  <a:lnTo>
                    <a:pt x="2232" y="20000"/>
                  </a:lnTo>
                  <a:lnTo>
                    <a:pt x="2359" y="20000"/>
                  </a:lnTo>
                  <a:lnTo>
                    <a:pt x="2487" y="19988"/>
                  </a:lnTo>
                  <a:lnTo>
                    <a:pt x="2614" y="19977"/>
                  </a:lnTo>
                  <a:lnTo>
                    <a:pt x="2742" y="19977"/>
                  </a:lnTo>
                  <a:lnTo>
                    <a:pt x="2870" y="19965"/>
                  </a:lnTo>
                  <a:lnTo>
                    <a:pt x="3002" y="19954"/>
                  </a:lnTo>
                  <a:lnTo>
                    <a:pt x="3129" y="19931"/>
                  </a:lnTo>
                  <a:lnTo>
                    <a:pt x="3257" y="19896"/>
                  </a:lnTo>
                  <a:lnTo>
                    <a:pt x="3385" y="19861"/>
                  </a:lnTo>
                  <a:lnTo>
                    <a:pt x="3512" y="19838"/>
                  </a:lnTo>
                  <a:lnTo>
                    <a:pt x="3644" y="19804"/>
                  </a:lnTo>
                  <a:lnTo>
                    <a:pt x="3776" y="19758"/>
                  </a:lnTo>
                  <a:lnTo>
                    <a:pt x="3908" y="19711"/>
                  </a:lnTo>
                  <a:lnTo>
                    <a:pt x="4040" y="19665"/>
                  </a:lnTo>
                  <a:lnTo>
                    <a:pt x="4173" y="19607"/>
                  </a:lnTo>
                  <a:lnTo>
                    <a:pt x="4305" y="19550"/>
                  </a:lnTo>
                  <a:lnTo>
                    <a:pt x="4441" y="19480"/>
                  </a:lnTo>
                  <a:lnTo>
                    <a:pt x="4577" y="19411"/>
                  </a:lnTo>
                  <a:lnTo>
                    <a:pt x="4710" y="19330"/>
                  </a:lnTo>
                  <a:lnTo>
                    <a:pt x="4846" y="19249"/>
                  </a:lnTo>
                  <a:lnTo>
                    <a:pt x="4982" y="19157"/>
                  </a:lnTo>
                  <a:lnTo>
                    <a:pt x="5119" y="19065"/>
                  </a:lnTo>
                  <a:lnTo>
                    <a:pt x="5255" y="18961"/>
                  </a:lnTo>
                  <a:lnTo>
                    <a:pt x="5396" y="18845"/>
                  </a:lnTo>
                  <a:lnTo>
                    <a:pt x="5537" y="18730"/>
                  </a:lnTo>
                  <a:lnTo>
                    <a:pt x="5678" y="18614"/>
                  </a:lnTo>
                  <a:lnTo>
                    <a:pt x="5819" y="18487"/>
                  </a:lnTo>
                  <a:lnTo>
                    <a:pt x="5960" y="18360"/>
                  </a:lnTo>
                  <a:lnTo>
                    <a:pt x="6105" y="18222"/>
                  </a:lnTo>
                  <a:lnTo>
                    <a:pt x="6250" y="18072"/>
                  </a:lnTo>
                  <a:lnTo>
                    <a:pt x="6391" y="17910"/>
                  </a:lnTo>
                  <a:lnTo>
                    <a:pt x="6536" y="17737"/>
                  </a:lnTo>
                  <a:lnTo>
                    <a:pt x="6686" y="17540"/>
                  </a:lnTo>
                  <a:lnTo>
                    <a:pt x="6840" y="17344"/>
                  </a:lnTo>
                  <a:lnTo>
                    <a:pt x="6994" y="17136"/>
                  </a:lnTo>
                  <a:lnTo>
                    <a:pt x="7152" y="16905"/>
                  </a:lnTo>
                  <a:lnTo>
                    <a:pt x="7311" y="16674"/>
                  </a:lnTo>
                  <a:lnTo>
                    <a:pt x="7469" y="16432"/>
                  </a:lnTo>
                  <a:lnTo>
                    <a:pt x="7632" y="16178"/>
                  </a:lnTo>
                  <a:lnTo>
                    <a:pt x="7799" y="15935"/>
                  </a:lnTo>
                  <a:lnTo>
                    <a:pt x="7967" y="15670"/>
                  </a:lnTo>
                  <a:lnTo>
                    <a:pt x="8134" y="15393"/>
                  </a:lnTo>
                  <a:lnTo>
                    <a:pt x="8301" y="15115"/>
                  </a:lnTo>
                  <a:lnTo>
                    <a:pt x="8468" y="14827"/>
                  </a:lnTo>
                  <a:lnTo>
                    <a:pt x="8640" y="14527"/>
                  </a:lnTo>
                  <a:lnTo>
                    <a:pt x="8812" y="14226"/>
                  </a:lnTo>
                  <a:lnTo>
                    <a:pt x="8983" y="13926"/>
                  </a:lnTo>
                  <a:lnTo>
                    <a:pt x="9155" y="13614"/>
                  </a:lnTo>
                  <a:lnTo>
                    <a:pt x="9327" y="13303"/>
                  </a:lnTo>
                  <a:lnTo>
                    <a:pt x="9498" y="12979"/>
                  </a:lnTo>
                  <a:lnTo>
                    <a:pt x="9670" y="12656"/>
                  </a:lnTo>
                  <a:lnTo>
                    <a:pt x="9846" y="12344"/>
                  </a:lnTo>
                  <a:lnTo>
                    <a:pt x="10022" y="12032"/>
                  </a:lnTo>
                  <a:lnTo>
                    <a:pt x="10194" y="11709"/>
                  </a:lnTo>
                  <a:lnTo>
                    <a:pt x="10361" y="11374"/>
                  </a:lnTo>
                  <a:lnTo>
                    <a:pt x="10528" y="11039"/>
                  </a:lnTo>
                  <a:lnTo>
                    <a:pt x="10695" y="10716"/>
                  </a:lnTo>
                  <a:lnTo>
                    <a:pt x="10867" y="10393"/>
                  </a:lnTo>
                  <a:lnTo>
                    <a:pt x="11034" y="10069"/>
                  </a:lnTo>
                  <a:lnTo>
                    <a:pt x="11197" y="9758"/>
                  </a:lnTo>
                  <a:lnTo>
                    <a:pt x="11360" y="9434"/>
                  </a:lnTo>
                  <a:lnTo>
                    <a:pt x="11523" y="9122"/>
                  </a:lnTo>
                  <a:lnTo>
                    <a:pt x="11681" y="8811"/>
                  </a:lnTo>
                  <a:lnTo>
                    <a:pt x="11840" y="8499"/>
                  </a:lnTo>
                  <a:lnTo>
                    <a:pt x="11998" y="8199"/>
                  </a:lnTo>
                  <a:lnTo>
                    <a:pt x="12152" y="7910"/>
                  </a:lnTo>
                  <a:lnTo>
                    <a:pt x="12302" y="7610"/>
                  </a:lnTo>
                  <a:lnTo>
                    <a:pt x="12447" y="7321"/>
                  </a:lnTo>
                  <a:lnTo>
                    <a:pt x="12588" y="7044"/>
                  </a:lnTo>
                  <a:lnTo>
                    <a:pt x="12733" y="6778"/>
                  </a:lnTo>
                  <a:lnTo>
                    <a:pt x="12874" y="6513"/>
                  </a:lnTo>
                  <a:lnTo>
                    <a:pt x="13011" y="6270"/>
                  </a:lnTo>
                  <a:lnTo>
                    <a:pt x="13143" y="6016"/>
                  </a:lnTo>
                  <a:lnTo>
                    <a:pt x="13270" y="5774"/>
                  </a:lnTo>
                  <a:lnTo>
                    <a:pt x="13393" y="5554"/>
                  </a:lnTo>
                  <a:lnTo>
                    <a:pt x="13517" y="5335"/>
                  </a:lnTo>
                  <a:lnTo>
                    <a:pt x="13636" y="5139"/>
                  </a:lnTo>
                  <a:lnTo>
                    <a:pt x="13750" y="4954"/>
                  </a:lnTo>
                  <a:lnTo>
                    <a:pt x="13860" y="4758"/>
                  </a:lnTo>
                  <a:lnTo>
                    <a:pt x="13961" y="4573"/>
                  </a:lnTo>
                  <a:lnTo>
                    <a:pt x="14058" y="4388"/>
                  </a:lnTo>
                  <a:lnTo>
                    <a:pt x="14159" y="4215"/>
                  </a:lnTo>
                  <a:lnTo>
                    <a:pt x="14256" y="4042"/>
                  </a:lnTo>
                  <a:lnTo>
                    <a:pt x="14344" y="3880"/>
                  </a:lnTo>
                  <a:lnTo>
                    <a:pt x="14432" y="3707"/>
                  </a:lnTo>
                  <a:lnTo>
                    <a:pt x="14516" y="3545"/>
                  </a:lnTo>
                  <a:lnTo>
                    <a:pt x="14595" y="3383"/>
                  </a:lnTo>
                  <a:lnTo>
                    <a:pt x="14679" y="3233"/>
                  </a:lnTo>
                  <a:lnTo>
                    <a:pt x="14758" y="3083"/>
                  </a:lnTo>
                  <a:lnTo>
                    <a:pt x="14833" y="2945"/>
                  </a:lnTo>
                  <a:lnTo>
                    <a:pt x="14903" y="2794"/>
                  </a:lnTo>
                  <a:lnTo>
                    <a:pt x="14974" y="2656"/>
                  </a:lnTo>
                  <a:lnTo>
                    <a:pt x="15040" y="2517"/>
                  </a:lnTo>
                  <a:lnTo>
                    <a:pt x="15106" y="2379"/>
                  </a:lnTo>
                  <a:lnTo>
                    <a:pt x="15172" y="2252"/>
                  </a:lnTo>
                  <a:lnTo>
                    <a:pt x="15233" y="2125"/>
                  </a:lnTo>
                  <a:lnTo>
                    <a:pt x="15295" y="1998"/>
                  </a:lnTo>
                  <a:lnTo>
                    <a:pt x="15352" y="1882"/>
                  </a:lnTo>
                  <a:lnTo>
                    <a:pt x="15409" y="1767"/>
                  </a:lnTo>
                  <a:lnTo>
                    <a:pt x="15467" y="1663"/>
                  </a:lnTo>
                  <a:lnTo>
                    <a:pt x="15524" y="1559"/>
                  </a:lnTo>
                  <a:lnTo>
                    <a:pt x="15581" y="1467"/>
                  </a:lnTo>
                  <a:lnTo>
                    <a:pt x="15634" y="1363"/>
                  </a:lnTo>
                  <a:lnTo>
                    <a:pt x="15682" y="1259"/>
                  </a:lnTo>
                  <a:lnTo>
                    <a:pt x="15731" y="1166"/>
                  </a:lnTo>
                  <a:lnTo>
                    <a:pt x="15783" y="1074"/>
                  </a:lnTo>
                  <a:lnTo>
                    <a:pt x="15836" y="982"/>
                  </a:lnTo>
                  <a:lnTo>
                    <a:pt x="15885" y="901"/>
                  </a:lnTo>
                  <a:lnTo>
                    <a:pt x="15933" y="820"/>
                  </a:lnTo>
                  <a:lnTo>
                    <a:pt x="15982" y="739"/>
                  </a:lnTo>
                  <a:lnTo>
                    <a:pt x="16030" y="670"/>
                  </a:lnTo>
                  <a:lnTo>
                    <a:pt x="16083" y="600"/>
                  </a:lnTo>
                  <a:lnTo>
                    <a:pt x="16136" y="543"/>
                  </a:lnTo>
                  <a:lnTo>
                    <a:pt x="16188" y="485"/>
                  </a:lnTo>
                  <a:lnTo>
                    <a:pt x="16237" y="427"/>
                  </a:lnTo>
                  <a:lnTo>
                    <a:pt x="16290" y="370"/>
                  </a:lnTo>
                  <a:lnTo>
                    <a:pt x="16342" y="312"/>
                  </a:lnTo>
                  <a:lnTo>
                    <a:pt x="16395" y="266"/>
                  </a:lnTo>
                  <a:lnTo>
                    <a:pt x="16448" y="219"/>
                  </a:lnTo>
                  <a:lnTo>
                    <a:pt x="16505" y="185"/>
                  </a:lnTo>
                  <a:lnTo>
                    <a:pt x="16563" y="150"/>
                  </a:lnTo>
                  <a:lnTo>
                    <a:pt x="16620" y="115"/>
                  </a:lnTo>
                  <a:lnTo>
                    <a:pt x="16681" y="92"/>
                  </a:lnTo>
                  <a:lnTo>
                    <a:pt x="16743" y="69"/>
                  </a:lnTo>
                  <a:lnTo>
                    <a:pt x="16809" y="46"/>
                  </a:lnTo>
                  <a:lnTo>
                    <a:pt x="16875" y="35"/>
                  </a:lnTo>
                  <a:lnTo>
                    <a:pt x="16937" y="12"/>
                  </a:lnTo>
                  <a:lnTo>
                    <a:pt x="17003" y="0"/>
                  </a:lnTo>
                  <a:lnTo>
                    <a:pt x="17069" y="0"/>
                  </a:lnTo>
                  <a:lnTo>
                    <a:pt x="17139" y="12"/>
                  </a:lnTo>
                  <a:lnTo>
                    <a:pt x="17210" y="35"/>
                  </a:lnTo>
                  <a:lnTo>
                    <a:pt x="17280" y="58"/>
                  </a:lnTo>
                  <a:lnTo>
                    <a:pt x="17350" y="81"/>
                  </a:lnTo>
                  <a:lnTo>
                    <a:pt x="17425" y="115"/>
                  </a:lnTo>
                  <a:lnTo>
                    <a:pt x="17500" y="162"/>
                  </a:lnTo>
                  <a:lnTo>
                    <a:pt x="17575" y="219"/>
                  </a:lnTo>
                  <a:lnTo>
                    <a:pt x="17650" y="277"/>
                  </a:lnTo>
                  <a:lnTo>
                    <a:pt x="17724" y="346"/>
                  </a:lnTo>
                  <a:lnTo>
                    <a:pt x="17799" y="404"/>
                  </a:lnTo>
                  <a:lnTo>
                    <a:pt x="17874" y="473"/>
                  </a:lnTo>
                  <a:lnTo>
                    <a:pt x="17949" y="543"/>
                  </a:lnTo>
                  <a:lnTo>
                    <a:pt x="18024" y="624"/>
                  </a:lnTo>
                  <a:lnTo>
                    <a:pt x="18103" y="704"/>
                  </a:lnTo>
                  <a:lnTo>
                    <a:pt x="18178" y="797"/>
                  </a:lnTo>
                  <a:lnTo>
                    <a:pt x="18253" y="878"/>
                  </a:lnTo>
                  <a:lnTo>
                    <a:pt x="18327" y="970"/>
                  </a:lnTo>
                  <a:lnTo>
                    <a:pt x="18402" y="1062"/>
                  </a:lnTo>
                  <a:lnTo>
                    <a:pt x="18482" y="1155"/>
                  </a:lnTo>
                  <a:lnTo>
                    <a:pt x="18556" y="1259"/>
                  </a:lnTo>
                  <a:lnTo>
                    <a:pt x="18631" y="1363"/>
                  </a:lnTo>
                  <a:lnTo>
                    <a:pt x="18702" y="1455"/>
                  </a:lnTo>
                  <a:lnTo>
                    <a:pt x="18772" y="1547"/>
                  </a:lnTo>
                  <a:lnTo>
                    <a:pt x="18842" y="1640"/>
                  </a:lnTo>
                  <a:lnTo>
                    <a:pt x="18913" y="1744"/>
                  </a:lnTo>
                  <a:lnTo>
                    <a:pt x="18983" y="1848"/>
                  </a:lnTo>
                  <a:lnTo>
                    <a:pt x="19049" y="1952"/>
                  </a:lnTo>
                  <a:lnTo>
                    <a:pt x="19115" y="2044"/>
                  </a:lnTo>
                  <a:lnTo>
                    <a:pt x="19181" y="2136"/>
                  </a:lnTo>
                  <a:lnTo>
                    <a:pt x="19243" y="2229"/>
                  </a:lnTo>
                  <a:lnTo>
                    <a:pt x="19309" y="2333"/>
                  </a:lnTo>
                  <a:lnTo>
                    <a:pt x="19371" y="2425"/>
                  </a:lnTo>
                  <a:lnTo>
                    <a:pt x="19432" y="2517"/>
                  </a:lnTo>
                  <a:lnTo>
                    <a:pt x="19489" y="2598"/>
                  </a:lnTo>
                  <a:lnTo>
                    <a:pt x="19547" y="2679"/>
                  </a:lnTo>
                  <a:lnTo>
                    <a:pt x="19599" y="2760"/>
                  </a:lnTo>
                  <a:lnTo>
                    <a:pt x="19652" y="2841"/>
                  </a:lnTo>
                  <a:lnTo>
                    <a:pt x="19705" y="2921"/>
                  </a:lnTo>
                  <a:lnTo>
                    <a:pt x="19754" y="2991"/>
                  </a:lnTo>
                  <a:lnTo>
                    <a:pt x="19802" y="3060"/>
                  </a:lnTo>
                  <a:lnTo>
                    <a:pt x="19846" y="3118"/>
                  </a:lnTo>
                  <a:lnTo>
                    <a:pt x="19886" y="3176"/>
                  </a:lnTo>
                  <a:lnTo>
                    <a:pt x="19925" y="3233"/>
                  </a:lnTo>
                  <a:lnTo>
                    <a:pt x="19965" y="3279"/>
                  </a:lnTo>
                  <a:lnTo>
                    <a:pt x="20000" y="3314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64" name="Freeform 18"/>
            <p:cNvSpPr>
              <a:spLocks/>
            </p:cNvSpPr>
            <p:nvPr/>
          </p:nvSpPr>
          <p:spPr bwMode="auto">
            <a:xfrm>
              <a:off x="3888" y="2784"/>
              <a:ext cx="929" cy="2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20000"/>
                  </a:lnTo>
                  <a:lnTo>
                    <a:pt x="20000" y="20000"/>
                  </a:lnTo>
                  <a:lnTo>
                    <a:pt x="20000" y="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65" name="Rectangle 19"/>
            <p:cNvSpPr>
              <a:spLocks noChangeArrowheads="1"/>
            </p:cNvSpPr>
            <p:nvPr/>
          </p:nvSpPr>
          <p:spPr bwMode="auto">
            <a:xfrm>
              <a:off x="3792" y="2784"/>
              <a:ext cx="1191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AR" sz="1600" b="1">
                  <a:latin typeface="Verdana" panose="020B0604030504040204" pitchFamily="34" charset="0"/>
                </a:rPr>
                <a:t>GANANCIAS</a:t>
              </a:r>
            </a:p>
          </p:txBody>
        </p:sp>
        <p:sp>
          <p:nvSpPr>
            <p:cNvPr id="6166" name="Line 20"/>
            <p:cNvSpPr>
              <a:spLocks noChangeShapeType="1"/>
            </p:cNvSpPr>
            <p:nvPr/>
          </p:nvSpPr>
          <p:spPr bwMode="auto">
            <a:xfrm>
              <a:off x="4228" y="3230"/>
              <a:ext cx="23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67" name="Freeform 21"/>
            <p:cNvSpPr>
              <a:spLocks/>
            </p:cNvSpPr>
            <p:nvPr/>
          </p:nvSpPr>
          <p:spPr bwMode="auto">
            <a:xfrm>
              <a:off x="2679" y="3305"/>
              <a:ext cx="930" cy="22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20000"/>
                  </a:lnTo>
                  <a:lnTo>
                    <a:pt x="20000" y="20000"/>
                  </a:lnTo>
                  <a:lnTo>
                    <a:pt x="20000" y="0"/>
                  </a:lnTo>
                  <a:lnTo>
                    <a:pt x="0" y="0"/>
                  </a:lnTo>
                </a:path>
              </a:pathLst>
            </a:custGeom>
            <a:noFill/>
            <a:ln w="9525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s-AR"/>
            </a:p>
          </p:txBody>
        </p:sp>
        <p:sp>
          <p:nvSpPr>
            <p:cNvPr id="6168" name="Rectangle 22"/>
            <p:cNvSpPr>
              <a:spLocks noChangeArrowheads="1"/>
            </p:cNvSpPr>
            <p:nvPr/>
          </p:nvSpPr>
          <p:spPr bwMode="auto">
            <a:xfrm>
              <a:off x="2679" y="3305"/>
              <a:ext cx="930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s-ES" altLang="es-AR" sz="1600" b="1">
                  <a:latin typeface="Verdana" panose="020B0604030504040204" pitchFamily="34" charset="0"/>
                </a:rPr>
                <a:t>TIEMPO</a:t>
              </a:r>
            </a:p>
          </p:txBody>
        </p:sp>
      </p:grpSp>
      <p:sp>
        <p:nvSpPr>
          <p:cNvPr id="6149" name="Rectangle 23"/>
          <p:cNvSpPr>
            <a:spLocks noChangeArrowheads="1"/>
          </p:cNvSpPr>
          <p:nvPr/>
        </p:nvSpPr>
        <p:spPr bwMode="auto">
          <a:xfrm>
            <a:off x="7732713" y="3267075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s-AR" altLang="es-AR" sz="1600"/>
          </a:p>
        </p:txBody>
      </p:sp>
      <p:sp>
        <p:nvSpPr>
          <p:cNvPr id="6150" name="Rectangle 24"/>
          <p:cNvSpPr>
            <a:spLocks noChangeArrowheads="1"/>
          </p:cNvSpPr>
          <p:nvPr/>
        </p:nvSpPr>
        <p:spPr bwMode="auto">
          <a:xfrm>
            <a:off x="1490663" y="5229225"/>
            <a:ext cx="608647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AR" sz="2400">
                <a:solidFill>
                  <a:srgbClr val="330066"/>
                </a:solidFill>
                <a:latin typeface="Verdana" panose="020B0604030504040204" pitchFamily="34" charset="0"/>
              </a:rPr>
              <a:t>Ciclo de vida tradicional del producto.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AR" sz="2400">
                <a:solidFill>
                  <a:srgbClr val="330066"/>
                </a:solidFill>
                <a:latin typeface="Verdana" panose="020B0604030504040204" pitchFamily="34" charset="0"/>
              </a:rPr>
              <a:t>Tiempo vs. Ganancias/Ventas</a:t>
            </a:r>
          </a:p>
        </p:txBody>
      </p:sp>
    </p:spTree>
    <p:extLst>
      <p:ext uri="{BB962C8B-B14F-4D97-AF65-F5344CB8AC3E}">
        <p14:creationId xmlns:p14="http://schemas.microsoft.com/office/powerpoint/2010/main" val="1593860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468313" y="2276475"/>
            <a:ext cx="77724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s-ES_tradnl" altLang="es-AR">
                <a:solidFill>
                  <a:schemeClr val="tx2"/>
                </a:solidFill>
              </a:rPr>
              <a:t>1-No pueden planificar muchos años de una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s-ES_tradnl" altLang="es-AR">
                <a:solidFill>
                  <a:schemeClr val="tx2"/>
                </a:solidFill>
              </a:rPr>
              <a:t>demanda alta y estable para un nuevo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s-ES_tradnl" altLang="es-AR">
                <a:solidFill>
                  <a:schemeClr val="tx2"/>
                </a:solidFill>
              </a:rPr>
              <a:t>producto.</a:t>
            </a: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465138" y="3836988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s-ES_tradnl" altLang="es-AR">
                <a:solidFill>
                  <a:schemeClr val="tx2"/>
                </a:solidFill>
              </a:rPr>
              <a:t>2-Cambios y rediseño continuo del producto.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468313" y="4437063"/>
            <a:ext cx="77724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s-ES_tradnl" altLang="es-AR">
                <a:solidFill>
                  <a:schemeClr val="tx2"/>
                </a:solidFill>
              </a:rPr>
              <a:t>3-Esta característica es acelerada por el rápido cambio tecnológico. Nuevas tecnologías aparecen y los productos pasan a ser antiguos a una velocidad creciente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323850" y="47625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s-ES_tradnl" altLang="es-AR" sz="3600" u="sng">
                <a:solidFill>
                  <a:schemeClr val="tx2"/>
                </a:solidFill>
                <a:latin typeface="Verdana" panose="020B0604030504040204" pitchFamily="34" charset="0"/>
              </a:rPr>
              <a:t>Ciclo de vida del producto cada vez menor</a:t>
            </a:r>
            <a:endParaRPr lang="es-ES_tradnl" altLang="es-AR" sz="3600" u="sng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7597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 build="p" autoUpdateAnimBg="0" advAuto="0"/>
      <p:bldP spid="65539" grpId="0" autoUpdateAnimBg="0"/>
      <p:bldP spid="6554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auto">
          <a:xfrm>
            <a:off x="457200" y="457200"/>
            <a:ext cx="72104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" altLang="es-AR" sz="3200" b="1" u="sng">
                <a:solidFill>
                  <a:srgbClr val="330066"/>
                </a:solidFill>
                <a:latin typeface="Verdana" panose="020B0604030504040204" pitchFamily="34" charset="0"/>
              </a:rPr>
              <a:t>Ventaja Competitiva e Innovación</a:t>
            </a:r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auto">
          <a:xfrm>
            <a:off x="533400" y="1625600"/>
            <a:ext cx="86106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_tradnl" altLang="es-AR" sz="2400">
                <a:solidFill>
                  <a:srgbClr val="330066"/>
                </a:solidFill>
              </a:rPr>
              <a:t>La innovación tecnológica es clave para el éxito de las empresas industriales para obtener ventajas competitivas.</a:t>
            </a:r>
            <a:endParaRPr lang="es-ES" altLang="es-AR" sz="2400">
              <a:solidFill>
                <a:srgbClr val="330066"/>
              </a:solidFill>
            </a:endParaRP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533400" y="2743200"/>
            <a:ext cx="845820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_tradnl" altLang="es-AR" sz="2400" dirty="0">
                <a:solidFill>
                  <a:srgbClr val="330066"/>
                </a:solidFill>
              </a:rPr>
              <a:t>Mayor rapidez de obsolescencia de los procesos y los productos. Notebook, celulares, cámaras digitales…</a:t>
            </a:r>
          </a:p>
          <a:p>
            <a:pPr eaLnBrk="1" hangingPunct="1">
              <a:buClrTx/>
              <a:buSzTx/>
              <a:buFontTx/>
              <a:buNone/>
            </a:pPr>
            <a:endParaRPr lang="es-ES" altLang="es-AR" sz="2400" dirty="0">
              <a:solidFill>
                <a:srgbClr val="330066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endParaRPr lang="es-ES" altLang="es-AR" sz="2400" dirty="0">
              <a:solidFill>
                <a:srgbClr val="330066"/>
              </a:solidFill>
            </a:endParaRPr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auto">
          <a:xfrm>
            <a:off x="395288" y="4581525"/>
            <a:ext cx="837088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s-ES_tradnl" altLang="es-AR" sz="2400">
                <a:solidFill>
                  <a:srgbClr val="330066"/>
                </a:solidFill>
              </a:rPr>
              <a:t>Exigencias de los clientes generan la necesidad de diferenciación. Condiciones de escala son cada vez mas difíciles de alcanzar en el mercado de consumo.</a:t>
            </a:r>
            <a:endParaRPr lang="es-ES" altLang="es-AR" sz="2400">
              <a:solidFill>
                <a:srgbClr val="33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05348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6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8" grpId="0" autoUpdateAnimBg="0"/>
      <p:bldP spid="96259" grpId="0" autoUpdateAnimBg="0"/>
      <p:bldP spid="96260" grpId="0" autoUpdateAnimBg="0"/>
      <p:bldP spid="9626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smtClean="0"/>
              <a:t>Invento o Innovación</a:t>
            </a:r>
          </a:p>
        </p:txBody>
      </p:sp>
      <p:sp>
        <p:nvSpPr>
          <p:cNvPr id="9219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altLang="es-AR" smtClean="0"/>
              <a:t>Estamos seguros que sabemos la diferencia entre invento e innovación?</a:t>
            </a:r>
          </a:p>
          <a:p>
            <a:r>
              <a:rPr lang="es-AR" altLang="es-AR" smtClean="0"/>
              <a:t>La innovación es un proceso</a:t>
            </a:r>
          </a:p>
          <a:p>
            <a:r>
              <a:rPr lang="es-AR" altLang="es-AR" smtClean="0"/>
              <a:t>Caso de la industria eléctrica y la alianza entre Edison y JP Morgan .</a:t>
            </a:r>
          </a:p>
          <a:p>
            <a:pPr>
              <a:buFont typeface="Wingdings" panose="05000000000000000000" pitchFamily="2" charset="2"/>
              <a:buNone/>
            </a:pPr>
            <a:r>
              <a:rPr lang="es-AR" altLang="es-AR" sz="2000" smtClean="0"/>
              <a:t> (Los Nuevos Alquimistas, Dirk Hanson, Sudamericana-Planeta)</a:t>
            </a:r>
          </a:p>
        </p:txBody>
      </p:sp>
    </p:spTree>
    <p:extLst>
      <p:ext uri="{BB962C8B-B14F-4D97-AF65-F5344CB8AC3E}">
        <p14:creationId xmlns:p14="http://schemas.microsoft.com/office/powerpoint/2010/main" val="145228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altLang="es-AR" smtClean="0"/>
              <a:t>Innovación </a:t>
            </a:r>
          </a:p>
        </p:txBody>
      </p:sp>
      <p:sp>
        <p:nvSpPr>
          <p:cNvPr id="1024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altLang="es-AR" dirty="0" smtClean="0"/>
              <a:t>Poner ideas en valor</a:t>
            </a:r>
          </a:p>
          <a:p>
            <a:r>
              <a:rPr lang="es-AR" altLang="es-AR" dirty="0" smtClean="0"/>
              <a:t>La innovación nace a partir de oportunidades en el mercado</a:t>
            </a:r>
          </a:p>
          <a:p>
            <a:r>
              <a:rPr lang="es-AR" altLang="es-AR" dirty="0" smtClean="0"/>
              <a:t>Concepto de </a:t>
            </a:r>
            <a:r>
              <a:rPr lang="es-AR" altLang="es-AR" dirty="0" smtClean="0"/>
              <a:t>Ecosistema de </a:t>
            </a:r>
            <a:r>
              <a:rPr lang="es-AR" altLang="es-AR" dirty="0" smtClean="0"/>
              <a:t>Innovación</a:t>
            </a:r>
          </a:p>
          <a:p>
            <a:r>
              <a:rPr lang="es-AR" altLang="es-AR" dirty="0" smtClean="0"/>
              <a:t>Crear valor </a:t>
            </a:r>
          </a:p>
          <a:p>
            <a:r>
              <a:rPr lang="es-AR" altLang="es-AR" dirty="0" smtClean="0"/>
              <a:t>De 0 a 1 </a:t>
            </a:r>
            <a:endParaRPr lang="es-AR" altLang="es-AR" dirty="0" smtClean="0"/>
          </a:p>
          <a:p>
            <a:r>
              <a:rPr lang="es-AR" altLang="es-AR" dirty="0" smtClean="0"/>
              <a:t>Mercados Monopólicos (</a:t>
            </a:r>
            <a:r>
              <a:rPr lang="es-AR" altLang="es-AR" dirty="0" err="1" smtClean="0"/>
              <a:t>Thiel</a:t>
            </a:r>
            <a:r>
              <a:rPr lang="es-AR" altLang="es-AR" dirty="0" smtClean="0"/>
              <a:t> Vs. </a:t>
            </a:r>
            <a:r>
              <a:rPr lang="es-AR" altLang="es-AR" dirty="0" err="1" smtClean="0"/>
              <a:t>Schumpeter</a:t>
            </a:r>
            <a:r>
              <a:rPr lang="es-AR" altLang="es-AR" dirty="0" smtClean="0"/>
              <a:t>)</a:t>
            </a:r>
            <a:endParaRPr lang="es-AR" altLang="es-AR" dirty="0" smtClean="0"/>
          </a:p>
          <a:p>
            <a:pPr>
              <a:buFont typeface="Wingdings" panose="05000000000000000000" pitchFamily="2" charset="2"/>
              <a:buNone/>
            </a:pPr>
            <a:endParaRPr lang="es-AR" altLang="es-AR" dirty="0" smtClean="0"/>
          </a:p>
        </p:txBody>
      </p:sp>
    </p:spTree>
    <p:extLst>
      <p:ext uri="{BB962C8B-B14F-4D97-AF65-F5344CB8AC3E}">
        <p14:creationId xmlns:p14="http://schemas.microsoft.com/office/powerpoint/2010/main" val="83635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De que les voy a hablar Hoy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AR" dirty="0" smtClean="0"/>
              <a:t>Los desafíos para los jóvenes amantes de la tecnología que aparecen en la nueva economía.</a:t>
            </a:r>
          </a:p>
          <a:p>
            <a:r>
              <a:rPr lang="es-AR" dirty="0" smtClean="0"/>
              <a:t>Todo el trabajo que hay por hacer y la posibilidad de generar riqueza haciendo lo que nos gusta.</a:t>
            </a:r>
          </a:p>
          <a:p>
            <a:r>
              <a:rPr lang="es-AR" dirty="0" err="1" smtClean="0"/>
              <a:t>Emprendedorismo</a:t>
            </a:r>
            <a:r>
              <a:rPr lang="es-AR" dirty="0" smtClean="0"/>
              <a:t> </a:t>
            </a:r>
            <a:r>
              <a:rPr lang="es-AR" dirty="0" err="1" smtClean="0"/>
              <a:t>tecnologico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22578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971600" y="-59672"/>
            <a:ext cx="7620000" cy="1143000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AR" sz="3600" dirty="0" smtClean="0">
                <a:solidFill>
                  <a:schemeClr val="tx1"/>
                </a:solidFill>
                <a:latin typeface="+mn-lt"/>
              </a:rPr>
              <a:t>Dónde nacen las empresas?</a:t>
            </a:r>
            <a:endParaRPr lang="es-AR" sz="3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2 CuadroTexto"/>
          <p:cNvSpPr txBox="1"/>
          <p:nvPr/>
        </p:nvSpPr>
        <p:spPr>
          <a:xfrm>
            <a:off x="299938" y="1916807"/>
            <a:ext cx="7848798" cy="3167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s-AR" sz="2700" dirty="0" smtClean="0"/>
              <a:t>Las </a:t>
            </a:r>
            <a:r>
              <a:rPr lang="es-AR" sz="2700" dirty="0"/>
              <a:t>empresas nacen y se desarrollan </a:t>
            </a:r>
            <a:r>
              <a:rPr lang="es-AR" sz="2700" dirty="0" smtClean="0"/>
              <a:t>afincadas </a:t>
            </a:r>
            <a:r>
              <a:rPr lang="es-AR" sz="2700" dirty="0"/>
              <a:t>en </a:t>
            </a:r>
            <a:r>
              <a:rPr lang="es-AR" sz="2700" dirty="0" smtClean="0"/>
              <a:t>ambientes </a:t>
            </a:r>
            <a:r>
              <a:rPr lang="es-AR" sz="2700" dirty="0"/>
              <a:t>geográficos, </a:t>
            </a:r>
            <a:r>
              <a:rPr lang="es-AR" sz="2700" dirty="0" smtClean="0"/>
              <a:t>económicos</a:t>
            </a:r>
            <a:r>
              <a:rPr lang="es-AR" sz="2700" dirty="0"/>
              <a:t>, políticos y </a:t>
            </a:r>
            <a:r>
              <a:rPr lang="es-AR" sz="2700" dirty="0" smtClean="0"/>
              <a:t>culturales determinados</a:t>
            </a:r>
            <a:r>
              <a:rPr lang="es-AR" sz="2700" dirty="0"/>
              <a:t>. </a:t>
            </a:r>
            <a:endParaRPr lang="es-AR" sz="2700" dirty="0" smtClean="0"/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s-AR" sz="2700" dirty="0" smtClean="0"/>
              <a:t>Necesitamos un ecosistema de innovación</a:t>
            </a:r>
            <a:endParaRPr lang="es-AR" sz="2700" dirty="0"/>
          </a:p>
          <a:p>
            <a:pPr marL="457200" indent="-457200" algn="just">
              <a:spcBef>
                <a:spcPct val="20000"/>
              </a:spcBef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s-AR" sz="2700" dirty="0" smtClean="0"/>
              <a:t>Concepto del Triangulo de Sábato, interacción entre el estado, instituciones de educación, y el entorno empresarial</a:t>
            </a:r>
            <a:endParaRPr lang="es-AR" sz="2700" dirty="0"/>
          </a:p>
        </p:txBody>
      </p:sp>
    </p:spTree>
    <p:extLst>
      <p:ext uri="{BB962C8B-B14F-4D97-AF65-F5344CB8AC3E}">
        <p14:creationId xmlns:p14="http://schemas.microsoft.com/office/powerpoint/2010/main" val="217271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0179" y="404664"/>
            <a:ext cx="76200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s-AR" sz="3600" dirty="0">
                <a:solidFill>
                  <a:schemeClr val="bg2">
                    <a:lumMod val="50000"/>
                  </a:schemeClr>
                </a:solidFill>
              </a:rPr>
              <a:t/>
            </a:r>
            <a:br>
              <a:rPr lang="es-AR" sz="36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AR" sz="3200" dirty="0" smtClean="0">
                <a:solidFill>
                  <a:schemeClr val="tx1"/>
                </a:solidFill>
                <a:latin typeface="+mn-lt"/>
              </a:rPr>
              <a:t>Empresas Dinámicas</a:t>
            </a:r>
            <a:br>
              <a:rPr lang="es-AR" sz="3200" dirty="0" smtClean="0">
                <a:solidFill>
                  <a:schemeClr val="tx1"/>
                </a:solidFill>
                <a:latin typeface="+mn-lt"/>
              </a:rPr>
            </a:br>
            <a:endParaRPr lang="es-AR" sz="36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457200" y="1844675"/>
            <a:ext cx="8219256" cy="161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s-AR" sz="2600" dirty="0" smtClean="0">
                <a:solidFill>
                  <a:schemeClr val="tx2"/>
                </a:solidFill>
              </a:rPr>
              <a:t>También conocidas como Empresas </a:t>
            </a:r>
            <a:r>
              <a:rPr lang="es-AR" sz="2600" dirty="0">
                <a:solidFill>
                  <a:schemeClr val="tx2"/>
                </a:solidFill>
              </a:rPr>
              <a:t>«gacelas</a:t>
            </a:r>
            <a:r>
              <a:rPr lang="es-AR" sz="2600" dirty="0" smtClean="0">
                <a:solidFill>
                  <a:schemeClr val="tx2"/>
                </a:solidFill>
              </a:rPr>
              <a:t>», son aquellas que tienen resultados superiores, y generan empleos de calidad.</a:t>
            </a:r>
            <a:endParaRPr lang="es-AR" sz="2600" dirty="0">
              <a:solidFill>
                <a:schemeClr val="tx2"/>
              </a:solidFill>
            </a:endParaRPr>
          </a:p>
          <a:p>
            <a:pPr marL="27432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s-AR" sz="2600" dirty="0" smtClean="0">
                <a:solidFill>
                  <a:schemeClr val="tx2"/>
                </a:solidFill>
              </a:rPr>
              <a:t>Son Empresas </a:t>
            </a:r>
            <a:r>
              <a:rPr lang="es-AR" sz="2600" dirty="0">
                <a:solidFill>
                  <a:schemeClr val="tx2"/>
                </a:solidFill>
              </a:rPr>
              <a:t>de alto potencial de </a:t>
            </a:r>
            <a:r>
              <a:rPr lang="es-AR" sz="2600" dirty="0" smtClean="0">
                <a:solidFill>
                  <a:schemeClr val="tx2"/>
                </a:solidFill>
              </a:rPr>
              <a:t>crecimiento</a:t>
            </a:r>
            <a:endParaRPr lang="es-AR" sz="2600" dirty="0">
              <a:solidFill>
                <a:schemeClr val="tx2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457200" y="3506106"/>
            <a:ext cx="793122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AR"/>
            </a:defPPr>
            <a:lvl1pPr marL="342900" indent="-342900">
              <a:buFont typeface="Arial" pitchFamily="34" charset="0"/>
              <a:buChar char="•"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marL="27432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s-AR" sz="2600" dirty="0">
                <a:solidFill>
                  <a:schemeClr val="tx2"/>
                </a:solidFill>
              </a:rPr>
              <a:t>Las “nuevas fuerzas del desarrollo</a:t>
            </a:r>
            <a:r>
              <a:rPr lang="es-AR" sz="2600" dirty="0" smtClean="0">
                <a:solidFill>
                  <a:schemeClr val="tx2"/>
                </a:solidFill>
              </a:rPr>
              <a:t>”</a:t>
            </a:r>
            <a:endParaRPr lang="es-AR" sz="2600" dirty="0">
              <a:solidFill>
                <a:schemeClr val="tx2"/>
              </a:solidFill>
            </a:endParaRPr>
          </a:p>
          <a:p>
            <a:pPr marL="27432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s-AR" sz="2600" dirty="0">
                <a:solidFill>
                  <a:schemeClr val="tx2"/>
                </a:solidFill>
              </a:rPr>
              <a:t>Difusión de las innovaciones y el conocimiento en el tejido productivo y social;</a:t>
            </a:r>
          </a:p>
          <a:p>
            <a:pPr marL="27432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s-AR" sz="2600" dirty="0">
                <a:solidFill>
                  <a:schemeClr val="tx2"/>
                </a:solidFill>
              </a:rPr>
              <a:t>Creación de entornos adecuados para vivir y </a:t>
            </a:r>
            <a:r>
              <a:rPr lang="es-AR" sz="2600" dirty="0" smtClean="0">
                <a:solidFill>
                  <a:schemeClr val="tx2"/>
                </a:solidFill>
              </a:rPr>
              <a:t>producir</a:t>
            </a:r>
            <a:r>
              <a:rPr lang="es-AR" sz="2600" dirty="0">
                <a:solidFill>
                  <a:schemeClr val="tx2"/>
                </a:solidFill>
              </a:rPr>
              <a:t>.</a:t>
            </a:r>
          </a:p>
          <a:p>
            <a:pPr marL="274320" indent="-27432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/>
            </a:pPr>
            <a:r>
              <a:rPr lang="es-AR" sz="2600" dirty="0">
                <a:solidFill>
                  <a:schemeClr val="tx2"/>
                </a:solidFill>
              </a:rPr>
              <a:t>Cambio y adaptación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10267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23825"/>
            <a:ext cx="8610600" cy="1143000"/>
          </a:xfrm>
        </p:spPr>
        <p:txBody>
          <a:bodyPr anchor="ctr">
            <a:normAutofit fontScale="90000"/>
          </a:bodyPr>
          <a:lstStyle/>
          <a:p>
            <a:pPr algn="r" eaLnBrk="1" hangingPunct="1">
              <a:defRPr/>
            </a:pPr>
            <a:r>
              <a:rPr lang="en-US" sz="3600" b="1" dirty="0" smtClean="0">
                <a:solidFill>
                  <a:srgbClr val="FFFFFF"/>
                </a:solidFill>
              </a:rPr>
              <a:t>El </a:t>
            </a:r>
            <a:r>
              <a:rPr lang="en-US" sz="3600" b="1" dirty="0" smtClean="0">
                <a:solidFill>
                  <a:schemeClr val="tx1"/>
                </a:solidFill>
              </a:rPr>
              <a:t>Sistema de </a:t>
            </a:r>
            <a:r>
              <a:rPr lang="en-US" sz="3600" b="1" dirty="0" err="1" smtClean="0">
                <a:solidFill>
                  <a:schemeClr val="tx1"/>
                </a:solidFill>
              </a:rPr>
              <a:t>Desarrollo</a:t>
            </a:r>
            <a:r>
              <a:rPr lang="en-US" sz="3600" b="1" dirty="0" smtClean="0">
                <a:solidFill>
                  <a:schemeClr val="tx1"/>
                </a:solidFill>
              </a:rPr>
              <a:t> </a:t>
            </a:r>
            <a:r>
              <a:rPr lang="en-US" sz="3600" b="1" dirty="0" err="1" smtClean="0">
                <a:solidFill>
                  <a:schemeClr val="tx1"/>
                </a:solidFill>
              </a:rPr>
              <a:t>Emprendedor</a:t>
            </a:r>
            <a:endParaRPr lang="es-ES" sz="3600" b="1" dirty="0" smtClean="0">
              <a:solidFill>
                <a:schemeClr val="tx1"/>
              </a:solidFill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709738" y="1390650"/>
            <a:ext cx="5715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s-AR" sz="2800">
                <a:solidFill>
                  <a:srgbClr val="FFFFFF"/>
                </a:solidFill>
                <a:latin typeface="Tahoma" pitchFamily="34" charset="0"/>
              </a:rPr>
              <a:t>El Proceso Emprendedor</a:t>
            </a:r>
            <a:endParaRPr lang="es-ES" sz="2800">
              <a:solidFill>
                <a:srgbClr val="FFFFFF"/>
              </a:solidFill>
              <a:latin typeface="Tahoma" pitchFamily="34" charset="0"/>
            </a:endParaRPr>
          </a:p>
        </p:txBody>
      </p:sp>
      <p:grpSp>
        <p:nvGrpSpPr>
          <p:cNvPr id="21508" name="Group 4"/>
          <p:cNvGrpSpPr>
            <a:grpSpLocks/>
          </p:cNvGrpSpPr>
          <p:nvPr/>
        </p:nvGrpSpPr>
        <p:grpSpPr bwMode="auto">
          <a:xfrm>
            <a:off x="1047750" y="2228850"/>
            <a:ext cx="2152650" cy="1676400"/>
            <a:chOff x="588" y="1404"/>
            <a:chExt cx="1356" cy="1056"/>
          </a:xfrm>
        </p:grpSpPr>
        <p:sp>
          <p:nvSpPr>
            <p:cNvPr id="6170" name="AutoShape 5"/>
            <p:cNvSpPr>
              <a:spLocks noChangeArrowheads="1"/>
            </p:cNvSpPr>
            <p:nvPr/>
          </p:nvSpPr>
          <p:spPr bwMode="auto">
            <a:xfrm>
              <a:off x="588" y="1404"/>
              <a:ext cx="1356" cy="1056"/>
            </a:xfrm>
            <a:prstGeom prst="homePlate">
              <a:avLst>
                <a:gd name="adj" fmla="val 23072"/>
              </a:avLst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</a:pPr>
              <a:endParaRPr lang="es-AR" sz="2300">
                <a:latin typeface="Tahoma" pitchFamily="34" charset="0"/>
              </a:endParaRPr>
            </a:p>
          </p:txBody>
        </p:sp>
        <p:sp>
          <p:nvSpPr>
            <p:cNvPr id="6171" name="Text Box 6"/>
            <p:cNvSpPr txBox="1">
              <a:spLocks noChangeArrowheads="1"/>
            </p:cNvSpPr>
            <p:nvPr/>
          </p:nvSpPr>
          <p:spPr bwMode="auto">
            <a:xfrm>
              <a:off x="636" y="1764"/>
              <a:ext cx="1224" cy="288"/>
            </a:xfrm>
            <a:prstGeom prst="rect">
              <a:avLst/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AR" sz="2400" b="1">
                  <a:solidFill>
                    <a:srgbClr val="FFFFFF"/>
                  </a:solidFill>
                  <a:latin typeface="Tahoma" pitchFamily="34" charset="0"/>
                </a:rPr>
                <a:t>Gestación</a:t>
              </a:r>
              <a:endParaRPr lang="es-ES" sz="2400" b="1">
                <a:solidFill>
                  <a:srgbClr val="FFFFFF"/>
                </a:solidFill>
                <a:latin typeface="Tahoma" pitchFamily="34" charset="0"/>
              </a:endParaRPr>
            </a:p>
          </p:txBody>
        </p:sp>
      </p:grpSp>
      <p:grpSp>
        <p:nvGrpSpPr>
          <p:cNvPr id="21531" name="Group 27"/>
          <p:cNvGrpSpPr>
            <a:grpSpLocks/>
          </p:cNvGrpSpPr>
          <p:nvPr/>
        </p:nvGrpSpPr>
        <p:grpSpPr bwMode="auto">
          <a:xfrm>
            <a:off x="3619500" y="2228850"/>
            <a:ext cx="2305050" cy="1676400"/>
            <a:chOff x="2280" y="1404"/>
            <a:chExt cx="1452" cy="1056"/>
          </a:xfrm>
        </p:grpSpPr>
        <p:sp>
          <p:nvSpPr>
            <p:cNvPr id="6168" name="AutoShape 8"/>
            <p:cNvSpPr>
              <a:spLocks noChangeArrowheads="1"/>
            </p:cNvSpPr>
            <p:nvPr/>
          </p:nvSpPr>
          <p:spPr bwMode="auto">
            <a:xfrm>
              <a:off x="2280" y="1404"/>
              <a:ext cx="1452" cy="1056"/>
            </a:xfrm>
            <a:prstGeom prst="chevron">
              <a:avLst>
                <a:gd name="adj" fmla="val 23642"/>
              </a:avLst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</a:pPr>
              <a:endParaRPr lang="es-AR" sz="2300">
                <a:latin typeface="Tahoma" pitchFamily="34" charset="0"/>
              </a:endParaRPr>
            </a:p>
          </p:txBody>
        </p:sp>
        <p:sp>
          <p:nvSpPr>
            <p:cNvPr id="6169" name="Text Box 9"/>
            <p:cNvSpPr txBox="1">
              <a:spLocks noChangeArrowheads="1"/>
            </p:cNvSpPr>
            <p:nvPr/>
          </p:nvSpPr>
          <p:spPr bwMode="auto">
            <a:xfrm>
              <a:off x="2516" y="1687"/>
              <a:ext cx="1188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AR" sz="2400" b="1">
                  <a:solidFill>
                    <a:srgbClr val="FFFFFF"/>
                  </a:solidFill>
                  <a:latin typeface="Tahoma" pitchFamily="34" charset="0"/>
                </a:rPr>
                <a:t>Puesta en Marcha</a:t>
              </a:r>
              <a:endParaRPr lang="es-ES" sz="2400" b="1">
                <a:solidFill>
                  <a:srgbClr val="FFFFFF"/>
                </a:solidFill>
                <a:latin typeface="Tahoma" pitchFamily="34" charset="0"/>
              </a:endParaRPr>
            </a:p>
          </p:txBody>
        </p:sp>
      </p:grpSp>
      <p:grpSp>
        <p:nvGrpSpPr>
          <p:cNvPr id="21532" name="Group 28"/>
          <p:cNvGrpSpPr>
            <a:grpSpLocks/>
          </p:cNvGrpSpPr>
          <p:nvPr/>
        </p:nvGrpSpPr>
        <p:grpSpPr bwMode="auto">
          <a:xfrm>
            <a:off x="6210300" y="2228850"/>
            <a:ext cx="2438400" cy="1676400"/>
            <a:chOff x="3912" y="1404"/>
            <a:chExt cx="1536" cy="1056"/>
          </a:xfrm>
        </p:grpSpPr>
        <p:sp>
          <p:nvSpPr>
            <p:cNvPr id="6166" name="AutoShape 11"/>
            <p:cNvSpPr>
              <a:spLocks noChangeArrowheads="1"/>
            </p:cNvSpPr>
            <p:nvPr/>
          </p:nvSpPr>
          <p:spPr bwMode="auto">
            <a:xfrm>
              <a:off x="3912" y="1404"/>
              <a:ext cx="1500" cy="1056"/>
            </a:xfrm>
            <a:prstGeom prst="chevron">
              <a:avLst>
                <a:gd name="adj" fmla="val 24424"/>
              </a:avLst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</a:pPr>
              <a:endParaRPr lang="es-AR" sz="2300">
                <a:latin typeface="Tahoma" pitchFamily="34" charset="0"/>
              </a:endParaRPr>
            </a:p>
          </p:txBody>
        </p:sp>
        <p:sp>
          <p:nvSpPr>
            <p:cNvPr id="6167" name="Text Box 12"/>
            <p:cNvSpPr txBox="1">
              <a:spLocks noChangeArrowheads="1"/>
            </p:cNvSpPr>
            <p:nvPr/>
          </p:nvSpPr>
          <p:spPr bwMode="auto">
            <a:xfrm>
              <a:off x="4164" y="1690"/>
              <a:ext cx="1284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s-AR" sz="2400" b="1">
                  <a:solidFill>
                    <a:srgbClr val="FFFFFF"/>
                  </a:solidFill>
                  <a:latin typeface="Tahoma" pitchFamily="34" charset="0"/>
                </a:rPr>
                <a:t>Desarrollo Inicial</a:t>
              </a:r>
              <a:endParaRPr lang="es-ES" sz="2400" b="1">
                <a:solidFill>
                  <a:srgbClr val="FFFFFF"/>
                </a:solidFill>
                <a:latin typeface="Tahoma" pitchFamily="34" charset="0"/>
              </a:endParaRPr>
            </a:p>
          </p:txBody>
        </p:sp>
      </p:grpSp>
      <p:cxnSp>
        <p:nvCxnSpPr>
          <p:cNvPr id="21517" name="AutoShape 13"/>
          <p:cNvCxnSpPr>
            <a:cxnSpLocks noChangeShapeType="1"/>
            <a:stCxn id="21507" idx="2"/>
            <a:endCxn id="6170" idx="0"/>
          </p:cNvCxnSpPr>
          <p:nvPr/>
        </p:nvCxnSpPr>
        <p:spPr bwMode="auto">
          <a:xfrm rot="5400000">
            <a:off x="3089275" y="750888"/>
            <a:ext cx="319087" cy="2636838"/>
          </a:xfrm>
          <a:prstGeom prst="bentConnector3">
            <a:avLst>
              <a:gd name="adj1" fmla="val 49750"/>
            </a:avLst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</p:cxnSp>
      <p:cxnSp>
        <p:nvCxnSpPr>
          <p:cNvPr id="21518" name="AutoShape 14"/>
          <p:cNvCxnSpPr>
            <a:cxnSpLocks noChangeShapeType="1"/>
            <a:stCxn id="21507" idx="2"/>
            <a:endCxn id="6168" idx="0"/>
          </p:cNvCxnSpPr>
          <p:nvPr/>
        </p:nvCxnSpPr>
        <p:spPr bwMode="auto">
          <a:xfrm>
            <a:off x="4567238" y="1909763"/>
            <a:ext cx="6350" cy="319087"/>
          </a:xfrm>
          <a:prstGeom prst="straightConnector1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</p:spPr>
      </p:cxnSp>
      <p:cxnSp>
        <p:nvCxnSpPr>
          <p:cNvPr id="21519" name="AutoShape 15"/>
          <p:cNvCxnSpPr>
            <a:cxnSpLocks noChangeShapeType="1"/>
            <a:stCxn id="21507" idx="2"/>
            <a:endCxn id="6166" idx="0"/>
          </p:cNvCxnSpPr>
          <p:nvPr/>
        </p:nvCxnSpPr>
        <p:spPr bwMode="auto">
          <a:xfrm rot="16200000" flipH="1">
            <a:off x="5722144" y="754857"/>
            <a:ext cx="319087" cy="2628900"/>
          </a:xfrm>
          <a:prstGeom prst="bentConnector3">
            <a:avLst>
              <a:gd name="adj1" fmla="val 49750"/>
            </a:avLst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</p:spPr>
      </p:cxnSp>
      <p:grpSp>
        <p:nvGrpSpPr>
          <p:cNvPr id="21520" name="Group 16"/>
          <p:cNvGrpSpPr>
            <a:grpSpLocks/>
          </p:cNvGrpSpPr>
          <p:nvPr/>
        </p:nvGrpSpPr>
        <p:grpSpPr bwMode="auto">
          <a:xfrm>
            <a:off x="838200" y="4019550"/>
            <a:ext cx="2628900" cy="2000250"/>
            <a:chOff x="528" y="2580"/>
            <a:chExt cx="1656" cy="1260"/>
          </a:xfrm>
        </p:grpSpPr>
        <p:sp>
          <p:nvSpPr>
            <p:cNvPr id="6163" name="Text Box 17"/>
            <p:cNvSpPr txBox="1">
              <a:spLocks noChangeArrowheads="1"/>
            </p:cNvSpPr>
            <p:nvPr/>
          </p:nvSpPr>
          <p:spPr bwMode="auto">
            <a:xfrm>
              <a:off x="528" y="2880"/>
              <a:ext cx="1476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r>
                <a:rPr lang="es-AR" sz="2200">
                  <a:solidFill>
                    <a:srgbClr val="FFFFFF"/>
                  </a:solidFill>
                  <a:latin typeface="Tahoma" pitchFamily="34" charset="0"/>
                </a:rPr>
                <a:t>Adquisición de competencias</a:t>
              </a:r>
              <a:endParaRPr lang="es-ES" sz="2200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6164" name="Text Box 18"/>
            <p:cNvSpPr txBox="1">
              <a:spLocks noChangeArrowheads="1"/>
            </p:cNvSpPr>
            <p:nvPr/>
          </p:nvSpPr>
          <p:spPr bwMode="auto">
            <a:xfrm>
              <a:off x="552" y="2580"/>
              <a:ext cx="1188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r>
                <a:rPr lang="es-AR" sz="2200" dirty="0">
                  <a:solidFill>
                    <a:srgbClr val="FFFFFF"/>
                  </a:solidFill>
                  <a:latin typeface="Tahoma" pitchFamily="34" charset="0"/>
                </a:rPr>
                <a:t>Motivación</a:t>
              </a:r>
              <a:endParaRPr lang="es-ES" sz="2200" dirty="0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6165" name="Text Box 19"/>
            <p:cNvSpPr txBox="1">
              <a:spLocks noChangeArrowheads="1"/>
            </p:cNvSpPr>
            <p:nvPr/>
          </p:nvSpPr>
          <p:spPr bwMode="auto">
            <a:xfrm>
              <a:off x="528" y="3360"/>
              <a:ext cx="1656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r>
                <a:rPr lang="es-AR" sz="2200">
                  <a:solidFill>
                    <a:srgbClr val="FFFFFF"/>
                  </a:solidFill>
                  <a:latin typeface="Tahoma" pitchFamily="34" charset="0"/>
                </a:rPr>
                <a:t>Identificación de la oportunidad</a:t>
              </a:r>
              <a:endParaRPr lang="es-ES" sz="2200">
                <a:solidFill>
                  <a:srgbClr val="FFFFFF"/>
                </a:solidFill>
                <a:latin typeface="Tahoma" pitchFamily="34" charset="0"/>
              </a:endParaRPr>
            </a:p>
          </p:txBody>
        </p:sp>
      </p:grpSp>
      <p:grpSp>
        <p:nvGrpSpPr>
          <p:cNvPr id="21528" name="Group 24"/>
          <p:cNvGrpSpPr>
            <a:grpSpLocks/>
          </p:cNvGrpSpPr>
          <p:nvPr/>
        </p:nvGrpSpPr>
        <p:grpSpPr bwMode="auto">
          <a:xfrm>
            <a:off x="6172200" y="3981450"/>
            <a:ext cx="2514600" cy="1189038"/>
            <a:chOff x="3888" y="2556"/>
            <a:chExt cx="1584" cy="749"/>
          </a:xfrm>
        </p:grpSpPr>
        <p:sp>
          <p:nvSpPr>
            <p:cNvPr id="6161" name="Text Box 25"/>
            <p:cNvSpPr txBox="1">
              <a:spLocks noChangeArrowheads="1"/>
            </p:cNvSpPr>
            <p:nvPr/>
          </p:nvSpPr>
          <p:spPr bwMode="auto">
            <a:xfrm>
              <a:off x="3888" y="2556"/>
              <a:ext cx="1584" cy="4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r>
                <a:rPr lang="es-AR" sz="2200">
                  <a:solidFill>
                    <a:srgbClr val="FFFFFF"/>
                  </a:solidFill>
                  <a:latin typeface="Tahoma" pitchFamily="34" charset="0"/>
                </a:rPr>
                <a:t>Ingreso al mercado</a:t>
              </a:r>
              <a:endParaRPr lang="es-ES" sz="2200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6162" name="Text Box 26"/>
            <p:cNvSpPr txBox="1">
              <a:spLocks noChangeArrowheads="1"/>
            </p:cNvSpPr>
            <p:nvPr/>
          </p:nvSpPr>
          <p:spPr bwMode="auto">
            <a:xfrm>
              <a:off x="3900" y="3036"/>
              <a:ext cx="1488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r>
                <a:rPr lang="es-AR" sz="2200">
                  <a:solidFill>
                    <a:srgbClr val="FFFFFF"/>
                  </a:solidFill>
                  <a:latin typeface="Tahoma" pitchFamily="34" charset="0"/>
                </a:rPr>
                <a:t>Gestión inicial</a:t>
              </a:r>
              <a:endParaRPr lang="es-ES" sz="2200">
                <a:solidFill>
                  <a:srgbClr val="FFFFFF"/>
                </a:solidFill>
                <a:latin typeface="Tahoma" pitchFamily="34" charset="0"/>
              </a:endParaRPr>
            </a:p>
          </p:txBody>
        </p:sp>
      </p:grpSp>
      <p:sp>
        <p:nvSpPr>
          <p:cNvPr id="6156" name="Line 29"/>
          <p:cNvSpPr>
            <a:spLocks noChangeShapeType="1"/>
          </p:cNvSpPr>
          <p:nvPr/>
        </p:nvSpPr>
        <p:spPr bwMode="auto">
          <a:xfrm>
            <a:off x="552450" y="1276350"/>
            <a:ext cx="86106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  <p:grpSp>
        <p:nvGrpSpPr>
          <p:cNvPr id="21534" name="Group 30"/>
          <p:cNvGrpSpPr>
            <a:grpSpLocks/>
          </p:cNvGrpSpPr>
          <p:nvPr/>
        </p:nvGrpSpPr>
        <p:grpSpPr bwMode="auto">
          <a:xfrm>
            <a:off x="3429000" y="4038600"/>
            <a:ext cx="2895600" cy="2438400"/>
            <a:chOff x="2160" y="2436"/>
            <a:chExt cx="1824" cy="1536"/>
          </a:xfrm>
        </p:grpSpPr>
        <p:sp>
          <p:nvSpPr>
            <p:cNvPr id="6158" name="Text Box 31"/>
            <p:cNvSpPr txBox="1">
              <a:spLocks noChangeArrowheads="1"/>
            </p:cNvSpPr>
            <p:nvPr/>
          </p:nvSpPr>
          <p:spPr bwMode="auto">
            <a:xfrm>
              <a:off x="2172" y="2436"/>
              <a:ext cx="1452" cy="1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r>
                <a:rPr lang="es-ES" sz="2200">
                  <a:solidFill>
                    <a:srgbClr val="FFFFFF"/>
                  </a:solidFill>
                  <a:latin typeface="Tahoma" pitchFamily="34" charset="0"/>
                </a:rPr>
                <a:t>Elaboración y evaluación del proyecto</a:t>
              </a:r>
            </a:p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r>
                <a:rPr lang="es-ES" sz="2200">
                  <a:solidFill>
                    <a:srgbClr val="FFFFFF"/>
                  </a:solidFill>
                  <a:latin typeface="Tahoma" pitchFamily="34" charset="0"/>
                </a:rPr>
                <a:t>Organización de recursos</a:t>
              </a:r>
            </a:p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endParaRPr lang="es-ES" sz="2200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6159" name="Text Box 32"/>
            <p:cNvSpPr txBox="1">
              <a:spLocks noChangeArrowheads="1"/>
            </p:cNvSpPr>
            <p:nvPr/>
          </p:nvSpPr>
          <p:spPr bwMode="auto">
            <a:xfrm>
              <a:off x="2160" y="3216"/>
              <a:ext cx="1488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endParaRPr lang="es-ES_tradnl" sz="2200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6160" name="Text Box 33"/>
            <p:cNvSpPr txBox="1">
              <a:spLocks noChangeArrowheads="1"/>
            </p:cNvSpPr>
            <p:nvPr/>
          </p:nvSpPr>
          <p:spPr bwMode="auto">
            <a:xfrm>
              <a:off x="2160" y="2928"/>
              <a:ext cx="182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293688" indent="-293688">
                <a:spcBef>
                  <a:spcPct val="50000"/>
                </a:spcBef>
                <a:buSzPct val="75000"/>
                <a:buFont typeface="Wingdings" pitchFamily="2" charset="2"/>
                <a:buChar char="è"/>
              </a:pPr>
              <a:endParaRPr lang="es-ES_tradnl" sz="2200">
                <a:solidFill>
                  <a:srgbClr val="FFFFFF"/>
                </a:solidFill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64038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3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5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23825"/>
            <a:ext cx="8610600" cy="1143000"/>
          </a:xfrm>
        </p:spPr>
        <p:txBody>
          <a:bodyPr anchor="ctr">
            <a:normAutofit fontScale="90000"/>
          </a:bodyPr>
          <a:lstStyle/>
          <a:p>
            <a:pPr algn="r" eaLnBrk="1" hangingPunct="1">
              <a:defRPr/>
            </a:pPr>
            <a:r>
              <a:rPr lang="en-US" sz="3600" b="1" dirty="0" smtClean="0">
                <a:solidFill>
                  <a:srgbClr val="FFFFFF"/>
                </a:solidFill>
              </a:rPr>
              <a:t>El </a:t>
            </a:r>
            <a:r>
              <a:rPr lang="en-US" sz="3600" b="1" dirty="0" smtClean="0">
                <a:solidFill>
                  <a:schemeClr val="tx1"/>
                </a:solidFill>
              </a:rPr>
              <a:t>Sistema de </a:t>
            </a:r>
            <a:r>
              <a:rPr lang="en-US" sz="3600" b="1" dirty="0" err="1" smtClean="0">
                <a:solidFill>
                  <a:schemeClr val="tx1"/>
                </a:solidFill>
              </a:rPr>
              <a:t>Desarrollo</a:t>
            </a:r>
            <a:r>
              <a:rPr lang="en-US" sz="3600" b="1" dirty="0" smtClean="0">
                <a:solidFill>
                  <a:schemeClr val="tx1"/>
                </a:solidFill>
              </a:rPr>
              <a:t> </a:t>
            </a:r>
            <a:r>
              <a:rPr lang="en-US" sz="3600" b="1" dirty="0" err="1" smtClean="0">
                <a:solidFill>
                  <a:schemeClr val="tx1"/>
                </a:solidFill>
              </a:rPr>
              <a:t>Emprendedor</a:t>
            </a:r>
            <a:endParaRPr lang="es-ES" sz="3600" b="1" dirty="0" smtClean="0">
              <a:solidFill>
                <a:schemeClr val="tx1"/>
              </a:solidFill>
            </a:endParaRP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1981200" y="2209800"/>
            <a:ext cx="25146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rgbClr val="FFFFFF"/>
                </a:solidFill>
                <a:latin typeface="Tahoma" pitchFamily="34" charset="0"/>
              </a:rPr>
              <a:t>Sistema Educativo y de Ciencia y Tecnología</a:t>
            </a:r>
            <a:endParaRPr lang="es-ES">
              <a:solidFill>
                <a:srgbClr val="FFFFFF"/>
              </a:solidFill>
              <a:latin typeface="Tahoma" pitchFamily="34" charset="0"/>
            </a:endParaRP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4800600" y="2438400"/>
            <a:ext cx="17113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s-ES">
                <a:solidFill>
                  <a:srgbClr val="FFFFFF"/>
                </a:solidFill>
                <a:latin typeface="Tahoma" pitchFamily="34" charset="0"/>
              </a:rPr>
              <a:t>Capital</a:t>
            </a:r>
            <a:r>
              <a:rPr lang="en-US">
                <a:solidFill>
                  <a:srgbClr val="FFFFFF"/>
                </a:solidFill>
                <a:latin typeface="Tahoma" pitchFamily="34" charset="0"/>
              </a:rPr>
              <a:t> </a:t>
            </a:r>
            <a:r>
              <a:rPr lang="es-ES">
                <a:solidFill>
                  <a:srgbClr val="FFFFFF"/>
                </a:solidFill>
                <a:latin typeface="Tahoma" pitchFamily="34" charset="0"/>
              </a:rPr>
              <a:t>social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1538288" y="3629025"/>
            <a:ext cx="1863725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0" hangingPunct="0">
              <a:spcBef>
                <a:spcPct val="50000"/>
              </a:spcBef>
            </a:pPr>
            <a:r>
              <a:rPr lang="es-ES">
                <a:solidFill>
                  <a:srgbClr val="FFFFFF"/>
                </a:solidFill>
                <a:latin typeface="Tahoma" pitchFamily="34" charset="0"/>
              </a:rPr>
              <a:t>Stock de competencias emprendedoras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5638800" y="5181600"/>
            <a:ext cx="152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rgbClr val="FFFFFF"/>
                </a:solidFill>
                <a:latin typeface="Tahoma" pitchFamily="34" charset="0"/>
              </a:rPr>
              <a:t>Mercados de factores</a:t>
            </a:r>
            <a:endParaRPr lang="es-ES">
              <a:solidFill>
                <a:srgbClr val="FFFFFF"/>
              </a:solidFill>
              <a:latin typeface="Tahoma" pitchFamily="34" charset="0"/>
            </a:endParaRP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2514600" y="5105400"/>
            <a:ext cx="1524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solidFill>
                  <a:srgbClr val="FFFFFF"/>
                </a:solidFill>
                <a:latin typeface="Tahoma" pitchFamily="34" charset="0"/>
              </a:rPr>
              <a:t>Estructura y dinámica productiva</a:t>
            </a:r>
            <a:endParaRPr lang="es-ES">
              <a:solidFill>
                <a:srgbClr val="FFFFFF"/>
              </a:solidFill>
              <a:latin typeface="Tahoma" pitchFamily="34" charset="0"/>
            </a:endParaRPr>
          </a:p>
        </p:txBody>
      </p:sp>
      <p:sp>
        <p:nvSpPr>
          <p:cNvPr id="22536" name="AutoShape 8"/>
          <p:cNvSpPr>
            <a:spLocks noChangeArrowheads="1"/>
          </p:cNvSpPr>
          <p:nvPr/>
        </p:nvSpPr>
        <p:spPr bwMode="auto">
          <a:xfrm>
            <a:off x="228600" y="1752600"/>
            <a:ext cx="8610600" cy="4819650"/>
          </a:xfrm>
          <a:prstGeom prst="roundRect">
            <a:avLst>
              <a:gd name="adj" fmla="val 28093"/>
            </a:avLst>
          </a:prstGeom>
          <a:noFill/>
          <a:ln w="28575">
            <a:solidFill>
              <a:srgbClr val="FF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50000"/>
              </a:lnSpc>
              <a:spcBef>
                <a:spcPct val="50000"/>
              </a:spcBef>
            </a:pPr>
            <a:endParaRPr lang="es-AR" sz="2300">
              <a:latin typeface="Tahoma" pitchFamily="34" charset="0"/>
            </a:endParaRPr>
          </a:p>
        </p:txBody>
      </p:sp>
      <p:grpSp>
        <p:nvGrpSpPr>
          <p:cNvPr id="7177" name="Group 21"/>
          <p:cNvGrpSpPr>
            <a:grpSpLocks/>
          </p:cNvGrpSpPr>
          <p:nvPr/>
        </p:nvGrpSpPr>
        <p:grpSpPr bwMode="auto">
          <a:xfrm>
            <a:off x="3729038" y="3505200"/>
            <a:ext cx="3967162" cy="1143000"/>
            <a:chOff x="2349" y="2208"/>
            <a:chExt cx="2499" cy="720"/>
          </a:xfrm>
        </p:grpSpPr>
        <p:sp>
          <p:nvSpPr>
            <p:cNvPr id="7181" name="AutoShape 11"/>
            <p:cNvSpPr>
              <a:spLocks noChangeArrowheads="1"/>
            </p:cNvSpPr>
            <p:nvPr/>
          </p:nvSpPr>
          <p:spPr bwMode="auto">
            <a:xfrm>
              <a:off x="2358" y="2223"/>
              <a:ext cx="741" cy="705"/>
            </a:xfrm>
            <a:prstGeom prst="homePlate">
              <a:avLst>
                <a:gd name="adj" fmla="val 18885"/>
              </a:avLst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</a:pPr>
              <a:endParaRPr lang="es-AR" sz="2300">
                <a:latin typeface="Tahoma" pitchFamily="34" charset="0"/>
              </a:endParaRPr>
            </a:p>
          </p:txBody>
        </p:sp>
        <p:sp>
          <p:nvSpPr>
            <p:cNvPr id="7182" name="Text Box 12"/>
            <p:cNvSpPr txBox="1">
              <a:spLocks noChangeArrowheads="1"/>
            </p:cNvSpPr>
            <p:nvPr/>
          </p:nvSpPr>
          <p:spPr bwMode="auto">
            <a:xfrm>
              <a:off x="2349" y="2448"/>
              <a:ext cx="789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s-AR" sz="1900">
                  <a:solidFill>
                    <a:srgbClr val="FFFFFF"/>
                  </a:solidFill>
                  <a:latin typeface="Tahoma" pitchFamily="34" charset="0"/>
                </a:rPr>
                <a:t>Gestación</a:t>
              </a:r>
              <a:endParaRPr lang="es-ES" sz="1900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7183" name="AutoShape 14"/>
            <p:cNvSpPr>
              <a:spLocks noChangeArrowheads="1"/>
            </p:cNvSpPr>
            <p:nvPr/>
          </p:nvSpPr>
          <p:spPr bwMode="auto">
            <a:xfrm>
              <a:off x="3069" y="2238"/>
              <a:ext cx="768" cy="690"/>
            </a:xfrm>
            <a:prstGeom prst="chevron">
              <a:avLst>
                <a:gd name="adj" fmla="val 19138"/>
              </a:avLst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</a:pPr>
              <a:endParaRPr lang="es-AR" sz="2300">
                <a:latin typeface="Tahoma" pitchFamily="34" charset="0"/>
              </a:endParaRPr>
            </a:p>
          </p:txBody>
        </p:sp>
        <p:sp>
          <p:nvSpPr>
            <p:cNvPr id="7184" name="Text Box 15"/>
            <p:cNvSpPr txBox="1">
              <a:spLocks noChangeArrowheads="1"/>
            </p:cNvSpPr>
            <p:nvPr/>
          </p:nvSpPr>
          <p:spPr bwMode="auto">
            <a:xfrm>
              <a:off x="3117" y="2259"/>
              <a:ext cx="693" cy="6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hangingPunct="0"/>
              <a:r>
                <a:rPr lang="es-AR" sz="1900">
                  <a:solidFill>
                    <a:srgbClr val="FFFFFF"/>
                  </a:solidFill>
                  <a:latin typeface="Tahoma" pitchFamily="34" charset="0"/>
                </a:rPr>
                <a:t>Puesta en Marcha</a:t>
              </a:r>
              <a:endParaRPr lang="es-ES" sz="1900">
                <a:solidFill>
                  <a:srgbClr val="FFFFFF"/>
                </a:solidFill>
                <a:latin typeface="Tahoma" pitchFamily="34" charset="0"/>
              </a:endParaRPr>
            </a:p>
          </p:txBody>
        </p:sp>
        <p:sp>
          <p:nvSpPr>
            <p:cNvPr id="7185" name="AutoShape 17"/>
            <p:cNvSpPr>
              <a:spLocks noChangeArrowheads="1"/>
            </p:cNvSpPr>
            <p:nvPr/>
          </p:nvSpPr>
          <p:spPr bwMode="auto">
            <a:xfrm>
              <a:off x="3789" y="2208"/>
              <a:ext cx="912" cy="720"/>
            </a:xfrm>
            <a:prstGeom prst="chevron">
              <a:avLst>
                <a:gd name="adj" fmla="val 21780"/>
              </a:avLst>
            </a:prstGeom>
            <a:solidFill>
              <a:srgbClr val="000066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50000"/>
                </a:lnSpc>
                <a:spcBef>
                  <a:spcPct val="50000"/>
                </a:spcBef>
              </a:pPr>
              <a:endParaRPr lang="es-AR" sz="2300">
                <a:latin typeface="Tahoma" pitchFamily="34" charset="0"/>
              </a:endParaRPr>
            </a:p>
          </p:txBody>
        </p:sp>
        <p:sp>
          <p:nvSpPr>
            <p:cNvPr id="7186" name="Text Box 18"/>
            <p:cNvSpPr txBox="1">
              <a:spLocks noChangeArrowheads="1"/>
            </p:cNvSpPr>
            <p:nvPr/>
          </p:nvSpPr>
          <p:spPr bwMode="auto">
            <a:xfrm>
              <a:off x="3888" y="2235"/>
              <a:ext cx="960" cy="5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lnSpc>
                  <a:spcPct val="140000"/>
                </a:lnSpc>
              </a:pPr>
              <a:r>
                <a:rPr lang="es-AR" sz="1900">
                  <a:solidFill>
                    <a:srgbClr val="FFFFFF"/>
                  </a:solidFill>
                  <a:latin typeface="Tahoma" pitchFamily="34" charset="0"/>
                </a:rPr>
                <a:t>Desarrollo Inicial</a:t>
              </a:r>
              <a:endParaRPr lang="es-ES" sz="1900">
                <a:solidFill>
                  <a:srgbClr val="FFFFFF"/>
                </a:solidFill>
                <a:latin typeface="Tahoma" pitchFamily="34" charset="0"/>
              </a:endParaRPr>
            </a:p>
          </p:txBody>
        </p:sp>
      </p:grp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7800975" y="2895600"/>
            <a:ext cx="733425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solidFill>
                  <a:srgbClr val="FFFFFF"/>
                </a:solidFill>
                <a:latin typeface="Tahoma" pitchFamily="34" charset="0"/>
              </a:rPr>
              <a:t>Políticas y condiciones regulatorias</a:t>
            </a:r>
            <a:endParaRPr lang="es-ES">
              <a:solidFill>
                <a:srgbClr val="FFFFFF"/>
              </a:solidFill>
              <a:latin typeface="Tahoma" pitchFamily="34" charset="0"/>
            </a:endParaRPr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698500" y="2362200"/>
            <a:ext cx="733425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>
                <a:solidFill>
                  <a:srgbClr val="FFFFFF"/>
                </a:solidFill>
                <a:latin typeface="Tahoma" pitchFamily="34" charset="0"/>
              </a:rPr>
              <a:t>Condiciones Culturales, Sociales y Económicas</a:t>
            </a:r>
            <a:endParaRPr lang="es-ES">
              <a:solidFill>
                <a:srgbClr val="FFFFFF"/>
              </a:solidFill>
              <a:latin typeface="Tahoma" pitchFamily="34" charset="0"/>
            </a:endParaRPr>
          </a:p>
        </p:txBody>
      </p:sp>
      <p:sp>
        <p:nvSpPr>
          <p:cNvPr id="7180" name="Line 22"/>
          <p:cNvSpPr>
            <a:spLocks noChangeShapeType="1"/>
          </p:cNvSpPr>
          <p:nvPr/>
        </p:nvSpPr>
        <p:spPr bwMode="auto">
          <a:xfrm>
            <a:off x="552450" y="1276350"/>
            <a:ext cx="8610600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234329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5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utoUpdateAnimBg="0"/>
      <p:bldP spid="22532" grpId="0" autoUpdateAnimBg="0"/>
      <p:bldP spid="22533" grpId="0" autoUpdateAnimBg="0"/>
      <p:bldP spid="22534" grpId="0" autoUpdateAnimBg="0"/>
      <p:bldP spid="22535" grpId="0" autoUpdateAnimBg="0"/>
      <p:bldP spid="22536" grpId="0" animBg="1"/>
      <p:bldP spid="22547" grpId="0" autoUpdateAnimBg="0"/>
      <p:bldP spid="2254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CuadroTexto"/>
          <p:cNvSpPr txBox="1">
            <a:spLocks noChangeArrowheads="1"/>
          </p:cNvSpPr>
          <p:nvPr/>
        </p:nvSpPr>
        <p:spPr bwMode="auto">
          <a:xfrm>
            <a:off x="755650" y="333375"/>
            <a:ext cx="7488238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s-AR" sz="2800"/>
              <a:t>Quiénes son los emprendedores?</a:t>
            </a:r>
          </a:p>
          <a:p>
            <a:pPr algn="ctr"/>
            <a:r>
              <a:rPr lang="es-AR" sz="2800"/>
              <a:t>Qué características tienen sus empresas?</a:t>
            </a:r>
          </a:p>
        </p:txBody>
      </p:sp>
      <p:graphicFrame>
        <p:nvGraphicFramePr>
          <p:cNvPr id="3" name="2 Tabla"/>
          <p:cNvGraphicFramePr>
            <a:graphicFrameLocks noGrp="1"/>
          </p:cNvGraphicFramePr>
          <p:nvPr/>
        </p:nvGraphicFramePr>
        <p:xfrm>
          <a:off x="250825" y="1790700"/>
          <a:ext cx="8642349" cy="498633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880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2080"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TIPOS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CARACTERÍSTICAS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CANTIDAD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2452"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EMPRENDEDORES DE BASE CIENTÍFICA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EMPRESAS BASADA EN</a:t>
                      </a:r>
                      <a:r>
                        <a:rPr lang="es-AR" sz="1800" baseline="0" dirty="0" smtClean="0"/>
                        <a:t> RESULTADOS DE LA INVESTIGACIÓN. LABORATORIOS. SPIN OFF.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POCO FRECUENTE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16"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EMPRENDEDORES UNIVERSITARIOS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BAJA O NULA EXPERIENCIA LABORAL. TICS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MEDIANAMENTE</a:t>
                      </a:r>
                      <a:r>
                        <a:rPr lang="es-AR" sz="1800" baseline="0" dirty="0" smtClean="0"/>
                        <a:t> FRECUENTE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90"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EMPRENDEDORES</a:t>
                      </a:r>
                      <a:r>
                        <a:rPr lang="es-AR" sz="1800" baseline="0" dirty="0" smtClean="0"/>
                        <a:t> PROFESIONALES y EJECUTIVOS DE EMPRESAS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tc>
                  <a:txBody>
                    <a:bodyPr/>
                    <a:lstStyle/>
                    <a:p>
                      <a:r>
                        <a:rPr lang="es-AR" sz="1800" smtClean="0"/>
                        <a:t>ABANDONAN LAS </a:t>
                      </a:r>
                      <a:r>
                        <a:rPr lang="es-AR" sz="1800" dirty="0" smtClean="0"/>
                        <a:t>EMPRESAS PARA CREAR LA EMPRESA.</a:t>
                      </a:r>
                      <a:r>
                        <a:rPr lang="es-AR" sz="1800" baseline="0" dirty="0" smtClean="0"/>
                        <a:t> GRAN EXPERIENCIA LABORAL Y VARIEDAD DE SECTORES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tc>
                  <a:txBody>
                    <a:bodyPr/>
                    <a:lstStyle/>
                    <a:p>
                      <a:r>
                        <a:rPr lang="es-AR" sz="1800" dirty="0" smtClean="0"/>
                        <a:t>MÁS FRECUENTE</a:t>
                      </a:r>
                      <a:endParaRPr lang="es-AR" sz="1800" dirty="0"/>
                    </a:p>
                  </a:txBody>
                  <a:tcPr marL="91455" marR="91455" marT="45721" marB="457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6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301752" y="612196"/>
            <a:ext cx="8534400" cy="758952"/>
          </a:xfrm>
          <a:prstGeom prst="rect">
            <a:avLst/>
          </a:prstGeom>
        </p:spPr>
        <p:txBody>
          <a:bodyPr/>
          <a:lstStyle>
            <a:lvl1pPr algn="ctr" rtl="0" eaLnBrk="1" latinLnBrk="0" hangingPunct="1">
              <a:spcBef>
                <a:spcPct val="0"/>
              </a:spcBef>
              <a:buNone/>
              <a:defRPr kumimoji="0" sz="3300" kern="1200">
                <a:solidFill>
                  <a:schemeClr val="accent3">
                    <a:shade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mtClean="0"/>
              <a:t>Para Pensar un momento</a:t>
            </a:r>
            <a:endParaRPr lang="en-US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301752" y="1527048"/>
            <a:ext cx="8503920" cy="45720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 smtClean="0"/>
              <a:t>Mercado Libre vale más que el Grupo Clarín….</a:t>
            </a:r>
          </a:p>
          <a:p>
            <a:pPr lvl="1"/>
            <a:r>
              <a:rPr lang="es-ES" b="1" smtClean="0"/>
              <a:t>Gabriel Foglia, Decano de la Facultad de Ciencias Económicas de la Universidad de Palermo, de acuerdo a una valuación del capital de mercado de ambas empresas a valores de hoy</a:t>
            </a:r>
            <a:r>
              <a:rPr lang="es-ES" smtClean="0"/>
              <a:t>. </a:t>
            </a:r>
            <a:r>
              <a:rPr lang="es-ES" b="1" smtClean="0"/>
              <a:t>"Las acciones de Clarín cotizan en el mercado a 11,65 dólares lo cual arroja un valor de capitalización de 1.732 millones de dólares. Mercado Libre por su parte, cotiza cada acción a 51,84 dólares, por lo cual su valor es de 2.294 millones de dólares".</a:t>
            </a:r>
            <a:r>
              <a:rPr lang="es-ES" smtClean="0"/>
              <a:t> De acuerdo a estos números "</a:t>
            </a:r>
            <a:r>
              <a:rPr lang="es-ES" b="1" smtClean="0"/>
              <a:t>el Grupo Clarín</a:t>
            </a:r>
            <a:r>
              <a:rPr lang="es-ES" smtClean="0"/>
              <a:t> - el conglomerado de medios de cumunicación más grande de la Argetnina - hoy </a:t>
            </a:r>
            <a:r>
              <a:rPr lang="es-ES" b="1" smtClean="0"/>
              <a:t>vale un 32% menos que Mercado Libre</a:t>
            </a:r>
            <a:r>
              <a:rPr lang="es-ES" smtClean="0"/>
              <a:t>" aseguró Foglia en dialogo con Enciclomedios. </a:t>
            </a:r>
            <a:br>
              <a:rPr lang="es-ES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817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1 Título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>
              <a:defRPr/>
            </a:pPr>
            <a:r>
              <a:rPr lang="es-AR" sz="3600" dirty="0" smtClean="0">
                <a:solidFill>
                  <a:schemeClr val="tx1"/>
                </a:solidFill>
              </a:rPr>
              <a:t>Etapas iniciales de vida de las </a:t>
            </a:r>
            <a:r>
              <a:rPr lang="es-AR" sz="3600" dirty="0" err="1" smtClean="0">
                <a:solidFill>
                  <a:schemeClr val="tx1"/>
                </a:solidFill>
              </a:rPr>
              <a:t>EBTs</a:t>
            </a:r>
            <a:endParaRPr lang="es-AR" sz="3600" dirty="0" smtClean="0">
              <a:solidFill>
                <a:schemeClr val="tx1"/>
              </a:solidFill>
            </a:endParaRPr>
          </a:p>
        </p:txBody>
      </p:sp>
      <p:pic>
        <p:nvPicPr>
          <p:cNvPr id="12291" name="3 Marcador de gráfico" descr="http://www.madrimasd.org/Revista/revista31/images/Fig1AulaAbierta31_2.gif"/>
          <p:cNvPicPr>
            <a:picLocks noGrp="1"/>
          </p:cNvPicPr>
          <p:nvPr>
            <p:ph type="chart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23913" y="1771650"/>
            <a:ext cx="7564437" cy="4352925"/>
          </a:xfrm>
        </p:spPr>
      </p:pic>
    </p:spTree>
    <p:extLst>
      <p:ext uri="{BB962C8B-B14F-4D97-AF65-F5344CB8AC3E}">
        <p14:creationId xmlns:p14="http://schemas.microsoft.com/office/powerpoint/2010/main" val="32167432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1 Título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>
              <a:defRPr/>
            </a:pPr>
            <a:r>
              <a:rPr lang="es-AR" sz="3600" dirty="0" smtClean="0">
                <a:solidFill>
                  <a:schemeClr val="tx1"/>
                </a:solidFill>
              </a:rPr>
              <a:t>Qué son las </a:t>
            </a:r>
            <a:r>
              <a:rPr lang="es-AR" sz="3600" dirty="0" err="1" smtClean="0">
                <a:solidFill>
                  <a:schemeClr val="tx1"/>
                </a:solidFill>
              </a:rPr>
              <a:t>EBTs</a:t>
            </a:r>
            <a:r>
              <a:rPr lang="es-AR" sz="3600" dirty="0" smtClean="0">
                <a:solidFill>
                  <a:schemeClr val="tx1"/>
                </a:solidFill>
              </a:rPr>
              <a:t>?</a:t>
            </a:r>
          </a:p>
        </p:txBody>
      </p:sp>
      <p:graphicFrame>
        <p:nvGraphicFramePr>
          <p:cNvPr id="4" name="3 Marcador de gráfico"/>
          <p:cNvGraphicFramePr>
            <a:graphicFrameLocks noGrp="1"/>
          </p:cNvGraphicFramePr>
          <p:nvPr>
            <p:ph type="chart" idx="4294967295"/>
          </p:nvPr>
        </p:nvGraphicFramePr>
        <p:xfrm>
          <a:off x="685800" y="1557338"/>
          <a:ext cx="7772400" cy="2751137"/>
        </p:xfrm>
        <a:graphic>
          <a:graphicData uri="http://schemas.openxmlformats.org/drawingml/2006/table">
            <a:tbl>
              <a:tblPr/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511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Organizaciones productoras de bienes y servicios, comprometidas con el diseño, desarrollo y producción de nuevos productos y/o procesos de fabricación innovadores, a través de la aplicación sistemática de conocimientos técnicos y científicos (U.S. Office of </a:t>
                      </a:r>
                      <a:r>
                        <a:rPr kumimoji="0" lang="es-AR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Technology</a:t>
                      </a:r>
                      <a:r>
                        <a:rPr kumimoji="0" lang="es-A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 </a:t>
                      </a:r>
                      <a:r>
                        <a:rPr kumimoji="0" lang="es-AR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Assessment</a:t>
                      </a:r>
                      <a:r>
                        <a:rPr kumimoji="0" lang="es-A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, 1992).</a:t>
                      </a:r>
                      <a:endParaRPr kumimoji="0" lang="es-AR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50" marB="1905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247" name="Group 31"/>
          <p:cNvGraphicFramePr>
            <a:graphicFrameLocks noGrp="1"/>
          </p:cNvGraphicFramePr>
          <p:nvPr/>
        </p:nvGraphicFramePr>
        <p:xfrm>
          <a:off x="684213" y="4365625"/>
          <a:ext cx="7775575" cy="2020922"/>
        </p:xfrm>
        <a:graphic>
          <a:graphicData uri="http://schemas.openxmlformats.org/drawingml/2006/table">
            <a:tbl>
              <a:tblPr/>
              <a:tblGrid>
                <a:gridCol w="3887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77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CARACTERÍSTICAS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CONSECUENCIAS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Rápido crecimiento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Verdana" pitchFamily="34" charset="0"/>
                        </a:rPr>
                        <a:t>Altas necesidades de capital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Muy enfocadas en innovación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Verdana" pitchFamily="34" charset="0"/>
                        </a:rPr>
                        <a:t>Necesidad de apoyos comerciales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Gestionados por tecnólogos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Verdana" pitchFamily="34" charset="0"/>
                        </a:rPr>
                        <a:t>Necesidad de ayuda en gestión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E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8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Propiedad intelectual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s-AR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Verdana" pitchFamily="34" charset="0"/>
                        </a:rPr>
                        <a:t>Posibilidades de elevados márgenes</a:t>
                      </a:r>
                      <a:endParaRPr kumimoji="0" lang="es-AR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Calibri" pitchFamily="34" charset="0"/>
                      </a:endParaRPr>
                    </a:p>
                  </a:txBody>
                  <a:tcPr marL="19050" marR="19050" marT="19045" marB="1904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900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1 Título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>
              <a:defRPr/>
            </a:pPr>
            <a:r>
              <a:rPr lang="es-AR" sz="3600" dirty="0" smtClean="0">
                <a:solidFill>
                  <a:schemeClr val="tx1"/>
                </a:solidFill>
              </a:rPr>
              <a:t>Ejemplos?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07504" y="1484784"/>
            <a:ext cx="813690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INTEL</a:t>
            </a:r>
            <a:r>
              <a:rPr lang="es-AR" sz="2400" dirty="0">
                <a:latin typeface="Verdana" pitchFamily="34" charset="0"/>
              </a:rPr>
              <a:t>, </a:t>
            </a:r>
            <a:endParaRPr lang="es-AR" sz="2400" dirty="0" smtClean="0">
              <a:latin typeface="Verdana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Google</a:t>
            </a:r>
            <a:r>
              <a:rPr lang="es-AR" sz="2400" dirty="0">
                <a:latin typeface="Verdana" pitchFamily="34" charset="0"/>
              </a:rPr>
              <a:t>, </a:t>
            </a:r>
            <a:endParaRPr lang="es-AR" sz="2400" dirty="0" smtClean="0">
              <a:latin typeface="Verdana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err="1" smtClean="0">
                <a:latin typeface="Verdana" pitchFamily="34" charset="0"/>
              </a:rPr>
              <a:t>Globant</a:t>
            </a:r>
            <a:r>
              <a:rPr lang="es-AR" sz="2400" dirty="0">
                <a:latin typeface="Verdana" pitchFamily="34" charset="0"/>
              </a:rPr>
              <a:t>, </a:t>
            </a:r>
            <a:endParaRPr lang="es-AR" sz="2400" dirty="0" smtClean="0">
              <a:latin typeface="Verdana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INVAP</a:t>
            </a:r>
            <a:r>
              <a:rPr lang="es-AR" sz="2400" dirty="0">
                <a:latin typeface="Verdana" pitchFamily="34" charset="0"/>
              </a:rPr>
              <a:t>,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FRONTEC</a:t>
            </a:r>
            <a:r>
              <a:rPr lang="es-AR" sz="2400" dirty="0">
                <a:latin typeface="Verdana" pitchFamily="34" charset="0"/>
              </a:rPr>
              <a:t>, </a:t>
            </a:r>
            <a:endParaRPr lang="es-AR" sz="2400" dirty="0" smtClean="0">
              <a:latin typeface="Verdana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err="1" smtClean="0">
                <a:latin typeface="Verdana" pitchFamily="34" charset="0"/>
              </a:rPr>
              <a:t>Satellogic</a:t>
            </a:r>
            <a:r>
              <a:rPr lang="es-AR" sz="2400" dirty="0">
                <a:latin typeface="Verdana" pitchFamily="34" charset="0"/>
              </a:rPr>
              <a:t>, </a:t>
            </a:r>
            <a:endParaRPr lang="es-AR" sz="2400" dirty="0" smtClean="0">
              <a:latin typeface="Verdana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FAR </a:t>
            </a:r>
            <a:r>
              <a:rPr lang="es-AR" sz="2400" dirty="0">
                <a:latin typeface="Verdana" pitchFamily="34" charset="0"/>
              </a:rPr>
              <a:t>(impresoras 3D</a:t>
            </a:r>
            <a:r>
              <a:rPr lang="es-AR" sz="2400" dirty="0" smtClean="0">
                <a:latin typeface="Verdana" pitchFamily="34" charset="0"/>
              </a:rPr>
              <a:t>),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ARSAT</a:t>
            </a:r>
            <a:r>
              <a:rPr lang="es-AR" sz="2400" dirty="0">
                <a:latin typeface="Verdana" pitchFamily="34" charset="0"/>
              </a:rPr>
              <a:t>, </a:t>
            </a:r>
            <a:endParaRPr lang="es-AR" sz="2400" dirty="0" smtClean="0">
              <a:latin typeface="Verdana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UBIOME</a:t>
            </a:r>
            <a:endParaRPr lang="es-AR" sz="2400" dirty="0">
              <a:latin typeface="Verdana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Todas las empresas del Polo IT La Plata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AR" sz="2400" dirty="0" smtClean="0">
                <a:latin typeface="Verdana" pitchFamily="34" charset="0"/>
              </a:rPr>
              <a:t>Auth0</a:t>
            </a:r>
          </a:p>
          <a:p>
            <a:pPr algn="just"/>
            <a:r>
              <a:rPr lang="es-AR" sz="2400" dirty="0" smtClean="0">
                <a:latin typeface="Verdana" pitchFamily="34" charset="0"/>
              </a:rPr>
              <a:t> 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21070386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1 Título"/>
          <p:cNvSpPr>
            <a:spLocks noGrp="1"/>
          </p:cNvSpPr>
          <p:nvPr>
            <p:ph type="title" idx="4294967295"/>
          </p:nvPr>
        </p:nvSpPr>
        <p:spPr/>
        <p:txBody>
          <a:bodyPr anchor="ctr">
            <a:normAutofit fontScale="90000"/>
          </a:bodyPr>
          <a:lstStyle/>
          <a:p>
            <a:pPr eaLnBrk="1" hangingPunct="1">
              <a:defRPr/>
            </a:pPr>
            <a:r>
              <a:rPr lang="es-AR" sz="2800" dirty="0" smtClean="0">
                <a:solidFill>
                  <a:schemeClr val="tx1"/>
                </a:solidFill>
              </a:rPr>
              <a:t>Evolución de una NEBT desde la idea de negocio hasta la constitución de la empresa</a:t>
            </a:r>
          </a:p>
        </p:txBody>
      </p:sp>
      <p:pic>
        <p:nvPicPr>
          <p:cNvPr id="14339" name="3 Marcador de gráfico" descr="http://www.madrimasd.org/Revista/revista31/images/Fig3AulaAbierta31_2.gif"/>
          <p:cNvPicPr>
            <a:picLocks noGrp="1"/>
          </p:cNvPicPr>
          <p:nvPr>
            <p:ph type="chart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71575" y="1771650"/>
            <a:ext cx="7008813" cy="2703513"/>
          </a:xfrm>
        </p:spPr>
      </p:pic>
    </p:spTree>
    <p:extLst>
      <p:ext uri="{BB962C8B-B14F-4D97-AF65-F5344CB8AC3E}">
        <p14:creationId xmlns:p14="http://schemas.microsoft.com/office/powerpoint/2010/main" val="39023389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1 Título"/>
          <p:cNvSpPr>
            <a:spLocks noGrp="1"/>
          </p:cNvSpPr>
          <p:nvPr>
            <p:ph type="title" idx="4294967295"/>
          </p:nvPr>
        </p:nvSpPr>
        <p:spPr/>
        <p:txBody>
          <a:bodyPr anchor="ctr">
            <a:normAutofit fontScale="90000"/>
          </a:bodyPr>
          <a:lstStyle/>
          <a:p>
            <a:pPr eaLnBrk="1" hangingPunct="1">
              <a:defRPr/>
            </a:pPr>
            <a:r>
              <a:rPr lang="es-AR" sz="3200" dirty="0" smtClean="0">
                <a:solidFill>
                  <a:schemeClr val="tx1"/>
                </a:solidFill>
              </a:rPr>
              <a:t>Ciclo de vida de las </a:t>
            </a:r>
            <a:r>
              <a:rPr lang="es-AR" sz="3200" dirty="0" err="1" smtClean="0">
                <a:solidFill>
                  <a:schemeClr val="tx1"/>
                </a:solidFill>
              </a:rPr>
              <a:t>EBTs</a:t>
            </a:r>
            <a:r>
              <a:rPr lang="es-AR" sz="3200" dirty="0" smtClean="0">
                <a:solidFill>
                  <a:schemeClr val="tx1"/>
                </a:solidFill>
              </a:rPr>
              <a:t> (curva B) y de las empresas tradicionales (curva A)</a:t>
            </a:r>
          </a:p>
        </p:txBody>
      </p:sp>
      <p:pic>
        <p:nvPicPr>
          <p:cNvPr id="15363" name="3 Marcador de gráfico" descr="http://www.madrimasd.org/Revista/revista31/images/Fig4AulaAbierta31_2.gif"/>
          <p:cNvPicPr>
            <a:picLocks noGrp="1"/>
          </p:cNvPicPr>
          <p:nvPr>
            <p:ph type="chart" idx="4294967295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31913" y="2133600"/>
            <a:ext cx="6264275" cy="4032250"/>
          </a:xfrm>
        </p:spPr>
      </p:pic>
    </p:spTree>
    <p:extLst>
      <p:ext uri="{BB962C8B-B14F-4D97-AF65-F5344CB8AC3E}">
        <p14:creationId xmlns:p14="http://schemas.microsoft.com/office/powerpoint/2010/main" val="38109051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1 Título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>
              <a:defRPr/>
            </a:pPr>
            <a:r>
              <a:rPr lang="es-AR" sz="3600" dirty="0" smtClean="0">
                <a:solidFill>
                  <a:schemeClr val="tx1"/>
                </a:solidFill>
              </a:rPr>
              <a:t>Beneficios de las </a:t>
            </a:r>
            <a:r>
              <a:rPr lang="es-AR" sz="3600" dirty="0" err="1" smtClean="0">
                <a:solidFill>
                  <a:schemeClr val="tx1"/>
                </a:solidFill>
              </a:rPr>
              <a:t>EBTs</a:t>
            </a:r>
            <a:endParaRPr lang="es-AR" sz="3600" dirty="0" smtClean="0">
              <a:solidFill>
                <a:schemeClr val="tx1"/>
              </a:solidFill>
            </a:endParaRPr>
          </a:p>
        </p:txBody>
      </p:sp>
      <p:sp>
        <p:nvSpPr>
          <p:cNvPr id="16387" name="3 Rectángulo"/>
          <p:cNvSpPr>
            <a:spLocks noChangeArrowheads="1"/>
          </p:cNvSpPr>
          <p:nvPr/>
        </p:nvSpPr>
        <p:spPr bwMode="auto">
          <a:xfrm>
            <a:off x="684213" y="2492375"/>
            <a:ext cx="7920037" cy="3602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s-AR" sz="2400">
                <a:latin typeface="Tahoma" pitchFamily="34" charset="0"/>
              </a:rPr>
              <a:t>Potenciar el tejido tecnológico y el desarrollo económico de las regiones, actuando como catalizador del cambio tecnológico;</a:t>
            </a:r>
          </a:p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s-AR" sz="2400">
                <a:latin typeface="Tahoma" pitchFamily="34" charset="0"/>
              </a:rPr>
              <a:t>Favorecer la creación de empleo de alta cualificación que aporte un valor añadido al entorno industrial</a:t>
            </a:r>
          </a:p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s-AR" sz="2400">
                <a:latin typeface="Tahoma" pitchFamily="34" charset="0"/>
              </a:rPr>
              <a:t>Fomentar la creación de empresas entre el personal investigador de las diversas instituciones de la región</a:t>
            </a:r>
          </a:p>
          <a:p>
            <a:pPr marL="342900" indent="-342900">
              <a:spcBef>
                <a:spcPct val="50000"/>
              </a:spcBef>
              <a:buFont typeface="Arial" charset="0"/>
              <a:buChar char="•"/>
            </a:pPr>
            <a:r>
              <a:rPr lang="es-AR" sz="2400">
                <a:latin typeface="Tahoma" pitchFamily="34" charset="0"/>
              </a:rPr>
              <a:t>Estrechar la relación ente universidades y empresas</a:t>
            </a:r>
          </a:p>
        </p:txBody>
      </p:sp>
    </p:spTree>
    <p:extLst>
      <p:ext uri="{BB962C8B-B14F-4D97-AF65-F5344CB8AC3E}">
        <p14:creationId xmlns:p14="http://schemas.microsoft.com/office/powerpoint/2010/main" val="33117467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33722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404</TotalTime>
  <Words>835</Words>
  <Application>Microsoft Office PowerPoint</Application>
  <PresentationFormat>Presentación en pantalla (4:3)</PresentationFormat>
  <Paragraphs>132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30" baseType="lpstr">
      <vt:lpstr>Arial</vt:lpstr>
      <vt:lpstr>Calibri</vt:lpstr>
      <vt:lpstr>Georgia</vt:lpstr>
      <vt:lpstr>Tahoma</vt:lpstr>
      <vt:lpstr>Times New Roman</vt:lpstr>
      <vt:lpstr>Verdana</vt:lpstr>
      <vt:lpstr>Wingdings</vt:lpstr>
      <vt:lpstr>Wingdings 2</vt:lpstr>
      <vt:lpstr>Civil</vt:lpstr>
      <vt:lpstr>Economía del Conocimiento, innovación, y Creación de empresas de Base Tecnológica</vt:lpstr>
      <vt:lpstr>Bibliografia Recomendada</vt:lpstr>
      <vt:lpstr>Ciclo de vida del producto</vt:lpstr>
      <vt:lpstr>Presentación de PowerPoint</vt:lpstr>
      <vt:lpstr>Presentación de PowerPoint</vt:lpstr>
      <vt:lpstr>Invento o Innovación</vt:lpstr>
      <vt:lpstr>Innovación </vt:lpstr>
      <vt:lpstr>De que les voy a hablar Hoy</vt:lpstr>
      <vt:lpstr>Presentación de PowerPoint</vt:lpstr>
      <vt:lpstr> Empresas Dinámicas </vt:lpstr>
      <vt:lpstr>El Sistema de Desarrollo Emprendedor</vt:lpstr>
      <vt:lpstr>El Sistema de Desarrollo Emprendedor</vt:lpstr>
      <vt:lpstr>Presentación de PowerPoint</vt:lpstr>
      <vt:lpstr>Presentación de PowerPoint</vt:lpstr>
      <vt:lpstr>Etapas iniciales de vida de las EBTs</vt:lpstr>
      <vt:lpstr>Qué son las EBTs?</vt:lpstr>
      <vt:lpstr>Ejemplos?</vt:lpstr>
      <vt:lpstr>Evolución de una NEBT desde la idea de negocio hasta la constitución de la empresa</vt:lpstr>
      <vt:lpstr>Ciclo de vida de las EBTs (curva B) y de las empresas tradicionales (curva A)</vt:lpstr>
      <vt:lpstr>Beneficios de las EBTs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PyMEs de Software y su dinamica</dc:title>
  <dc:creator>Inspiron</dc:creator>
  <cp:lastModifiedBy>Fede Walas</cp:lastModifiedBy>
  <cp:revision>43</cp:revision>
  <cp:lastPrinted>2013-03-24T23:07:09Z</cp:lastPrinted>
  <dcterms:created xsi:type="dcterms:W3CDTF">2012-11-22T04:01:49Z</dcterms:created>
  <dcterms:modified xsi:type="dcterms:W3CDTF">2025-03-28T20:02:41Z</dcterms:modified>
</cp:coreProperties>
</file>