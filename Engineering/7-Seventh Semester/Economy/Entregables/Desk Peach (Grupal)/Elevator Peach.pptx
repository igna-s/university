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6858000" cy="9144000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6" d="100"/>
          <a:sy n="46" d="100"/>
        </p:scale>
        <p:origin x="756" y="3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2.svg"/><Relationship Id="rId4" Type="http://schemas.openxmlformats.org/officeDocument/2006/relationships/image" Target="../media/image6.png"/><Relationship Id="rId9" Type="http://schemas.openxmlformats.org/officeDocument/2006/relationships/image" Target="../media/image1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sv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sv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427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870986" y="2097248"/>
            <a:ext cx="16649700" cy="5418979"/>
            <a:chOff x="0" y="1809115"/>
            <a:chExt cx="22199600" cy="6167100"/>
          </a:xfrm>
        </p:grpSpPr>
        <p:sp>
          <p:nvSpPr>
            <p:cNvPr id="4" name="TextBox 4"/>
            <p:cNvSpPr txBox="1"/>
            <p:nvPr/>
          </p:nvSpPr>
          <p:spPr>
            <a:xfrm>
              <a:off x="0" y="2138435"/>
              <a:ext cx="22199600" cy="583778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9955"/>
                </a:lnSpc>
              </a:pPr>
              <a:r>
                <a:rPr lang="es-ES" sz="6600" dirty="0" smtClean="0">
                  <a:solidFill>
                    <a:schemeClr val="bg1"/>
                  </a:solidFill>
                  <a:ea typeface="Arita Buri Bold" panose="020B0604020202020204"/>
                </a:rPr>
                <a:t>¿Que la </a:t>
              </a:r>
              <a:r>
                <a:rPr lang="es-ES" sz="6600" dirty="0">
                  <a:solidFill>
                    <a:schemeClr val="bg1"/>
                  </a:solidFill>
                  <a:ea typeface="Arita Buri Bold" panose="020B0604020202020204"/>
                </a:rPr>
                <a:t>próxima revolución verde no viniera de la tierra, sino desde el cielo, </a:t>
              </a:r>
              <a:r>
                <a:rPr lang="es-ES" sz="6600" dirty="0" smtClean="0">
                  <a:solidFill>
                    <a:schemeClr val="bg1"/>
                  </a:solidFill>
                  <a:ea typeface="Arita Buri Bold" panose="020B0604020202020204"/>
                </a:rPr>
                <a:t>transformando </a:t>
              </a:r>
              <a:r>
                <a:rPr lang="es-ES" sz="6600" dirty="0">
                  <a:solidFill>
                    <a:schemeClr val="bg1"/>
                  </a:solidFill>
                  <a:ea typeface="Arita Buri Bold" panose="020B0604020202020204"/>
                </a:rPr>
                <a:t>cómo cultivamos, cuidamos y alimentamos al mundo?</a:t>
              </a:r>
              <a:endParaRPr lang="es-AR" sz="6600" b="1" spc="-96" noProof="0" dirty="0">
                <a:solidFill>
                  <a:schemeClr val="bg1"/>
                </a:solidFill>
                <a:latin typeface="Arita Buri Bold"/>
                <a:ea typeface="Arita Buri Bold"/>
                <a:cs typeface="Arita Buri Bold"/>
                <a:sym typeface="Arita Buri Bold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809115"/>
              <a:ext cx="14519467" cy="6586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40"/>
                </a:lnSpc>
                <a:spcBef>
                  <a:spcPct val="0"/>
                </a:spcBef>
              </a:pPr>
              <a:r>
                <a:rPr lang="es-AR" sz="3200" b="1" noProof="0" dirty="0">
                  <a:solidFill>
                    <a:srgbClr val="FFFFFF"/>
                  </a:solidFill>
                  <a:latin typeface="Arita Buri Bold"/>
                  <a:ea typeface="Arita Buri Bold"/>
                  <a:cs typeface="Arita Buri Bold"/>
                  <a:sym typeface="Arita Buri Bold"/>
                </a:rPr>
                <a:t>¿Te imaginas?</a:t>
              </a:r>
              <a:endParaRPr lang="es-AR" sz="3200" b="1" u="none" noProof="0" dirty="0">
                <a:solidFill>
                  <a:srgbClr val="FFFFFF"/>
                </a:solidFill>
                <a:latin typeface="Arita Buri Bold"/>
                <a:ea typeface="Arita Buri Bold"/>
                <a:cs typeface="Arita Buri Bold"/>
                <a:sym typeface="Arita Buri Bold"/>
              </a:endParaRPr>
            </a:p>
          </p:txBody>
        </p:sp>
      </p:grpSp>
      <p:sp>
        <p:nvSpPr>
          <p:cNvPr id="6" name="Freeform 6"/>
          <p:cNvSpPr/>
          <p:nvPr/>
        </p:nvSpPr>
        <p:spPr>
          <a:xfrm rot="662391">
            <a:off x="13955259" y="6535363"/>
            <a:ext cx="3271075" cy="3390418"/>
          </a:xfrm>
          <a:custGeom>
            <a:avLst/>
            <a:gdLst/>
            <a:ahLst/>
            <a:cxnLst/>
            <a:rect l="l" t="t" r="r" b="b"/>
            <a:pathLst>
              <a:path w="3271075" h="3390418">
                <a:moveTo>
                  <a:pt x="0" y="0"/>
                </a:moveTo>
                <a:lnTo>
                  <a:pt x="3271075" y="0"/>
                </a:lnTo>
                <a:lnTo>
                  <a:pt x="3271075" y="3390418"/>
                </a:lnTo>
                <a:lnTo>
                  <a:pt x="0" y="33904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AR" noProof="0" dirty="0"/>
          </a:p>
        </p:txBody>
      </p:sp>
      <p:sp>
        <p:nvSpPr>
          <p:cNvPr id="7" name="Freeform 7"/>
          <p:cNvSpPr/>
          <p:nvPr/>
        </p:nvSpPr>
        <p:spPr>
          <a:xfrm>
            <a:off x="13878583" y="7333374"/>
            <a:ext cx="3424426" cy="2148862"/>
          </a:xfrm>
          <a:custGeom>
            <a:avLst/>
            <a:gdLst/>
            <a:ahLst/>
            <a:cxnLst/>
            <a:rect l="l" t="t" r="r" b="b"/>
            <a:pathLst>
              <a:path w="3424426" h="2148862">
                <a:moveTo>
                  <a:pt x="0" y="0"/>
                </a:moveTo>
                <a:lnTo>
                  <a:pt x="3424426" y="0"/>
                </a:lnTo>
                <a:lnTo>
                  <a:pt x="3424426" y="2148862"/>
                </a:lnTo>
                <a:lnTo>
                  <a:pt x="0" y="21488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AR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60000"/>
            <a:lumOff val="4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EC502B71-86F8-8F9B-30CE-B861B74FD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7">
            <a:extLst>
              <a:ext uri="{FF2B5EF4-FFF2-40B4-BE49-F238E27FC236}">
                <a16:creationId xmlns:a16="http://schemas.microsoft.com/office/drawing/2014/main" xmlns="" id="{5C96B7BE-6088-5EFD-F4CA-6B6BCEF1C865}"/>
              </a:ext>
            </a:extLst>
          </p:cNvPr>
          <p:cNvSpPr/>
          <p:nvPr/>
        </p:nvSpPr>
        <p:spPr>
          <a:xfrm>
            <a:off x="5656701" y="1571796"/>
            <a:ext cx="7136543" cy="4111180"/>
          </a:xfrm>
          <a:custGeom>
            <a:avLst/>
            <a:gdLst/>
            <a:ahLst/>
            <a:cxnLst/>
            <a:rect l="l" t="t" r="r" b="b"/>
            <a:pathLst>
              <a:path w="7643684" h="9023208">
                <a:moveTo>
                  <a:pt x="0" y="0"/>
                </a:moveTo>
                <a:lnTo>
                  <a:pt x="7643684" y="0"/>
                </a:lnTo>
                <a:lnTo>
                  <a:pt x="7643684" y="9023207"/>
                </a:lnTo>
                <a:lnTo>
                  <a:pt x="0" y="90232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AR" noProof="0" dirty="0"/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xmlns="" id="{587C197F-9284-AC2C-E2D8-C29E64F28D90}"/>
              </a:ext>
            </a:extLst>
          </p:cNvPr>
          <p:cNvGrpSpPr/>
          <p:nvPr/>
        </p:nvGrpSpPr>
        <p:grpSpPr>
          <a:xfrm>
            <a:off x="6253597" y="2281507"/>
            <a:ext cx="5995266" cy="2527318"/>
            <a:chOff x="-633057" y="-787904"/>
            <a:chExt cx="7993687" cy="5696720"/>
          </a:xfrm>
        </p:grpSpPr>
        <p:sp>
          <p:nvSpPr>
            <p:cNvPr id="9" name="TextBox 9">
              <a:extLst>
                <a:ext uri="{FF2B5EF4-FFF2-40B4-BE49-F238E27FC236}">
                  <a16:creationId xmlns:a16="http://schemas.microsoft.com/office/drawing/2014/main" xmlns="" id="{D6E20FFF-9963-857B-74BD-C053C5D281D6}"/>
                </a:ext>
              </a:extLst>
            </p:cNvPr>
            <p:cNvSpPr txBox="1"/>
            <p:nvPr/>
          </p:nvSpPr>
          <p:spPr>
            <a:xfrm>
              <a:off x="35010" y="-787904"/>
              <a:ext cx="6657557" cy="12302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603"/>
                </a:lnSpc>
              </a:pPr>
              <a:r>
                <a:rPr lang="es-AR" sz="3541" b="1" u="none" noProof="0" dirty="0" smtClean="0">
                  <a:solidFill>
                    <a:srgbClr val="FFFFFF"/>
                  </a:solidFill>
                  <a:latin typeface="Arita Buri Bold"/>
                  <a:ea typeface="Arita Buri Bold"/>
                  <a:cs typeface="Arita Buri Bold"/>
                  <a:sym typeface="Arita Buri Bold"/>
                </a:rPr>
                <a:t>Problemática</a:t>
              </a:r>
              <a:endParaRPr lang="es-AR" sz="3541" b="1" u="none" noProof="0" dirty="0">
                <a:solidFill>
                  <a:srgbClr val="FFFFFF"/>
                </a:solidFill>
                <a:latin typeface="Arita Buri Bold"/>
                <a:ea typeface="Arita Buri Bold"/>
                <a:cs typeface="Arita Buri Bold"/>
                <a:sym typeface="Arita Buri Bold"/>
              </a:endParaRPr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xmlns="" id="{234243D7-0200-DF42-B0AC-4187E6E687B7}"/>
                </a:ext>
              </a:extLst>
            </p:cNvPr>
            <p:cNvSpPr txBox="1"/>
            <p:nvPr/>
          </p:nvSpPr>
          <p:spPr>
            <a:xfrm>
              <a:off x="0" y="4326401"/>
              <a:ext cx="6657556" cy="4278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578"/>
                </a:lnSpc>
              </a:pPr>
              <a:endParaRPr lang="es-AR" sz="1841" u="none" noProof="0" dirty="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endParaRPr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xmlns="" id="{9A959009-CEAE-1635-AD31-506926F148F0}"/>
                </a:ext>
              </a:extLst>
            </p:cNvPr>
            <p:cNvSpPr txBox="1"/>
            <p:nvPr/>
          </p:nvSpPr>
          <p:spPr>
            <a:xfrm>
              <a:off x="-633057" y="1578834"/>
              <a:ext cx="7993687" cy="332998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fontAlgn="base"/>
              <a:r>
                <a:rPr lang="es-ES" sz="2400" dirty="0">
                  <a:solidFill>
                    <a:schemeClr val="bg1"/>
                  </a:solidFill>
                  <a:ea typeface="Arita Buri Bold" panose="020B0604020202020204"/>
                </a:rPr>
                <a:t>"La agricultura parece sencilla cuando tu arado es un lápiz y estás a mil millas del campo." </a:t>
              </a:r>
              <a:endParaRPr lang="es-ES" sz="2400" dirty="0" smtClean="0">
                <a:solidFill>
                  <a:schemeClr val="bg1"/>
                </a:solidFill>
                <a:ea typeface="Arita Buri Bold" panose="020B0604020202020204"/>
              </a:endParaRPr>
            </a:p>
            <a:p>
              <a:pPr fontAlgn="base"/>
              <a:r>
                <a:rPr lang="es-ES" sz="2400" dirty="0" smtClean="0">
                  <a:solidFill>
                    <a:schemeClr val="bg1"/>
                  </a:solidFill>
                  <a:ea typeface="Arita Buri Bold" panose="020B0604020202020204"/>
                </a:rPr>
                <a:t>– </a:t>
              </a:r>
              <a:r>
                <a:rPr lang="es-ES" sz="2400" dirty="0">
                  <a:solidFill>
                    <a:schemeClr val="bg1"/>
                  </a:solidFill>
                  <a:ea typeface="Arita Buri Bold" panose="020B0604020202020204"/>
                </a:rPr>
                <a:t>Dwight D. </a:t>
              </a:r>
              <a:r>
                <a:rPr lang="es-ES" sz="2400" dirty="0" smtClean="0">
                  <a:solidFill>
                    <a:schemeClr val="bg1"/>
                  </a:solidFill>
                  <a:ea typeface="Arita Buri Bold" panose="020B0604020202020204"/>
                </a:rPr>
                <a:t>Eisenhower (34° presidente de E.E.U.U.)</a:t>
              </a:r>
              <a:endParaRPr lang="es-ES" sz="2400" dirty="0">
                <a:solidFill>
                  <a:schemeClr val="bg1"/>
                </a:solidFill>
                <a:ea typeface="Arita Buri Bold" panose="020B0604020202020204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xmlns="" id="{3A11CC34-BA4D-B20C-676C-28E736B272D0}"/>
              </a:ext>
            </a:extLst>
          </p:cNvPr>
          <p:cNvGrpSpPr/>
          <p:nvPr/>
        </p:nvGrpSpPr>
        <p:grpSpPr>
          <a:xfrm>
            <a:off x="1292714" y="4740235"/>
            <a:ext cx="4416502" cy="3590001"/>
            <a:chOff x="840197" y="4862267"/>
            <a:chExt cx="3765195" cy="3006717"/>
          </a:xfrm>
        </p:grpSpPr>
        <p:sp>
          <p:nvSpPr>
            <p:cNvPr id="14" name="Freeform 2">
              <a:extLst>
                <a:ext uri="{FF2B5EF4-FFF2-40B4-BE49-F238E27FC236}">
                  <a16:creationId xmlns:a16="http://schemas.microsoft.com/office/drawing/2014/main" xmlns="" id="{73418A7B-3720-A498-E4EA-5BF5CB79612B}"/>
                </a:ext>
              </a:extLst>
            </p:cNvPr>
            <p:cNvSpPr/>
            <p:nvPr/>
          </p:nvSpPr>
          <p:spPr>
            <a:xfrm rot="16200001">
              <a:off x="1219436" y="4483028"/>
              <a:ext cx="3006717" cy="3765195"/>
            </a:xfrm>
            <a:custGeom>
              <a:avLst/>
              <a:gdLst/>
              <a:ahLst/>
              <a:cxnLst/>
              <a:rect l="l" t="t" r="r" b="b"/>
              <a:pathLst>
                <a:path w="2811681" h="3319129">
                  <a:moveTo>
                    <a:pt x="0" y="0"/>
                  </a:moveTo>
                  <a:lnTo>
                    <a:pt x="2811681" y="0"/>
                  </a:lnTo>
                  <a:lnTo>
                    <a:pt x="2811681" y="3319130"/>
                  </a:lnTo>
                  <a:lnTo>
                    <a:pt x="0" y="33191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0"/>
                <a:extLst>
                  <a:ext uri="{96DAC541-7B7A-43D3-8B79-37D633B846F1}">
                    <asvg:svgBlip xmlns:asvg="http://schemas.microsoft.com/office/drawing/2016/SVG/main" xmlns="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AR" noProof="0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xmlns="" id="{5870116A-8F8B-BC56-1890-09D503E8CCD2}"/>
                </a:ext>
              </a:extLst>
            </p:cNvPr>
            <p:cNvSpPr txBox="1"/>
            <p:nvPr/>
          </p:nvSpPr>
          <p:spPr>
            <a:xfrm>
              <a:off x="1337930" y="5728614"/>
              <a:ext cx="2988919" cy="1237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0" lang="es-US" altLang="es-US" sz="24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HK Grotesk Light" panose="020B0604020202020204" charset="0"/>
                </a:rPr>
                <a:t> </a:t>
              </a:r>
              <a:r>
                <a:rPr kumimoji="0" lang="es-US" altLang="es-US" sz="2400" b="1" i="0" u="none" strike="noStrike" cap="none" normalizeH="0" baseline="0" dirty="0">
                  <a:ln>
                    <a:noFill/>
                  </a:ln>
                  <a:solidFill>
                    <a:srgbClr val="FFC000"/>
                  </a:solidFill>
                  <a:effectLst/>
                  <a:latin typeface="HK Grotesk Light" panose="020B0604020202020204" charset="0"/>
                </a:rPr>
                <a:t>Pérdida de tiempo y recursos </a:t>
              </a:r>
              <a:r>
                <a:rPr kumimoji="0" lang="es-US" altLang="es-US" sz="24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HK Grotesk Light" panose="020B0604020202020204" charset="0"/>
                </a:rPr>
                <a:t>por decisiones poco precisas.</a:t>
              </a:r>
            </a:p>
            <a:p>
              <a:endParaRPr lang="es-US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xmlns="" id="{D019B253-C82C-7C76-A79B-CBCA881643E1}"/>
              </a:ext>
            </a:extLst>
          </p:cNvPr>
          <p:cNvGrpSpPr/>
          <p:nvPr/>
        </p:nvGrpSpPr>
        <p:grpSpPr>
          <a:xfrm>
            <a:off x="6657212" y="5959178"/>
            <a:ext cx="4904950" cy="3608702"/>
            <a:chOff x="5029201" y="6438900"/>
            <a:chExt cx="3319129" cy="2811681"/>
          </a:xfrm>
        </p:grpSpPr>
        <p:sp>
          <p:nvSpPr>
            <p:cNvPr id="15" name="Freeform 2">
              <a:extLst>
                <a:ext uri="{FF2B5EF4-FFF2-40B4-BE49-F238E27FC236}">
                  <a16:creationId xmlns:a16="http://schemas.microsoft.com/office/drawing/2014/main" xmlns="" id="{EA7C2ED5-75C7-019D-58B7-A7269C19BE63}"/>
                </a:ext>
              </a:extLst>
            </p:cNvPr>
            <p:cNvSpPr>
              <a:spLocks/>
            </p:cNvSpPr>
            <p:nvPr/>
          </p:nvSpPr>
          <p:spPr>
            <a:xfrm rot="16200001">
              <a:off x="5282925" y="6185176"/>
              <a:ext cx="2811681" cy="3319129"/>
            </a:xfrm>
            <a:custGeom>
              <a:avLst/>
              <a:gdLst/>
              <a:ahLst/>
              <a:cxnLst/>
              <a:rect l="l" t="t" r="r" b="b"/>
              <a:pathLst>
                <a:path w="2811681" h="3319129">
                  <a:moveTo>
                    <a:pt x="0" y="0"/>
                  </a:moveTo>
                  <a:lnTo>
                    <a:pt x="2811681" y="0"/>
                  </a:lnTo>
                  <a:lnTo>
                    <a:pt x="2811681" y="3319130"/>
                  </a:lnTo>
                  <a:lnTo>
                    <a:pt x="0" y="33191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0"/>
                <a:extLst>
                  <a:ext uri="{96DAC541-7B7A-43D3-8B79-37D633B846F1}">
                    <asvg:svgBlip xmlns:asvg="http://schemas.microsoft.com/office/drawing/2016/SVG/main" xmlns="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AR" noProof="0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xmlns="" id="{D18FA616-D640-8845-E12B-44A4FC4B40B1}"/>
                </a:ext>
              </a:extLst>
            </p:cNvPr>
            <p:cNvSpPr txBox="1">
              <a:spLocks/>
            </p:cNvSpPr>
            <p:nvPr/>
          </p:nvSpPr>
          <p:spPr>
            <a:xfrm>
              <a:off x="5428361" y="7173426"/>
              <a:ext cx="2421936" cy="12229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r>
                <a:rPr kumimoji="0" lang="es-US" altLang="es-US" sz="24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HK Grotesk Light" panose="020B0604020202020204" charset="0"/>
                </a:rPr>
                <a:t>Fertilización y fumigación generalizadas: </a:t>
              </a:r>
              <a:r>
                <a:rPr kumimoji="0" lang="es-US" altLang="es-US" sz="2400" b="1" i="0" u="none" strike="noStrike" cap="none" normalizeH="0" baseline="0" dirty="0">
                  <a:ln>
                    <a:noFill/>
                  </a:ln>
                  <a:solidFill>
                    <a:srgbClr val="FFC000"/>
                  </a:solidFill>
                  <a:effectLst/>
                  <a:latin typeface="HK Grotesk Light" panose="020B0604020202020204" charset="0"/>
                </a:rPr>
                <a:t>ineficientes y caras</a:t>
              </a:r>
              <a:r>
                <a:rPr kumimoji="0" lang="es-US" altLang="es-US" sz="24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HK Grotesk Light" panose="020B0604020202020204" charset="0"/>
                </a:rPr>
                <a:t>.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xmlns="" id="{94666B2F-285C-E3F3-6840-FACC8EA192A1}"/>
              </a:ext>
            </a:extLst>
          </p:cNvPr>
          <p:cNvGrpSpPr/>
          <p:nvPr/>
        </p:nvGrpSpPr>
        <p:grpSpPr>
          <a:xfrm>
            <a:off x="12510160" y="4550440"/>
            <a:ext cx="5007765" cy="3558223"/>
            <a:chOff x="13258801" y="5459176"/>
            <a:chExt cx="4422800" cy="3124201"/>
          </a:xfrm>
        </p:grpSpPr>
        <p:sp>
          <p:nvSpPr>
            <p:cNvPr id="17" name="Freeform 2">
              <a:extLst>
                <a:ext uri="{FF2B5EF4-FFF2-40B4-BE49-F238E27FC236}">
                  <a16:creationId xmlns:a16="http://schemas.microsoft.com/office/drawing/2014/main" xmlns="" id="{7E0987FC-11F2-9891-2B5E-C47DB2DB3CF1}"/>
                </a:ext>
              </a:extLst>
            </p:cNvPr>
            <p:cNvSpPr/>
            <p:nvPr/>
          </p:nvSpPr>
          <p:spPr>
            <a:xfrm rot="16200001">
              <a:off x="13908100" y="4809877"/>
              <a:ext cx="3124201" cy="4422800"/>
            </a:xfrm>
            <a:custGeom>
              <a:avLst/>
              <a:gdLst/>
              <a:ahLst/>
              <a:cxnLst/>
              <a:rect l="l" t="t" r="r" b="b"/>
              <a:pathLst>
                <a:path w="2811681" h="3319129">
                  <a:moveTo>
                    <a:pt x="0" y="0"/>
                  </a:moveTo>
                  <a:lnTo>
                    <a:pt x="2811681" y="0"/>
                  </a:lnTo>
                  <a:lnTo>
                    <a:pt x="2811681" y="3319130"/>
                  </a:lnTo>
                  <a:lnTo>
                    <a:pt x="0" y="33191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0"/>
                <a:extLst>
                  <a:ext uri="{96DAC541-7B7A-43D3-8B79-37D633B846F1}">
                    <asvg:svgBlip xmlns:asvg="http://schemas.microsoft.com/office/drawing/2016/SVG/main" xmlns="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AR" noProof="0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xmlns="" id="{FDE3176E-4F5D-5F13-8A12-C57B5D37C670}"/>
                </a:ext>
              </a:extLst>
            </p:cNvPr>
            <p:cNvSpPr txBox="1"/>
            <p:nvPr/>
          </p:nvSpPr>
          <p:spPr>
            <a:xfrm>
              <a:off x="14005073" y="6066885"/>
              <a:ext cx="3180271" cy="22699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0" lang="es-US" altLang="es-US" sz="24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HK Grotesk Light" panose="020B0604020202020204" charset="0"/>
                </a:rPr>
                <a:t>El campo demanda precisión y </a:t>
              </a:r>
              <a:r>
                <a:rPr kumimoji="0" lang="es-US" altLang="es-US" sz="2400" b="1" i="0" u="none" strike="noStrike" cap="none" normalizeH="0" baseline="0" dirty="0">
                  <a:ln>
                    <a:noFill/>
                  </a:ln>
                  <a:solidFill>
                    <a:srgbClr val="FFC000"/>
                  </a:solidFill>
                  <a:effectLst/>
                  <a:latin typeface="HK Grotesk Light" panose="020B0604020202020204" charset="0"/>
                </a:rPr>
                <a:t>sustentabilidad</a:t>
              </a:r>
              <a:r>
                <a:rPr kumimoji="0" lang="es-US" altLang="es-US" sz="24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HK Grotesk Light" panose="020B0604020202020204" charset="0"/>
                </a:rPr>
                <a:t>... pero la mayoría sigue con métodos del milenio pasado.</a:t>
              </a:r>
            </a:p>
            <a:p>
              <a:endParaRPr lang="es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798360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3B8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>
          <a:xfrm rot="-1739024">
            <a:off x="474558" y="1478591"/>
            <a:ext cx="8229971" cy="8229971"/>
          </a:xfrm>
          <a:custGeom>
            <a:avLst/>
            <a:gdLst/>
            <a:ahLst/>
            <a:cxnLst/>
            <a:rect l="l" t="t" r="r" b="b"/>
            <a:pathLst>
              <a:path w="8229971" h="8229971">
                <a:moveTo>
                  <a:pt x="0" y="0"/>
                </a:moveTo>
                <a:lnTo>
                  <a:pt x="8229971" y="0"/>
                </a:lnTo>
                <a:lnTo>
                  <a:pt x="8229971" y="8229972"/>
                </a:lnTo>
                <a:lnTo>
                  <a:pt x="0" y="82299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AR" noProof="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xmlns="" id="{1C227915-B9FE-CB93-D919-39A392D0CFA6}"/>
              </a:ext>
            </a:extLst>
          </p:cNvPr>
          <p:cNvGrpSpPr/>
          <p:nvPr/>
        </p:nvGrpSpPr>
        <p:grpSpPr>
          <a:xfrm>
            <a:off x="9144000" y="12102"/>
            <a:ext cx="8915400" cy="9081944"/>
            <a:chOff x="9144000" y="12102"/>
            <a:chExt cx="8458201" cy="9081944"/>
          </a:xfrm>
        </p:grpSpPr>
        <p:grpSp>
          <p:nvGrpSpPr>
            <p:cNvPr id="2" name="Group 2"/>
            <p:cNvGrpSpPr/>
            <p:nvPr/>
          </p:nvGrpSpPr>
          <p:grpSpPr>
            <a:xfrm>
              <a:off x="9144000" y="663755"/>
              <a:ext cx="8458201" cy="8430291"/>
              <a:chOff x="252837" y="150128"/>
              <a:chExt cx="8892143" cy="11240388"/>
            </a:xfrm>
          </p:grpSpPr>
          <p:sp>
            <p:nvSpPr>
              <p:cNvPr id="3" name="TextBox 3"/>
              <p:cNvSpPr txBox="1"/>
              <p:nvPr/>
            </p:nvSpPr>
            <p:spPr>
              <a:xfrm>
                <a:off x="252837" y="150128"/>
                <a:ext cx="6393645" cy="1379455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0" lvl="0" indent="0" algn="l">
                  <a:lnSpc>
                    <a:spcPts val="7860"/>
                  </a:lnSpc>
                </a:pPr>
                <a:r>
                  <a:rPr lang="es-AR" sz="7145" b="1" dirty="0">
                    <a:solidFill>
                      <a:srgbClr val="264C3D"/>
                    </a:solidFill>
                    <a:latin typeface="Arita Buri Bold"/>
                    <a:ea typeface="Arita Buri Bold"/>
                    <a:cs typeface="Arita Buri Bold"/>
                    <a:sym typeface="Arita Buri Bold"/>
                  </a:rPr>
                  <a:t>¿</a:t>
                </a:r>
                <a:r>
                  <a:rPr lang="es-AR" sz="7145" b="1" u="none" noProof="0" dirty="0">
                    <a:solidFill>
                      <a:srgbClr val="264C3D"/>
                    </a:solidFill>
                    <a:latin typeface="Arita Buri Bold"/>
                    <a:ea typeface="Arita Buri Bold"/>
                    <a:cs typeface="Arita Buri Bold"/>
                    <a:sym typeface="Arita Buri Bold"/>
                  </a:rPr>
                  <a:t>La solución?</a:t>
                </a:r>
              </a:p>
            </p:txBody>
          </p:sp>
          <p:sp>
            <p:nvSpPr>
              <p:cNvPr id="4" name="TextBox 4"/>
              <p:cNvSpPr txBox="1"/>
              <p:nvPr/>
            </p:nvSpPr>
            <p:spPr>
              <a:xfrm>
                <a:off x="341707" y="1774930"/>
                <a:ext cx="8714405" cy="1301127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>
                  <a:lnSpc>
                    <a:spcPts val="3839"/>
                  </a:lnSpc>
                  <a:spcBef>
                    <a:spcPct val="0"/>
                  </a:spcBef>
                </a:pPr>
                <a:r>
                  <a:rPr kumimoji="0" lang="es-US" altLang="es-US" sz="3200" b="1" i="1" u="none" strike="noStrike" cap="none" normalizeH="0" baseline="0" dirty="0" smtClean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ta Buri Bold" panose="020B0604020202020204" charset="-127"/>
                    <a:ea typeface="Arita Buri Bold" panose="020B0604020202020204" charset="-127"/>
                  </a:rPr>
                  <a:t>Drones </a:t>
                </a:r>
                <a:r>
                  <a:rPr kumimoji="0" lang="es-US" altLang="es-US" sz="3200" b="1" i="1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ta Buri Bold" panose="020B0604020202020204" charset="-127"/>
                    <a:ea typeface="Arita Buri Bold" panose="020B0604020202020204" charset="-127"/>
                  </a:rPr>
                  <a:t>que piensan y actúan por </a:t>
                </a:r>
                <a:r>
                  <a:rPr kumimoji="0" lang="es-US" altLang="es-US" sz="3200" b="1" i="1" u="none" strike="noStrike" cap="none" normalizeH="0" baseline="0" dirty="0" smtClean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ta Buri Bold" panose="020B0604020202020204" charset="-127"/>
                    <a:ea typeface="Arita Buri Bold" panose="020B0604020202020204" charset="-127"/>
                  </a:rPr>
                  <a:t>vos</a:t>
                </a:r>
                <a:endParaRPr kumimoji="0" lang="es-US" altLang="es-US" sz="3200" b="1" i="1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ta Buri Bold" panose="020B0604020202020204" charset="-127"/>
                  <a:ea typeface="Arita Buri Bold" panose="020B0604020202020204" charset="-127"/>
                </a:endParaRPr>
              </a:p>
              <a:p>
                <a:pPr marL="0" lvl="0" indent="0" algn="l">
                  <a:lnSpc>
                    <a:spcPts val="3839"/>
                  </a:lnSpc>
                  <a:spcBef>
                    <a:spcPct val="0"/>
                  </a:spcBef>
                </a:pPr>
                <a:endParaRPr lang="es-AR" sz="3199" b="1" u="none" noProof="0" dirty="0">
                  <a:solidFill>
                    <a:srgbClr val="FFFFFF"/>
                  </a:solidFill>
                  <a:latin typeface="Arita Buri Bold"/>
                  <a:ea typeface="Arita Buri Bold"/>
                  <a:cs typeface="Arita Buri Bold"/>
                  <a:sym typeface="Arita Buri Bold"/>
                </a:endParaRPr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252838" y="2772772"/>
                <a:ext cx="8892142" cy="8617744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0" marR="0" lvl="0" indent="0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s-US" altLang="es-US" sz="2800" b="0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ta Buri Bold" panose="020B0604020202020204" charset="-127"/>
                    <a:ea typeface="Arita Buri Bold" panose="020B0604020202020204" charset="-127"/>
                  </a:rPr>
                  <a:t/>
                </a:r>
                <a:br>
                  <a:rPr kumimoji="0" lang="es-US" altLang="es-US" sz="2800" b="0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ta Buri Bold" panose="020B0604020202020204" charset="-127"/>
                    <a:ea typeface="Arita Buri Bold" panose="020B0604020202020204" charset="-127"/>
                  </a:rPr>
                </a:br>
                <a:r>
                  <a:rPr kumimoji="0" lang="es-US" altLang="es-US" sz="28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ta Buri Bold" panose="020B0604020202020204" charset="-127"/>
                    <a:ea typeface="Arita Buri Bold" panose="020B0604020202020204" charset="-127"/>
                  </a:rPr>
                  <a:t>Nos comprometemos con </a:t>
                </a:r>
                <a:r>
                  <a:rPr lang="es-US" altLang="es-US" sz="2800" b="1" dirty="0">
                    <a:solidFill>
                      <a:schemeClr val="bg1"/>
                    </a:solidFill>
                    <a:latin typeface="Arita Buri Bold" panose="020B0604020202020204" charset="-127"/>
                    <a:ea typeface="Arita Buri Bold" panose="020B0604020202020204" charset="-127"/>
                  </a:rPr>
                  <a:t>su campo y el medioambiente </a:t>
                </a:r>
                <a:r>
                  <a:rPr lang="es-US" altLang="es-US" sz="2800" b="1" dirty="0" smtClean="0">
                    <a:solidFill>
                      <a:schemeClr val="bg1"/>
                    </a:solidFill>
                    <a:latin typeface="Arita Buri Bold" panose="020B0604020202020204" charset="-127"/>
                    <a:ea typeface="Arita Buri Bold" panose="020B0604020202020204" charset="-127"/>
                  </a:rPr>
                  <a:t>diseñando un sistema de</a:t>
                </a:r>
                <a:r>
                  <a:rPr kumimoji="0" lang="es-US" altLang="es-US" sz="2800" b="1" i="0" u="none" strike="noStrike" cap="none" normalizeH="0" baseline="0" dirty="0" smtClean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ta Buri Bold" panose="020B0604020202020204" charset="-127"/>
                    <a:ea typeface="Arita Buri Bold" panose="020B0604020202020204" charset="-127"/>
                  </a:rPr>
                  <a:t> </a:t>
                </a:r>
                <a:r>
                  <a:rPr kumimoji="0" lang="es-US" altLang="es-US" sz="28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ta Buri Bold" panose="020B0604020202020204" charset="-127"/>
                    <a:ea typeface="Arita Buri Bold" panose="020B0604020202020204" charset="-127"/>
                  </a:rPr>
                  <a:t>drones inteligentes con sensores de suelo y cámaras multiespectrales </a:t>
                </a:r>
                <a:r>
                  <a:rPr lang="es-US" altLang="es-US" sz="2800" b="1" dirty="0">
                    <a:solidFill>
                      <a:schemeClr val="bg1"/>
                    </a:solidFill>
                    <a:latin typeface="Arita Buri Bold" panose="020B0604020202020204" charset="-127"/>
                    <a:ea typeface="Arita Buri Bold" panose="020B0604020202020204" charset="-127"/>
                  </a:rPr>
                  <a:t>que</a:t>
                </a:r>
                <a:r>
                  <a:rPr kumimoji="0" lang="es-US" altLang="es-US" sz="28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ta Buri Bold" panose="020B0604020202020204" charset="-127"/>
                    <a:ea typeface="Arita Buri Bold" panose="020B0604020202020204" charset="-127"/>
                  </a:rPr>
                  <a:t>:</a:t>
                </a:r>
              </a:p>
              <a:p>
                <a:pPr marL="0" marR="0" lvl="0" indent="0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s-US" altLang="es-US" sz="24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ta Buri Bold" panose="020B0604020202020204" charset="-127"/>
                  <a:ea typeface="Arita Buri Bold" panose="020B0604020202020204" charset="-127"/>
                </a:endParaRPr>
              </a:p>
              <a:p>
                <a:pPr marL="914400" lvl="1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Wingdings" panose="05000000000000000000" pitchFamily="2" charset="2"/>
                  <a:buChar char="§"/>
                </a:pPr>
                <a:r>
                  <a:rPr kumimoji="0" lang="es-US" altLang="es-US" sz="24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ta Buri Bold" panose="020B0604020202020204" charset="-127"/>
                    <a:ea typeface="Arita Buri Bold" panose="020B0604020202020204" charset="-127"/>
                  </a:rPr>
                  <a:t>Analizan tu campo centímetro a centímetro.</a:t>
                </a:r>
              </a:p>
              <a:p>
                <a:pPr marL="914400" lvl="1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Wingdings" panose="05000000000000000000" pitchFamily="2" charset="2"/>
                  <a:buChar char="§"/>
                </a:pPr>
                <a:r>
                  <a:rPr kumimoji="0" lang="es-US" altLang="es-US" sz="24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ta Buri Bold" panose="020B0604020202020204" charset="-127"/>
                    <a:ea typeface="Arita Buri Bold" panose="020B0604020202020204" charset="-127"/>
                  </a:rPr>
                  <a:t>Calculan con IA la dosis justa de fertilizante, pesticida o semilla.</a:t>
                </a:r>
              </a:p>
              <a:p>
                <a:pPr marL="914400" lvl="1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Wingdings" panose="05000000000000000000" pitchFamily="2" charset="2"/>
                  <a:buChar char="§"/>
                </a:pPr>
                <a:r>
                  <a:rPr kumimoji="0" lang="es-US" altLang="es-US" sz="2400" b="1" i="0" u="none" strike="noStrike" cap="none" normalizeH="0" baseline="0" dirty="0" smtClean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ta Buri Bold" panose="020B0604020202020204" charset="-127"/>
                    <a:ea typeface="Arita Buri Bold" panose="020B0604020202020204" charset="-127"/>
                  </a:rPr>
                  <a:t>Aplican</a:t>
                </a:r>
                <a:r>
                  <a:rPr kumimoji="0" lang="es-US" altLang="es-US" sz="2400" b="1" i="0" u="none" strike="noStrike" cap="none" normalizeH="0" dirty="0" smtClean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ta Buri Bold" panose="020B0604020202020204" charset="-127"/>
                    <a:ea typeface="Arita Buri Bold" panose="020B0604020202020204" charset="-127"/>
                  </a:rPr>
                  <a:t> únicamente en la zona requerida</a:t>
                </a:r>
              </a:p>
              <a:p>
                <a:pPr lvl="1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0" lang="es-US" altLang="es-US" sz="28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ta Buri Bold" panose="020B0604020202020204" charset="-127"/>
                  <a:ea typeface="Arita Buri Bold" panose="020B0604020202020204" charset="-127"/>
                </a:endParaRPr>
              </a:p>
              <a:p>
                <a:pPr marL="0" marR="0" lvl="0" indent="0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lang="es-US" altLang="es-US" sz="2800" b="1" dirty="0" smtClean="0">
                    <a:solidFill>
                      <a:schemeClr val="bg1"/>
                    </a:solidFill>
                    <a:latin typeface="Arita Buri Bold" panose="020B0604020202020204" charset="-127"/>
                    <a:ea typeface="Arita Buri Bold" panose="020B0604020202020204" charset="-127"/>
                  </a:rPr>
                  <a:t>Y </a:t>
                </a:r>
                <a:r>
                  <a:rPr lang="es-US" altLang="es-US" sz="2800" b="1" dirty="0">
                    <a:solidFill>
                      <a:schemeClr val="bg1"/>
                    </a:solidFill>
                    <a:latin typeface="Arita Buri Bold" panose="020B0604020202020204" charset="-127"/>
                    <a:ea typeface="Arita Buri Bold" panose="020B0604020202020204" charset="-127"/>
                  </a:rPr>
                  <a:t>todo </a:t>
                </a:r>
                <a:r>
                  <a:rPr kumimoji="0" lang="es-US" altLang="es-US" sz="2800" b="1" i="0" u="none" strike="noStrike" cap="none" normalizeH="0" baseline="0" dirty="0" smtClean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ta Buri Bold" panose="020B0604020202020204" charset="-127"/>
                    <a:ea typeface="Arita Buri Bold" panose="020B0604020202020204" charset="-127"/>
                  </a:rPr>
                  <a:t>sin la necesidad de </a:t>
                </a:r>
                <a:r>
                  <a:rPr kumimoji="0" lang="es-US" altLang="es-US" sz="28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ta Buri Bold" panose="020B0604020202020204" charset="-127"/>
                    <a:ea typeface="Arita Buri Bold" panose="020B0604020202020204" charset="-127"/>
                  </a:rPr>
                  <a:t>intervención humana.</a:t>
                </a:r>
                <a:br>
                  <a:rPr kumimoji="0" lang="es-US" altLang="es-US" sz="28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ta Buri Bold" panose="020B0604020202020204" charset="-127"/>
                    <a:ea typeface="Arita Buri Bold" panose="020B0604020202020204" charset="-127"/>
                  </a:rPr>
                </a:br>
                <a:endParaRPr kumimoji="0" lang="es-US" altLang="es-US" sz="2800" b="1" i="0" u="none" strike="noStrike" cap="none" normalizeH="0" baseline="0" dirty="0">
                  <a:ln>
                    <a:noFill/>
                  </a:ln>
                  <a:solidFill>
                    <a:srgbClr val="264C3D"/>
                  </a:solidFill>
                  <a:effectLst/>
                  <a:latin typeface="Arita Buri Bold" panose="020B0604020202020204" charset="-127"/>
                  <a:ea typeface="Arita Buri Bold" panose="020B0604020202020204" charset="-127"/>
                </a:endParaRPr>
              </a:p>
              <a:p>
                <a:pPr marL="914400" lvl="1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Yu Gothic UI Semibold" panose="020B0700000000000000" pitchFamily="34" charset="-128"/>
                  <a:buChar char="☞"/>
                </a:pPr>
                <a:r>
                  <a:rPr kumimoji="0" lang="es-US" altLang="es-US" sz="2400" b="1" i="0" u="none" strike="noStrike" cap="none" normalizeH="0" baseline="0" dirty="0">
                    <a:ln>
                      <a:noFill/>
                    </a:ln>
                    <a:solidFill>
                      <a:srgbClr val="264C3D"/>
                    </a:solidFill>
                    <a:effectLst/>
                    <a:latin typeface="Arita Buri Bold" panose="020B0604020202020204" charset="-127"/>
                    <a:ea typeface="Arita Buri Bold" panose="020B0604020202020204" charset="-127"/>
                  </a:rPr>
                  <a:t>Ahorro </a:t>
                </a:r>
                <a:r>
                  <a:rPr kumimoji="0" lang="es-US" altLang="es-US" sz="2400" b="1" i="0" u="none" strike="noStrike" cap="none" normalizeH="0" baseline="0" dirty="0" smtClean="0">
                    <a:ln>
                      <a:noFill/>
                    </a:ln>
                    <a:solidFill>
                      <a:srgbClr val="264C3D"/>
                    </a:solidFill>
                    <a:effectLst/>
                    <a:latin typeface="Arita Buri Bold" panose="020B0604020202020204" charset="-127"/>
                    <a:ea typeface="Arita Buri Bold" panose="020B0604020202020204" charset="-127"/>
                  </a:rPr>
                  <a:t>en insumos </a:t>
                </a:r>
                <a:endParaRPr kumimoji="0" lang="es-US" altLang="es-US" sz="2400" b="1" i="0" u="none" strike="noStrike" cap="none" normalizeH="0" baseline="0" dirty="0">
                  <a:ln>
                    <a:noFill/>
                  </a:ln>
                  <a:solidFill>
                    <a:srgbClr val="264C3D"/>
                  </a:solidFill>
                  <a:effectLst/>
                  <a:latin typeface="Arita Buri Bold" panose="020B0604020202020204" charset="-127"/>
                  <a:ea typeface="Arita Buri Bold" panose="020B0604020202020204" charset="-127"/>
                </a:endParaRPr>
              </a:p>
              <a:p>
                <a:pPr marL="914400" marR="0" lvl="1" indent="-457200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Yu Gothic UI Semibold" panose="020B0700000000000000" pitchFamily="34" charset="-128"/>
                  <a:buChar char="☞"/>
                  <a:tabLst/>
                </a:pPr>
                <a:r>
                  <a:rPr kumimoji="0" lang="es-US" altLang="es-US" sz="2400" b="1" i="0" u="none" strike="noStrike" cap="none" normalizeH="0" baseline="0" dirty="0" smtClean="0">
                    <a:ln>
                      <a:noFill/>
                    </a:ln>
                    <a:solidFill>
                      <a:srgbClr val="264C3D"/>
                    </a:solidFill>
                    <a:effectLst/>
                    <a:latin typeface="Arita Buri Bold" panose="020B0604020202020204" charset="-127"/>
                    <a:ea typeface="Arita Buri Bold" panose="020B0604020202020204" charset="-127"/>
                  </a:rPr>
                  <a:t>Transición mas eficiente entre cosecha y siembra</a:t>
                </a:r>
              </a:p>
              <a:p>
                <a:pPr marL="914400" marR="0" lvl="1" indent="-457200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Yu Gothic UI Semibold" panose="020B0700000000000000" pitchFamily="34" charset="-128"/>
                  <a:buChar char="☞"/>
                  <a:tabLst/>
                </a:pPr>
                <a:r>
                  <a:rPr kumimoji="0" lang="es-US" altLang="es-US" sz="2400" b="1" i="0" u="none" strike="noStrike" cap="none" normalizeH="0" baseline="0" dirty="0" smtClean="0">
                    <a:ln>
                      <a:noFill/>
                    </a:ln>
                    <a:solidFill>
                      <a:srgbClr val="264C3D"/>
                    </a:solidFill>
                    <a:effectLst/>
                    <a:latin typeface="Arita Buri Bold" panose="020B0604020202020204" charset="-127"/>
                    <a:ea typeface="Arita Buri Bold" panose="020B0604020202020204" charset="-127"/>
                  </a:rPr>
                  <a:t>Un campo más productivo y más sustentable</a:t>
                </a:r>
                <a:r>
                  <a:rPr kumimoji="0" lang="es-US" altLang="es-US" sz="2800" b="1" i="0" u="none" strike="noStrike" cap="none" normalizeH="0" baseline="0" dirty="0" smtClean="0">
                    <a:ln>
                      <a:noFill/>
                    </a:ln>
                    <a:solidFill>
                      <a:srgbClr val="264C3D"/>
                    </a:solidFill>
                    <a:effectLst/>
                    <a:latin typeface="Arita Buri Bold" panose="020B0604020202020204" charset="-127"/>
                    <a:ea typeface="Arita Buri Bold" panose="020B0604020202020204" charset="-127"/>
                  </a:rPr>
                  <a:t>.</a:t>
                </a:r>
                <a:endParaRPr kumimoji="0" lang="es-US" altLang="es-US" sz="2800" b="1" i="0" u="none" strike="noStrike" cap="none" normalizeH="0" baseline="0" dirty="0">
                  <a:ln>
                    <a:noFill/>
                  </a:ln>
                  <a:solidFill>
                    <a:srgbClr val="264C3D"/>
                  </a:solidFill>
                  <a:effectLst/>
                  <a:latin typeface="Arita Buri Bold" panose="020B0604020202020204" charset="-127"/>
                  <a:ea typeface="Arita Buri Bold" panose="020B0604020202020204" charset="-127"/>
                </a:endParaRPr>
              </a:p>
            </p:txBody>
          </p:sp>
        </p:grpSp>
        <p:sp>
          <p:nvSpPr>
            <p:cNvPr id="26" name="Freeform 17"/>
            <p:cNvSpPr/>
            <p:nvPr/>
          </p:nvSpPr>
          <p:spPr>
            <a:xfrm>
              <a:off x="15392400" y="12102"/>
              <a:ext cx="1765700" cy="1686244"/>
            </a:xfrm>
            <a:custGeom>
              <a:avLst/>
              <a:gdLst/>
              <a:ahLst/>
              <a:cxnLst/>
              <a:rect l="l" t="t" r="r" b="b"/>
              <a:pathLst>
                <a:path w="1765700" h="1686244">
                  <a:moveTo>
                    <a:pt x="0" y="0"/>
                  </a:moveTo>
                  <a:lnTo>
                    <a:pt x="1765700" y="0"/>
                  </a:lnTo>
                  <a:lnTo>
                    <a:pt x="1765700" y="1686244"/>
                  </a:lnTo>
                  <a:lnTo>
                    <a:pt x="0" y="16862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xmlns="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AR" noProof="0" dirty="0"/>
            </a:p>
          </p:txBody>
        </p:sp>
      </p:grpSp>
      <p:sp>
        <p:nvSpPr>
          <p:cNvPr id="13" name="Freeform 7"/>
          <p:cNvSpPr/>
          <p:nvPr/>
        </p:nvSpPr>
        <p:spPr>
          <a:xfrm>
            <a:off x="1809451" y="1874736"/>
            <a:ext cx="6712800" cy="6358930"/>
          </a:xfrm>
          <a:custGeom>
            <a:avLst/>
            <a:gdLst/>
            <a:ahLst/>
            <a:cxnLst/>
            <a:rect l="l" t="t" r="r" b="b"/>
            <a:pathLst>
              <a:path w="6712800" h="6358930">
                <a:moveTo>
                  <a:pt x="0" y="0"/>
                </a:moveTo>
                <a:lnTo>
                  <a:pt x="6712800" y="0"/>
                </a:lnTo>
                <a:lnTo>
                  <a:pt x="6712800" y="6358930"/>
                </a:lnTo>
                <a:lnTo>
                  <a:pt x="0" y="63589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AR" noProof="0" dirty="0"/>
          </a:p>
        </p:txBody>
      </p:sp>
      <p:sp>
        <p:nvSpPr>
          <p:cNvPr id="23" name="Freeform 23"/>
          <p:cNvSpPr/>
          <p:nvPr/>
        </p:nvSpPr>
        <p:spPr>
          <a:xfrm>
            <a:off x="6973534" y="2347418"/>
            <a:ext cx="1398481" cy="1695128"/>
          </a:xfrm>
          <a:custGeom>
            <a:avLst/>
            <a:gdLst/>
            <a:ahLst/>
            <a:cxnLst/>
            <a:rect l="l" t="t" r="r" b="b"/>
            <a:pathLst>
              <a:path w="1398481" h="1695128">
                <a:moveTo>
                  <a:pt x="0" y="0"/>
                </a:moveTo>
                <a:lnTo>
                  <a:pt x="1398481" y="0"/>
                </a:lnTo>
                <a:lnTo>
                  <a:pt x="1398481" y="1695129"/>
                </a:lnTo>
                <a:lnTo>
                  <a:pt x="0" y="169512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AR" noProof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810000" y="4100829"/>
            <a:ext cx="12877800" cy="1608967"/>
            <a:chOff x="0" y="-42109"/>
            <a:chExt cx="15451399" cy="2145287"/>
          </a:xfrm>
        </p:grpSpPr>
        <p:sp>
          <p:nvSpPr>
            <p:cNvPr id="3" name="TextBox 3"/>
            <p:cNvSpPr txBox="1"/>
            <p:nvPr/>
          </p:nvSpPr>
          <p:spPr>
            <a:xfrm>
              <a:off x="0" y="-42109"/>
              <a:ext cx="15451399" cy="7718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611"/>
                </a:lnSpc>
              </a:pPr>
              <a:r>
                <a:rPr lang="es-AR" sz="3547" b="1" dirty="0">
                  <a:solidFill>
                    <a:srgbClr val="09427D"/>
                  </a:solidFill>
                  <a:latin typeface="Arita Buri Bold"/>
                  <a:ea typeface="Arita Buri Bold"/>
                  <a:cs typeface="Arita Buri Bold"/>
                  <a:sym typeface="Arita Buri Bold"/>
                </a:rPr>
                <a:t>Usuarios Potenciales</a:t>
              </a:r>
              <a:endParaRPr lang="es-AR" sz="3547" b="1" u="none" noProof="0" dirty="0">
                <a:solidFill>
                  <a:srgbClr val="09427D"/>
                </a:solidFill>
                <a:latin typeface="Arita Buri Bold"/>
                <a:ea typeface="Arita Buri Bold"/>
                <a:cs typeface="Arita Buri Bold"/>
                <a:sym typeface="Arita Buri Bold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940467"/>
              <a:ext cx="15451399" cy="11627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60"/>
                </a:lnSpc>
              </a:pPr>
              <a:r>
                <a:rPr lang="es-AR" sz="2400" dirty="0">
                  <a:latin typeface="Arial" panose="020B0604020202020204" pitchFamily="34" charset="0"/>
                  <a:cs typeface="Arial" panose="020B0604020202020204" pitchFamily="34" charset="0"/>
                </a:rPr>
                <a:t>Grandes y medianos productores, cooperativas y agroindustrias que buscan optimizar al máximo su </a:t>
              </a:r>
              <a:r>
                <a:rPr lang="es-AR" sz="240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producción.</a:t>
              </a:r>
              <a:endParaRPr lang="es-AR" sz="2400" u="none" noProof="0" dirty="0">
                <a:solidFill>
                  <a:srgbClr val="09427D"/>
                </a:solidFill>
                <a:latin typeface="Arial" panose="020B0604020202020204" pitchFamily="34" charset="0"/>
                <a:ea typeface="HK Grotesk Light"/>
                <a:cs typeface="Arial" panose="020B0604020202020204" pitchFamily="34" charset="0"/>
                <a:sym typeface="HK Grotesk Light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810000" y="2080359"/>
            <a:ext cx="11588549" cy="2280945"/>
            <a:chOff x="0" y="-42109"/>
            <a:chExt cx="15451399" cy="3041258"/>
          </a:xfrm>
        </p:grpSpPr>
        <p:sp>
          <p:nvSpPr>
            <p:cNvPr id="6" name="TextBox 6"/>
            <p:cNvSpPr txBox="1"/>
            <p:nvPr/>
          </p:nvSpPr>
          <p:spPr>
            <a:xfrm>
              <a:off x="0" y="-42109"/>
              <a:ext cx="15451399" cy="7718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611"/>
                </a:lnSpc>
              </a:pPr>
              <a:r>
                <a:rPr lang="es-AR" sz="3547" b="1" u="none" noProof="0" dirty="0">
                  <a:solidFill>
                    <a:srgbClr val="09427D"/>
                  </a:solidFill>
                  <a:latin typeface="Arita Buri Bold"/>
                  <a:ea typeface="Arita Buri Bold"/>
                  <a:cs typeface="Arita Buri Bold"/>
                  <a:sym typeface="Arita Buri Bold"/>
                </a:rPr>
                <a:t>El Negocio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940468"/>
              <a:ext cx="15451399" cy="20586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42900" marR="0" lvl="0" indent="-34290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</a:pPr>
              <a:r>
                <a:rPr kumimoji="0" lang="es-US" altLang="es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Venta del sistema autónomo (</a:t>
              </a:r>
              <a:r>
                <a:rPr lang="es-US" altLang="es-US" sz="2400" dirty="0">
                  <a:latin typeface="Arial" panose="020B0604020202020204" pitchFamily="34" charset="0"/>
                </a:rPr>
                <a:t>d</a:t>
              </a:r>
              <a:r>
                <a:rPr kumimoji="0" lang="es-US" altLang="es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rones </a:t>
              </a:r>
              <a:r>
                <a:rPr kumimoji="0" lang="es-US" altLang="es-US" sz="24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+ instalación + </a:t>
              </a:r>
              <a:r>
                <a:rPr kumimoji="0" lang="es-US" altLang="es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software).</a:t>
              </a:r>
            </a:p>
            <a:p>
              <a:pPr marL="342900" marR="0" lvl="0" indent="-34290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</a:pPr>
              <a:r>
                <a:rPr kumimoji="0" lang="es-US" altLang="es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Suscripción al análisis de datos y otras funciones avanzadas.</a:t>
              </a:r>
            </a:p>
            <a:p>
              <a:pPr marL="342900" marR="0" lvl="0" indent="-34290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</a:pPr>
              <a:r>
                <a:rPr kumimoji="0" lang="es-US" altLang="es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Servicios de mantenimiento y soporte técnico en 24 </a:t>
              </a:r>
              <a:r>
                <a:rPr kumimoji="0" lang="es-US" altLang="es-US" sz="2400" b="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hs</a:t>
              </a:r>
              <a:endParaRPr kumimoji="0" lang="es-US" altLang="es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  <a:p>
              <a:pPr marL="0" lvl="0" indent="0" algn="l">
                <a:lnSpc>
                  <a:spcPts val="3360"/>
                </a:lnSpc>
              </a:pPr>
              <a:endParaRPr lang="es-AR" sz="2400" u="none" noProof="0" dirty="0">
                <a:solidFill>
                  <a:srgbClr val="09427D"/>
                </a:solidFill>
                <a:latin typeface="HK Grotesk Light"/>
                <a:ea typeface="HK Grotesk Light"/>
                <a:cs typeface="HK Grotesk Light"/>
                <a:sym typeface="HK Grotesk Light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05084" y="5848424"/>
            <a:ext cx="11588549" cy="1847594"/>
            <a:chOff x="0" y="-42109"/>
            <a:chExt cx="15451399" cy="2463457"/>
          </a:xfrm>
        </p:grpSpPr>
        <p:sp>
          <p:nvSpPr>
            <p:cNvPr id="9" name="TextBox 9"/>
            <p:cNvSpPr txBox="1"/>
            <p:nvPr/>
          </p:nvSpPr>
          <p:spPr>
            <a:xfrm>
              <a:off x="0" y="-42109"/>
              <a:ext cx="15451399" cy="7628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611"/>
                </a:lnSpc>
              </a:pPr>
              <a:r>
                <a:rPr lang="es-AR" sz="3547" b="1" u="none" noProof="0" dirty="0">
                  <a:solidFill>
                    <a:srgbClr val="09427D"/>
                  </a:solidFill>
                  <a:latin typeface="Arita Buri Bold"/>
                  <a:ea typeface="Arita Buri Bold"/>
                  <a:cs typeface="Arita Buri Bold"/>
                  <a:sym typeface="Arita Buri Bold"/>
                </a:rPr>
                <a:t>Oportunidades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944021"/>
              <a:ext cx="15451399" cy="14773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42900" marR="0" lvl="0" indent="-34290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</a:pPr>
              <a:r>
                <a:rPr kumimoji="0" lang="es-US" altLang="es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La agricultura de precisión es tendencia global.</a:t>
              </a:r>
            </a:p>
            <a:p>
              <a:pPr marL="342900" marR="0" lvl="0" indent="-34290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</a:pPr>
              <a:r>
                <a:rPr kumimoji="0" lang="es-US" altLang="es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No existe hoy en el mercado una solución integral que </a:t>
              </a:r>
              <a:r>
                <a:rPr kumimoji="0" lang="es-US" altLang="es-US" sz="2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diagnostique y actúe automáticamente.</a:t>
              </a:r>
              <a:endParaRPr kumimoji="0" lang="es-US" altLang="es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14" name="AutoShape 14"/>
          <p:cNvSpPr/>
          <p:nvPr/>
        </p:nvSpPr>
        <p:spPr>
          <a:xfrm>
            <a:off x="1864233" y="2413080"/>
            <a:ext cx="45719" cy="4198482"/>
          </a:xfrm>
          <a:prstGeom prst="rect">
            <a:avLst/>
          </a:prstGeom>
          <a:solidFill>
            <a:srgbClr val="09427D"/>
          </a:solidFill>
        </p:spPr>
        <p:txBody>
          <a:bodyPr/>
          <a:lstStyle/>
          <a:p>
            <a:endParaRPr lang="es-AR" noProof="0" dirty="0"/>
          </a:p>
        </p:txBody>
      </p:sp>
      <p:sp>
        <p:nvSpPr>
          <p:cNvPr id="15" name="Freeform 15"/>
          <p:cNvSpPr/>
          <p:nvPr/>
        </p:nvSpPr>
        <p:spPr>
          <a:xfrm>
            <a:off x="1600200" y="6365040"/>
            <a:ext cx="607202" cy="607202"/>
          </a:xfrm>
          <a:custGeom>
            <a:avLst/>
            <a:gdLst/>
            <a:ahLst/>
            <a:cxnLst/>
            <a:rect l="l" t="t" r="r" b="b"/>
            <a:pathLst>
              <a:path w="607202" h="607202">
                <a:moveTo>
                  <a:pt x="0" y="0"/>
                </a:moveTo>
                <a:lnTo>
                  <a:pt x="607202" y="0"/>
                </a:lnTo>
                <a:lnTo>
                  <a:pt x="607202" y="607202"/>
                </a:lnTo>
                <a:lnTo>
                  <a:pt x="0" y="6072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AR" noProof="0" dirty="0"/>
          </a:p>
        </p:txBody>
      </p:sp>
      <p:sp>
        <p:nvSpPr>
          <p:cNvPr id="16" name="Freeform 16"/>
          <p:cNvSpPr/>
          <p:nvPr/>
        </p:nvSpPr>
        <p:spPr>
          <a:xfrm>
            <a:off x="1600200" y="2324100"/>
            <a:ext cx="607202" cy="607202"/>
          </a:xfrm>
          <a:custGeom>
            <a:avLst/>
            <a:gdLst/>
            <a:ahLst/>
            <a:cxnLst/>
            <a:rect l="l" t="t" r="r" b="b"/>
            <a:pathLst>
              <a:path w="607202" h="607202">
                <a:moveTo>
                  <a:pt x="0" y="0"/>
                </a:moveTo>
                <a:lnTo>
                  <a:pt x="607202" y="0"/>
                </a:lnTo>
                <a:lnTo>
                  <a:pt x="607202" y="607202"/>
                </a:lnTo>
                <a:lnTo>
                  <a:pt x="0" y="6072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AR" noProof="0" dirty="0"/>
          </a:p>
        </p:txBody>
      </p:sp>
      <p:sp>
        <p:nvSpPr>
          <p:cNvPr id="18" name="Freeform 18"/>
          <p:cNvSpPr/>
          <p:nvPr/>
        </p:nvSpPr>
        <p:spPr>
          <a:xfrm>
            <a:off x="1600200" y="4344570"/>
            <a:ext cx="607202" cy="607202"/>
          </a:xfrm>
          <a:custGeom>
            <a:avLst/>
            <a:gdLst/>
            <a:ahLst/>
            <a:cxnLst/>
            <a:rect l="l" t="t" r="r" b="b"/>
            <a:pathLst>
              <a:path w="607202" h="607202">
                <a:moveTo>
                  <a:pt x="0" y="0"/>
                </a:moveTo>
                <a:lnTo>
                  <a:pt x="607202" y="0"/>
                </a:lnTo>
                <a:lnTo>
                  <a:pt x="607202" y="607202"/>
                </a:lnTo>
                <a:lnTo>
                  <a:pt x="0" y="6072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AR" noProof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686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1023466" y="3162300"/>
            <a:ext cx="8837971" cy="28469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ts val="3742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s-AR" sz="2200" b="1" u="none" noProof="0" dirty="0">
                <a:solidFill>
                  <a:schemeClr val="accent5">
                    <a:lumMod val="40000"/>
                    <a:lumOff val="60000"/>
                  </a:schemeClr>
                </a:solidFill>
                <a:latin typeface="HK Grotesk Light" panose="020B0604020202020204" charset="0"/>
                <a:ea typeface="Arita Buri Bold"/>
                <a:cs typeface="Arita Buri Bold"/>
                <a:sym typeface="Arita Buri Bold"/>
              </a:rPr>
              <a:t>Joaquín Garmendia: </a:t>
            </a:r>
            <a:r>
              <a:rPr lang="es-AR" sz="2200" b="1" i="1" dirty="0">
                <a:solidFill>
                  <a:srgbClr val="FFFFFF"/>
                </a:solidFill>
                <a:latin typeface="HK Grotesk Light" panose="020B0604020202020204" charset="0"/>
                <a:ea typeface="Arita Buri Bold"/>
                <a:cs typeface="Arita Buri Bold"/>
                <a:sym typeface="Arita Buri Bold"/>
              </a:rPr>
              <a:t>Experto en drones y </a:t>
            </a:r>
            <a:r>
              <a:rPr lang="es-AR" sz="2200" b="1" i="1" dirty="0" smtClean="0">
                <a:solidFill>
                  <a:srgbClr val="FFFFFF"/>
                </a:solidFill>
                <a:latin typeface="HK Grotesk Light" panose="020B0604020202020204" charset="0"/>
                <a:ea typeface="Arita Buri Bold"/>
                <a:cs typeface="Arita Buri Bold"/>
                <a:sym typeface="Arita Buri Bold"/>
              </a:rPr>
              <a:t>producción agroecológica</a:t>
            </a:r>
            <a:r>
              <a:rPr lang="es-AR" sz="2200" b="1" i="1" dirty="0">
                <a:solidFill>
                  <a:srgbClr val="FFFFFF"/>
                </a:solidFill>
                <a:latin typeface="HK Grotesk Light" panose="020B0604020202020204" charset="0"/>
                <a:ea typeface="Arita Buri Bold"/>
                <a:cs typeface="Arita Buri Bold"/>
                <a:sym typeface="Arita Buri Bold"/>
              </a:rPr>
              <a:t>.</a:t>
            </a:r>
          </a:p>
          <a:p>
            <a:pPr marL="342900" lvl="0" indent="-342900" algn="l">
              <a:lnSpc>
                <a:spcPts val="3742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s-AR" sz="2200" b="1" u="none" noProof="0" dirty="0" smtClean="0">
                <a:solidFill>
                  <a:schemeClr val="accent5">
                    <a:lumMod val="40000"/>
                    <a:lumOff val="60000"/>
                  </a:schemeClr>
                </a:solidFill>
                <a:latin typeface="HK Grotesk Light" panose="020B0604020202020204" charset="0"/>
                <a:ea typeface="Arita Buri Bold"/>
                <a:cs typeface="Arita Buri Bold"/>
                <a:sym typeface="Arita Buri Bold"/>
              </a:rPr>
              <a:t>Tiago </a:t>
            </a:r>
            <a:r>
              <a:rPr lang="es-AR" sz="2200" b="1" u="none" noProof="0" dirty="0">
                <a:solidFill>
                  <a:schemeClr val="accent5">
                    <a:lumMod val="40000"/>
                    <a:lumOff val="60000"/>
                  </a:schemeClr>
                </a:solidFill>
                <a:latin typeface="HK Grotesk Light" panose="020B0604020202020204" charset="0"/>
                <a:ea typeface="Arita Buri Bold"/>
                <a:cs typeface="Arita Buri Bold"/>
                <a:sym typeface="Arita Buri Bold"/>
              </a:rPr>
              <a:t>Restucha: </a:t>
            </a:r>
            <a:r>
              <a:rPr lang="es-AR" sz="2200" b="1" i="1" u="none" noProof="0" dirty="0">
                <a:solidFill>
                  <a:srgbClr val="FFFFFF"/>
                </a:solidFill>
                <a:latin typeface="HK Grotesk Light" panose="020B0604020202020204" charset="0"/>
                <a:ea typeface="Arita Buri Bold"/>
                <a:cs typeface="Arita Buri Bold"/>
                <a:sym typeface="Arita Buri Bold"/>
              </a:rPr>
              <a:t>Inteligencia Artificial y visión por computadora.</a:t>
            </a:r>
          </a:p>
          <a:p>
            <a:pPr marL="342900" indent="-342900">
              <a:lnSpc>
                <a:spcPts val="3742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s-AR" sz="2200" b="1" u="none" noProof="0" dirty="0">
                <a:solidFill>
                  <a:schemeClr val="accent5">
                    <a:lumMod val="40000"/>
                    <a:lumOff val="60000"/>
                  </a:schemeClr>
                </a:solidFill>
                <a:latin typeface="HK Grotesk Light" panose="020B0604020202020204" charset="0"/>
                <a:ea typeface="Arita Buri Bold"/>
                <a:cs typeface="Arita Buri Bold"/>
                <a:sym typeface="Arita Buri Bold"/>
              </a:rPr>
              <a:t>Manuel </a:t>
            </a:r>
            <a:r>
              <a:rPr lang="es-AR" sz="2200" b="1" u="none" noProof="0" dirty="0" smtClean="0">
                <a:solidFill>
                  <a:schemeClr val="accent5">
                    <a:lumMod val="40000"/>
                    <a:lumOff val="60000"/>
                  </a:schemeClr>
                </a:solidFill>
                <a:latin typeface="HK Grotesk Light" panose="020B0604020202020204" charset="0"/>
                <a:ea typeface="Arita Buri Bold"/>
                <a:cs typeface="Arita Buri Bold"/>
                <a:sym typeface="Arita Buri Bold"/>
              </a:rPr>
              <a:t>Toledo:</a:t>
            </a:r>
            <a:r>
              <a:rPr lang="es-AR" sz="2200" b="1" i="1" dirty="0">
                <a:solidFill>
                  <a:srgbClr val="FFFFFF"/>
                </a:solidFill>
                <a:latin typeface="HK Grotesk Light" panose="020B0604020202020204" charset="0"/>
                <a:ea typeface="Arita Buri Bold"/>
                <a:cs typeface="Arita Buri Bold"/>
                <a:sym typeface="Arita Buri Bold"/>
              </a:rPr>
              <a:t>Hardware &amp; sistemas embebidos.</a:t>
            </a:r>
          </a:p>
          <a:p>
            <a:pPr marL="342900" lvl="0" indent="-342900" algn="l">
              <a:lnSpc>
                <a:spcPts val="3742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s-AR" sz="2200" b="1" u="none" noProof="0" dirty="0" smtClean="0">
                <a:solidFill>
                  <a:schemeClr val="accent5">
                    <a:lumMod val="40000"/>
                    <a:lumOff val="60000"/>
                  </a:schemeClr>
                </a:solidFill>
                <a:latin typeface="HK Grotesk Light" panose="020B0604020202020204" charset="0"/>
                <a:ea typeface="Arita Buri Bold"/>
                <a:cs typeface="Arita Buri Bold"/>
                <a:sym typeface="Arita Buri Bold"/>
              </a:rPr>
              <a:t> Ignacio </a:t>
            </a:r>
            <a:r>
              <a:rPr lang="es-AR" sz="2200" b="1" u="none" noProof="0" dirty="0">
                <a:solidFill>
                  <a:schemeClr val="accent5">
                    <a:lumMod val="40000"/>
                    <a:lumOff val="60000"/>
                  </a:schemeClr>
                </a:solidFill>
                <a:latin typeface="HK Grotesk Light" panose="020B0604020202020204" charset="0"/>
                <a:ea typeface="Arita Buri Bold"/>
                <a:cs typeface="Arita Buri Bold"/>
                <a:sym typeface="Arita Buri Bold"/>
              </a:rPr>
              <a:t>A. Schwindt: </a:t>
            </a:r>
            <a:r>
              <a:rPr lang="es-AR" sz="2200" b="1" i="1" u="none" noProof="0" dirty="0">
                <a:solidFill>
                  <a:srgbClr val="FFFFFF"/>
                </a:solidFill>
                <a:latin typeface="HK Grotesk Light" panose="020B0604020202020204" charset="0"/>
                <a:ea typeface="Arita Buri Bold"/>
                <a:cs typeface="Arita Buri Bold"/>
                <a:sym typeface="Arita Buri Bold"/>
              </a:rPr>
              <a:t>Desarrollo de software autónomo.</a:t>
            </a:r>
          </a:p>
          <a:p>
            <a:pPr marL="342900" indent="-342900">
              <a:lnSpc>
                <a:spcPts val="3742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s-AR" sz="2200" b="1" u="none" noProof="0" dirty="0">
                <a:solidFill>
                  <a:schemeClr val="accent5">
                    <a:lumMod val="40000"/>
                    <a:lumOff val="60000"/>
                  </a:schemeClr>
                </a:solidFill>
                <a:latin typeface="HK Grotesk Light" panose="020B0604020202020204" charset="0"/>
                <a:ea typeface="Arita Buri Bold"/>
                <a:cs typeface="Arita Buri Bold"/>
                <a:sym typeface="Arita Buri Bold"/>
              </a:rPr>
              <a:t>Isidro Silicaro </a:t>
            </a:r>
            <a:r>
              <a:rPr lang="es-AR" sz="2200" b="1" u="none" noProof="0" dirty="0" smtClean="0">
                <a:solidFill>
                  <a:schemeClr val="accent5">
                    <a:lumMod val="40000"/>
                    <a:lumOff val="60000"/>
                  </a:schemeClr>
                </a:solidFill>
                <a:latin typeface="HK Grotesk Light" panose="020B0604020202020204" charset="0"/>
                <a:ea typeface="Arita Buri Bold"/>
                <a:cs typeface="Arita Buri Bold"/>
                <a:sym typeface="Arita Buri Bold"/>
              </a:rPr>
              <a:t>Pera:</a:t>
            </a:r>
            <a:r>
              <a:rPr lang="es-AR" sz="2200" b="1" i="1" dirty="0">
                <a:solidFill>
                  <a:srgbClr val="FFFFFF"/>
                </a:solidFill>
                <a:latin typeface="HK Grotesk Light" panose="020B0604020202020204" charset="0"/>
                <a:ea typeface="Arita Buri Bold"/>
                <a:cs typeface="Arita Buri Bold"/>
                <a:sym typeface="Arita Buri Bold"/>
              </a:rPr>
              <a:t>Estrategia y visión comercial.</a:t>
            </a:r>
          </a:p>
          <a:p>
            <a:pPr marL="342900" indent="-342900">
              <a:lnSpc>
                <a:spcPts val="3742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s-AR" sz="2200" b="1" u="none" noProof="0" dirty="0" smtClean="0">
                <a:solidFill>
                  <a:schemeClr val="accent5">
                    <a:lumMod val="40000"/>
                    <a:lumOff val="60000"/>
                  </a:schemeClr>
                </a:solidFill>
                <a:latin typeface="HK Grotesk Light" panose="020B0604020202020204" charset="0"/>
                <a:ea typeface="Arita Buri Bold"/>
                <a:cs typeface="Arita Buri Bold"/>
                <a:sym typeface="Arita Buri Bold"/>
              </a:rPr>
              <a:t>Tomás </a:t>
            </a:r>
            <a:r>
              <a:rPr lang="es-AR" sz="2200" b="1" u="none" noProof="0" dirty="0">
                <a:solidFill>
                  <a:schemeClr val="accent5">
                    <a:lumMod val="40000"/>
                    <a:lumOff val="60000"/>
                  </a:schemeClr>
                </a:solidFill>
                <a:latin typeface="HK Grotesk Light" panose="020B0604020202020204" charset="0"/>
                <a:ea typeface="Arita Buri Bold"/>
                <a:cs typeface="Arita Buri Bold"/>
                <a:sym typeface="Arita Buri Bold"/>
              </a:rPr>
              <a:t>Prieto de </a:t>
            </a:r>
            <a:r>
              <a:rPr lang="es-AR" sz="2200" b="1" u="none" noProof="0" dirty="0" smtClean="0">
                <a:solidFill>
                  <a:schemeClr val="accent5">
                    <a:lumMod val="40000"/>
                    <a:lumOff val="60000"/>
                  </a:schemeClr>
                </a:solidFill>
                <a:latin typeface="HK Grotesk Light" panose="020B0604020202020204" charset="0"/>
                <a:ea typeface="Arita Buri Bold"/>
                <a:cs typeface="Arita Buri Bold"/>
                <a:sym typeface="Arita Buri Bold"/>
              </a:rPr>
              <a:t>Francia:</a:t>
            </a:r>
            <a:r>
              <a:rPr lang="es-AR" sz="2200" b="1" i="1" dirty="0">
                <a:solidFill>
                  <a:srgbClr val="FFFFFF"/>
                </a:solidFill>
                <a:latin typeface="HK Grotesk Light" panose="020B0604020202020204" charset="0"/>
                <a:ea typeface="Arita Buri Bold"/>
                <a:cs typeface="Arita Buri Bold"/>
                <a:sym typeface="Arita Buri Bold"/>
              </a:rPr>
              <a:t>Diseño </a:t>
            </a:r>
            <a:r>
              <a:rPr lang="es-AR" sz="2200" b="1" i="1" dirty="0" smtClean="0">
                <a:solidFill>
                  <a:srgbClr val="FFFFFF"/>
                </a:solidFill>
                <a:latin typeface="HK Grotesk Light" panose="020B0604020202020204" charset="0"/>
                <a:ea typeface="Arita Buri Bold"/>
                <a:cs typeface="Arita Buri Bold"/>
                <a:sym typeface="Arita Buri Bold"/>
              </a:rPr>
              <a:t>mecánico y robótica.</a:t>
            </a:r>
            <a:endParaRPr lang="es-AR" sz="2200" b="1" i="1" dirty="0">
              <a:solidFill>
                <a:srgbClr val="FFFFFF"/>
              </a:solidFill>
              <a:latin typeface="HK Grotesk Light" panose="020B0604020202020204" charset="0"/>
              <a:ea typeface="Arita Buri Bold"/>
              <a:cs typeface="Arita Buri Bold"/>
              <a:sym typeface="Arita Buri Bold"/>
            </a:endParaRPr>
          </a:p>
        </p:txBody>
      </p:sp>
      <p:sp>
        <p:nvSpPr>
          <p:cNvPr id="6" name="Freeform 6"/>
          <p:cNvSpPr/>
          <p:nvPr/>
        </p:nvSpPr>
        <p:spPr>
          <a:xfrm rot="662391">
            <a:off x="10067583" y="1630754"/>
            <a:ext cx="6987999" cy="7242950"/>
          </a:xfrm>
          <a:custGeom>
            <a:avLst/>
            <a:gdLst/>
            <a:ahLst/>
            <a:cxnLst/>
            <a:rect l="l" t="t" r="r" b="b"/>
            <a:pathLst>
              <a:path w="6987999" h="7242950">
                <a:moveTo>
                  <a:pt x="0" y="0"/>
                </a:moveTo>
                <a:lnTo>
                  <a:pt x="6987999" y="0"/>
                </a:lnTo>
                <a:lnTo>
                  <a:pt x="6987999" y="7242950"/>
                </a:lnTo>
                <a:lnTo>
                  <a:pt x="0" y="72429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AR" noProof="0" dirty="0"/>
          </a:p>
        </p:txBody>
      </p:sp>
      <p:sp>
        <p:nvSpPr>
          <p:cNvPr id="7" name="Freeform 7"/>
          <p:cNvSpPr/>
          <p:nvPr/>
        </p:nvSpPr>
        <p:spPr>
          <a:xfrm>
            <a:off x="10284115" y="2666963"/>
            <a:ext cx="6554936" cy="5170533"/>
          </a:xfrm>
          <a:custGeom>
            <a:avLst/>
            <a:gdLst/>
            <a:ahLst/>
            <a:cxnLst/>
            <a:rect l="l" t="t" r="r" b="b"/>
            <a:pathLst>
              <a:path w="6554936" h="5170533">
                <a:moveTo>
                  <a:pt x="0" y="0"/>
                </a:moveTo>
                <a:lnTo>
                  <a:pt x="6554935" y="0"/>
                </a:lnTo>
                <a:lnTo>
                  <a:pt x="6554935" y="5170533"/>
                </a:lnTo>
                <a:lnTo>
                  <a:pt x="0" y="51705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AR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B1B2414C-9FF9-E4C5-E82E-36C8006324DC}"/>
              </a:ext>
            </a:extLst>
          </p:cNvPr>
          <p:cNvSpPr txBox="1"/>
          <p:nvPr/>
        </p:nvSpPr>
        <p:spPr>
          <a:xfrm>
            <a:off x="485910" y="6520567"/>
            <a:ext cx="926769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3200" b="1" u="none" noProof="0" dirty="0">
                <a:solidFill>
                  <a:srgbClr val="FFFFFF"/>
                </a:solidFill>
                <a:latin typeface="HK Grotesk Light" panose="020B0604020202020204" charset="0"/>
                <a:ea typeface="Arita Buri Bold"/>
                <a:cs typeface="Arita Buri Bold"/>
                <a:sym typeface="Arita Buri Bold"/>
              </a:rPr>
              <a:t>Buscamos una </a:t>
            </a:r>
            <a:r>
              <a:rPr lang="es-AR" sz="3200" b="1" u="none" noProof="0" dirty="0">
                <a:solidFill>
                  <a:schemeClr val="accent6">
                    <a:lumMod val="60000"/>
                    <a:lumOff val="40000"/>
                  </a:schemeClr>
                </a:solidFill>
                <a:latin typeface="HK Grotesk Light" panose="020B0604020202020204" charset="0"/>
                <a:ea typeface="Arita Buri Bold"/>
                <a:cs typeface="Arita Buri Bold"/>
                <a:sym typeface="Arita Buri Bold"/>
              </a:rPr>
              <a:t>reunión con inversores </a:t>
            </a:r>
            <a:r>
              <a:rPr lang="es-AR" sz="3200" b="1" u="none" noProof="0" dirty="0">
                <a:solidFill>
                  <a:srgbClr val="FFFFFF"/>
                </a:solidFill>
                <a:latin typeface="HK Grotesk Light" panose="020B0604020202020204" charset="0"/>
                <a:ea typeface="Arita Buri Bold"/>
                <a:cs typeface="Arita Buri Bold"/>
                <a:sym typeface="Arita Buri Bold"/>
              </a:rPr>
              <a:t>que quieran potenciar el agro del futuro.</a:t>
            </a:r>
          </a:p>
          <a:p>
            <a:r>
              <a:rPr lang="es-AR" sz="3200" b="1" u="none" noProof="0" dirty="0">
                <a:solidFill>
                  <a:srgbClr val="FFFFFF"/>
                </a:solidFill>
                <a:latin typeface="HK Grotesk Light" panose="020B0604020202020204" charset="0"/>
                <a:ea typeface="Arita Buri Bold"/>
                <a:cs typeface="Arita Buri Bold"/>
                <a:sym typeface="Arita Buri Bold"/>
              </a:rPr>
              <a:t>Socios estratégicos o instituciones para </a:t>
            </a:r>
            <a:r>
              <a:rPr lang="es-AR" sz="3200" b="1" u="none" noProof="0" dirty="0">
                <a:solidFill>
                  <a:schemeClr val="accent6">
                    <a:lumMod val="60000"/>
                    <a:lumOff val="40000"/>
                  </a:schemeClr>
                </a:solidFill>
                <a:latin typeface="HK Grotesk Light" panose="020B0604020202020204" charset="0"/>
                <a:ea typeface="Arita Buri Bold"/>
                <a:cs typeface="Arita Buri Bold"/>
                <a:sym typeface="Arita Buri Bold"/>
              </a:rPr>
              <a:t>pruebas piloto </a:t>
            </a:r>
            <a:r>
              <a:rPr lang="es-AR" sz="3200" b="1" u="none" noProof="0" dirty="0">
                <a:solidFill>
                  <a:srgbClr val="FFFFFF"/>
                </a:solidFill>
                <a:latin typeface="HK Grotesk Light" panose="020B0604020202020204" charset="0"/>
                <a:ea typeface="Arita Buri Bold"/>
                <a:cs typeface="Arita Buri Bold"/>
                <a:sym typeface="Arita Buri Bold"/>
              </a:rPr>
              <a:t>en 100 ha.</a:t>
            </a:r>
          </a:p>
          <a:p>
            <a:r>
              <a:rPr lang="es-AR" sz="3200" b="1" u="none" noProof="0" dirty="0">
                <a:solidFill>
                  <a:srgbClr val="FFFFFF"/>
                </a:solidFill>
                <a:latin typeface="HK Grotesk Light" panose="020B0604020202020204" charset="0"/>
                <a:ea typeface="Arita Buri Bold"/>
                <a:cs typeface="Arita Buri Bold"/>
                <a:sym typeface="Arita Buri Bold"/>
              </a:rPr>
              <a:t>Capital semilla: </a:t>
            </a:r>
            <a:r>
              <a:rPr lang="es-AR" sz="3200" b="1" dirty="0">
                <a:solidFill>
                  <a:srgbClr val="FFFFFF"/>
                </a:solidFill>
                <a:latin typeface="HK Grotesk Light" panose="020B0604020202020204" charset="0"/>
                <a:ea typeface="Arita Buri Bold"/>
                <a:cs typeface="Arita Buri Bold"/>
                <a:sym typeface="Arita Buri Bold"/>
              </a:rPr>
              <a:t>P</a:t>
            </a:r>
            <a:r>
              <a:rPr lang="es-AR" sz="3200" b="1" u="none" noProof="0" dirty="0" smtClean="0">
                <a:solidFill>
                  <a:srgbClr val="FFFFFF"/>
                </a:solidFill>
                <a:latin typeface="HK Grotesk Light" panose="020B0604020202020204" charset="0"/>
                <a:ea typeface="Arita Buri Bold"/>
                <a:cs typeface="Arita Buri Bold"/>
                <a:sym typeface="Arita Buri Bold"/>
              </a:rPr>
              <a:t>ara </a:t>
            </a:r>
            <a:r>
              <a:rPr lang="es-AR" sz="3200" b="1" u="none" noProof="0" dirty="0">
                <a:solidFill>
                  <a:srgbClr val="FFFFFF"/>
                </a:solidFill>
                <a:latin typeface="HK Grotesk Light" panose="020B0604020202020204" charset="0"/>
                <a:ea typeface="Arita Buri Bold"/>
                <a:cs typeface="Arita Buri Bold"/>
                <a:sym typeface="Arita Buri Bold"/>
              </a:rPr>
              <a:t>escalar y comenzar producción nacional.</a:t>
            </a:r>
          </a:p>
          <a:p>
            <a:r>
              <a:rPr lang="es-US" sz="3200" dirty="0"/>
              <a:t>										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xmlns="" id="{07C15695-0FDC-D890-071E-4679007CBA1A}"/>
              </a:ext>
            </a:extLst>
          </p:cNvPr>
          <p:cNvSpPr txBox="1"/>
          <p:nvPr/>
        </p:nvSpPr>
        <p:spPr>
          <a:xfrm>
            <a:off x="10134600" y="9244012"/>
            <a:ext cx="9144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200" b="1" dirty="0">
                <a:solidFill>
                  <a:srgbClr val="09427D"/>
                </a:solidFill>
                <a:latin typeface="Arita Buri Bold"/>
                <a:ea typeface="Arita Buri Bold"/>
                <a:cs typeface="Arita Buri Bold"/>
                <a:sym typeface="Arita Buri Bold"/>
              </a:rPr>
              <a:t>Contacto = 11 2929 5931 (Interno 3)</a:t>
            </a:r>
            <a:endParaRPr lang="es-AR" sz="3200" dirty="0"/>
          </a:p>
        </p:txBody>
      </p:sp>
      <p:sp>
        <p:nvSpPr>
          <p:cNvPr id="16" name="CuadroTexto 15"/>
          <p:cNvSpPr txBox="1"/>
          <p:nvPr/>
        </p:nvSpPr>
        <p:spPr>
          <a:xfrm>
            <a:off x="2223655" y="671043"/>
            <a:ext cx="13736782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s-AR" sz="6000" b="1" dirty="0">
                <a:solidFill>
                  <a:srgbClr val="09427D"/>
                </a:solidFill>
                <a:latin typeface="Arita Buri Bold"/>
                <a:ea typeface="Arita Buri Bold"/>
                <a:cs typeface="Arita Buri Bold"/>
                <a:sym typeface="Arita Buri Bold"/>
              </a:rPr>
              <a:t>¿Quiénes somos y que buscamos?</a:t>
            </a:r>
          </a:p>
          <a:p>
            <a:endParaRPr lang="es-AR" dirty="0"/>
          </a:p>
        </p:txBody>
      </p:sp>
      <p:sp>
        <p:nvSpPr>
          <p:cNvPr id="17" name="CuadroTexto 16"/>
          <p:cNvSpPr txBox="1"/>
          <p:nvPr/>
        </p:nvSpPr>
        <p:spPr>
          <a:xfrm>
            <a:off x="2223655" y="1719214"/>
            <a:ext cx="47833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5400" b="1" dirty="0" smtClean="0">
                <a:solidFill>
                  <a:schemeClr val="tx2"/>
                </a:solidFill>
              </a:rPr>
              <a:t>CropPilot </a:t>
            </a:r>
          </a:p>
        </p:txBody>
      </p:sp>
      <p:sp>
        <p:nvSpPr>
          <p:cNvPr id="18" name="CuadroTexto 17"/>
          <p:cNvSpPr txBox="1"/>
          <p:nvPr/>
        </p:nvSpPr>
        <p:spPr>
          <a:xfrm>
            <a:off x="1023466" y="2642544"/>
            <a:ext cx="58993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800" b="1" dirty="0" smtClean="0">
                <a:solidFill>
                  <a:schemeClr val="tx2"/>
                </a:solidFill>
                <a:latin typeface="Arita Buri Bold"/>
              </a:rPr>
              <a:t>Nuestro equipo de profesionales:</a:t>
            </a:r>
            <a:endParaRPr lang="es-AR" sz="2800" b="1" dirty="0">
              <a:solidFill>
                <a:schemeClr val="tx2"/>
              </a:solidFill>
              <a:latin typeface="Arita Buri 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293</Words>
  <Application>Microsoft Office PowerPoint</Application>
  <PresentationFormat>Personalizado</PresentationFormat>
  <Paragraphs>43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2" baseType="lpstr">
      <vt:lpstr>Yu Gothic UI Semibold</vt:lpstr>
      <vt:lpstr>Arial</vt:lpstr>
      <vt:lpstr>Arita Buri Bold</vt:lpstr>
      <vt:lpstr>Calibri</vt:lpstr>
      <vt:lpstr>HK Grotesk Light</vt:lpstr>
      <vt:lpstr>Wingdings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cp:lastModifiedBy>Cuenta Microsoft</cp:lastModifiedBy>
  <cp:revision>8</cp:revision>
  <dcterms:modified xsi:type="dcterms:W3CDTF">2025-05-07T19:11:02Z</dcterms:modified>
</cp:coreProperties>
</file>